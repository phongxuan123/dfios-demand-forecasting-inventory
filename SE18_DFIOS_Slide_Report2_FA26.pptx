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300" r:id="rId51"/>
    <p:sldId id="301" r:id="rId5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055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This report walks through the DFIOS pipeline in the order the work was done: data, preprocessing, training, evaluation. The main numbers come from the supervisor-reviewed C3-OUT detailed report; anything we ran ourselves is labelled.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deep-dive stages, plus an overview first. Stage 5 (deploy and test) is only mentioned in the pipeline slide because it is planned, not done.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forecast says what demand may be. The order decision adds a service promise: with what probability do we not run out? A fixed quantile of the forecast only delivers that promise if the forecast is perfectly calibrated. In our experiments it was off by 0.0275 on average at a 0.95 target; C3-OUT brings it to 0.0012.</a:t>
            </a:r>
          </a:p>
          <a:p>
            <a:endParaRPr/>
          </a:p>
          <a:p>
            <a:r>
              <a:t>Source: C³-OUT detailed report (SE_18), Section 1 and Table 8.</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goal maps to a stage. Goal 1 is the Ensemble, goal 2 is C3-OUT, goal 3 is the benchmark. We also say up front what we do not claim: no live deployment yet, and M5 sales are only a proxy for demand.</a:t>
            </a:r>
          </a:p>
          <a:p>
            <a:endParaRPr/>
          </a:p>
          <a:p>
            <a:r>
              <a:t>Source: Capstone Project Register FA26 and Report 2 (SE_18); metrics per the C³-OUT detailed report, Section 4.5.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stages. Stages 1 to 4 are done and are the content of this report. Stage 5 is drawn dashed on purpose: it is a plan. A prototype web app exists for the single-store case, but it is not a production deployment.</a:t>
            </a:r>
          </a:p>
          <a:p>
            <a:endParaRPr/>
          </a:p>
          <a:p>
            <a:r>
              <a:t>Source: Tier1_Backend_Handover, C³-OUT detailed report (Section 5.8: the c3out_webapp prototype).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one is about the data. We describe what is in the three files, how they join, what the data looks like, and why it suits an inventory problem.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M5 is public Walmart retail data. Three tables: daily sales per product-store, a calendar with events, and weekly prices. The counts here were computed by us from the raw files, not copied from a paper.</a:t>
            </a:r>
          </a:p>
          <a:p>
            <a:endParaRPr/>
          </a:p>
          <a:p>
            <a:r>
              <a:t>Source: computed by the team directly from M5 sales_train_evaluation.csv, calendar.csv, sell_prices.csv.</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hierarchy. 3,049 items sold in 10 stores gives 30,490 series. Right: how the tables join. Sales to calendar through the day id d, calendar to prices through the Walmart week id, and prices to sales through item and store.</a:t>
            </a:r>
          </a:p>
          <a:p>
            <a:endParaRPr/>
          </a:p>
          <a:p>
            <a:r>
              <a:t>Source: computed by the team from the raw M5 files; join keys follow the column layout of the 3 files.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monthly units by category, partial months removed. FOODS dominates and everything grows until 2015. Right: zero sales. Across all 30,490 series, 68 percent of series-days are zero; HOBBIES is the sparsest. That intermittency is exactly what stresses a quantile policy.</a:t>
            </a:r>
          </a:p>
          <a:p>
            <a:endParaRPr/>
          </a:p>
          <a:p>
            <a:r>
              <a:t>Source: computed by the team from sales_train_evaluation.csv and calendar.csv (Jan 2011 and May 2016 are partial months, excluded from the chart).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picked M5 for five concrete reasons, and each comes with a caveat. The most important caveat: M5 records sales, not demand, so real lost sales are invisible; we simulate inventory on top of it.</a:t>
            </a:r>
          </a:p>
          <a:p>
            <a:endParaRPr/>
          </a:p>
          <a:p>
            <a:r>
              <a:t>Source: C³-OUT detailed report (SE_18), Sections 4.4 and 6.5; M5 counts computed by the team.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two. The rule that governs everything here: no information from the future may reach a feature.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steps. Three details people often get wrong: the calendar code for no event must be zero, SNAP is a matrix per state, and rows before a product’s first sale are masked, because a zero before launch is not a real zero demand.</a:t>
            </a:r>
          </a:p>
          <a:p>
            <a:endParaRPr/>
          </a:p>
          <a:p>
            <a:r>
              <a:t>Source: DFIOS_Tier1_Forecasting_M5_Kaggle.ipynb, C3OUT_bi_kip_1 and Tier1_Backend_Handover (SE_18).</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Direct multi-horizon: one sample is a series, a forecast origin T, and a horizon h from 1 to 28; the target is the sales at day T plus h. Forty training origins spaced 21 days apart. Validation origin is day 1885 and test origin day 1913, so the test covers the final 28 days, d_1914 to d_1941. Note: an earlier design document said 24 origins and stride 14; the run that produced the results used 40 and 21.</a:t>
            </a:r>
          </a:p>
          <a:p>
            <a:endParaRPr/>
          </a:p>
          <a:p>
            <a:r>
              <a:t>Source: Result OK run of 13 Sep 2026 (Tier 1) and Tier1_Forecasting_Design_Decisions (SE_18). Row count re-checked by the team by multiplication.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Thirty-one features describe the history of the series at the origin, seventeen depend on the horizon and the target day, five are identifiers. Later, SHAP shows that history features carry 70 percent of the attribution.</a:t>
            </a:r>
          </a:p>
          <a:p>
            <a:endParaRPr/>
          </a:p>
          <a:p>
            <a:r>
              <a:t>Source: DFIOS_Tier1_Forecasting_M5_Kaggle.ipynb (feature lists), Result OK.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C3-OUT uses its own subset: 8,831 series from three stores, one per state. Each series is classified by revenue (ABC) and by variability of weekly demand (XYZ), giving nine groups. Group size is what makes the feedback signal smooth. Groups under 15 SKUs are merged; CX has exactly 15 on M5.</a:t>
            </a:r>
          </a:p>
          <a:p>
            <a:endParaRPr/>
          </a:p>
          <a:p>
            <a:r>
              <a:t>Source: C³-OUT detailed report (SE_18), Sections 3.1, 4.1, 4.3, 4.4.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three has two parts. 3A trains the forecasters. 3B is C3-OUT, which is not trained like a neural network: it is a feedback rule that learns one number per group while it runs.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learned models plus two reference baselines. LightGBM and XGBoost use a Tweedie loss, which suits sales that are non-negative and full of zeros. The LSTM is a seq2seq model, and the TFT is written in pure PyTorch with pinball loss. Ensemble weights come from non-negative least squares on validation: LightGBM 0.441, XGBoost 0.078, LSTM zero, TFT 0.481. The LSTM gets no weight, which tells us it adds nothing the others do not already have.</a:t>
            </a:r>
          </a:p>
          <a:p>
            <a:endParaRPr/>
          </a:p>
          <a:p>
            <a:r>
              <a:t>Source: Result OK run of 13 Sep 2026 (ensemble_weights.json, Tier 1 notebook). Seasonal Naive and ARIMA are baselines, not part of the Ensemble.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name says the three ideas. Calibrated: one multiplier on the model’s own quantile. Class-pooled: one multiplier per ABC by XYZ group, so each feedback signal averages hundreds of SKUs instead of a noisy yes-or-no for one. Closed-loop: the multiplier is updated from what actually happened. It never touches the forecaster, which is why the same layer worked with eight different models.</a:t>
            </a:r>
          </a:p>
          <a:p>
            <a:endParaRPr/>
          </a:p>
          <a:p>
            <a:r>
              <a:t>Source: C³-OUT detailed report (SE_18), Sections 1, 3 and Table 5 (ablation).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top row left to right: the unchanged forecaster gives a window distribution, we take the group quantile, multiply by e to the theta, round up, and order up to that level. The bottom row is the new part: after a cycle ends we measure what fraction of the group ran out, compare it with the allowed rate one minus tau, and nudge theta. Because a cycle takes L plus R days to finish, the outcome arrives d reviews late, which is why the update uses e from d periods ago.</a:t>
            </a:r>
          </a:p>
          <a:p>
            <a:endParaRPr/>
          </a:p>
          <a:p>
            <a:r>
              <a:t>Source: C³-OUT detailed report (SE_18), Figure 1 and Algorithm 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Equation one: take the quantile, multiply by e to the theta, clip theta to a safe range, round up. Equation three: theta moves up if the group ran out more often than allowed, and down if less often. Equation two is a safety rule: when theta is pinned at its limit, the recorded error is forced to the extreme, so the update cannot wind up forever.</a:t>
            </a:r>
          </a:p>
          <a:p>
            <a:endParaRPr/>
          </a:p>
          <a:p>
            <a:r>
              <a:t>Source: C³-OUT detailed report (SE_18), Sections 3.3 and 3.4, Eq. (1), (2), (3).</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Lemma one says theta can never run away: it stays within eta times d of its limits. Adding up equation three over K minus d reviews, the left side is bounded by that range, and dividing by eta times K minus d gives the theorem. It holds for any demand series and any forecaster. The crucial caveat is on the right: it bounds the recorded error, not directly the real service level, and the proof is ours, checked numerically but not independently reviewed.</a:t>
            </a:r>
          </a:p>
          <a:p>
            <a:endParaRPr/>
          </a:p>
          <a:p>
            <a:r>
              <a:t>Source: C³-OUT detailed report (SE_18), Section 3.7, Lemma 1, Theorem 1, Corollary 1, Table 1 (proof built by the team, not independently reviewed).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chart is our own run on the retrained Ensemble: all nine groups drift above one, most for the sparse Z groups, because the Ensemble under-covers. In the single-store CA_1 case of the report the opposite happens: all factors are below one, between 0.81 and 0.97, because the exponential-smoothing forecast carries a safety surplus. Across the M5 experiments the final factor ranges from 0.71 to 2.36 depending on model and group. In other words theta is a direct readout of how miscalibrated the forecaster is, per group.</a:t>
            </a:r>
          </a:p>
          <a:p>
            <a:endParaRPr/>
          </a:p>
          <a:p>
            <a:r>
              <a:t>Source: chart from a team run (c3ok_theta.csv, 30 Sep 2026); CA_1 figures and the 0.71–2.36 range from the C³-OUT detailed report, Tables 17 and 18.</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four uses three sources and is careful to say which is which: the Tier 1 forecasting run, the supervisor-reviewed C3-OUT report as the main source for service and cost, and our own extra run on the retrained Ensemble.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baseline is B2: one global tau tuned on validation over a wide grid up to 0.999. It is deliberately strong. If C3-OUT cannot beat B2 on cost, we want to say so.</a:t>
            </a:r>
          </a:p>
          <a:p>
            <a:endParaRPr/>
          </a:p>
          <a:p>
            <a:r>
              <a:t>Source: C³-OUT detailed report (SE_18), Sections 4.1–4.5, Table 2.</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WRMSSE on the final 28 days, lower is better. The Ensemble wins at seven days, 0.4935 against 0.5083 for LightGBM. At 14 and 28 days a single LightGBM is better, 0.5347 and 0.6587 against 0.5475 and 0.7094 for the Ensemble. So the ensemble is not a free win at long horizons, which we say plainly. Against Seasonal Naive, the MASE gain is 13.5, 13.0 and 12.6 percent. All models under-forecast, by 4.1 percent at 7 days growing to 7.6 percent at 28.</a:t>
            </a:r>
          </a:p>
          <a:p>
            <a:endParaRPr/>
          </a:p>
          <a:p>
            <a:r>
              <a:t>Source: Result OK run of 13 Sep 2026 (metrics_comparison.csv, mase_improvement_vs_naive.csv), test set d_1914–d_1941.</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headline result for service. Left: at L=3, R=7 the fixed quantile misses the target by 0.044, 0.028 and 0.013 at the three targets; C3-OUT by about 0.001. Right: the same holds across six lead-time and review settings. In every run without a boundary hit, the group gap is at most 0.0027. There were 9 runs out of 288 where theta hit its limit, mostly slow movers under daily review at a low target, and one foundation model whose forecast tail is too short.</a:t>
            </a:r>
          </a:p>
          <a:p>
            <a:endParaRPr/>
          </a:p>
          <a:p>
            <a:r>
              <a:t>Source: C³-OUT detailed report (SE_18), Section 5.4, Tables 8, 9 (mean of 8 models, original route).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honest cost result. Against the tuned B2, C3-OUT at 0.95 costs 0.12 to 4.00 percent more, for all eight models; the interval excludes zero for seven. The reason is in the cost split: B2 chooses a low tau of 0.90 for the statistical models, which have surplus service, and saves holding cost; C3-OUT forces service to exactly 0.95 and pays for lost sales. Static calibration costs about the same as C3-OUT, but its group gap is five to ten times larger.</a:t>
            </a:r>
          </a:p>
          <a:p>
            <a:endParaRPr/>
          </a:p>
          <a:p>
            <a:r>
              <a:t>Source: C³-OUT detailed report (SE_18), Section 5.5, Table 10 (L = 3, R = 7, original route; 95% block-bootstrap CI).</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Weekly review: C3-OUT is 1.3 to 1.7 percent dearer than B2. Daily review is different: the economic critical ratio is 0.994, so a 0.95 target is far too low and costs 14 to 16 percent extra. Using the critical ratio as the target brings the penalty down to 1.1 to 5.2 percent. Across all 96 comparisons, C3-OUT is significantly cheaper in only 1 at tau 0.95 and 4 with the critical ratio, all with foundation models on route b where B2 was stuck at the 0.999 cap.</a:t>
            </a:r>
          </a:p>
          <a:p>
            <a:endParaRPr/>
          </a:p>
          <a:p>
            <a:r>
              <a:t>Source: C³-OUT detailed report (SE_18), Section 5.5, Tables 11 and 12 (mean of 8 models vs. B2).</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bar is one design change, everything else held fixed. Pooling all SKUs or by four ADI/CV2 groups leaves the group gap at 0.016 and 0.014. Per-SKU calibration gets a small gap but costs 21.6 percent more and hits the boundary 3,752 times per model. Level-based ACI is 1.07 percent cheaper with a small gap, but its weakness shows when the forecast is too narrow: in the synthetic UNDER case its gap is 0.082 against 0.010 for C3-OUT, with 280 boundary hits.</a:t>
            </a:r>
          </a:p>
          <a:p>
            <a:endParaRPr/>
          </a:p>
          <a:p>
            <a:r>
              <a:t>Source: C³-OUT detailed report (SE_18), Section 5.7, Table 15 (M5, L = 3, R = 7, τ = 0.95, mean of 8 models) and Table 4.</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realistic single-store backtest on CA_1. Left: the current practice, one fixed quantile, gives every class about 0.97 to 0.98, even class C that only needs 0.90. C3-OUT delivers about 0.97, 0.95 and 0.89, as requested. Right: setting lower targets saves holding cost but costs lost sales, so total cost rises 5.3 percent because the targets are below the economic optimum of about 0.986. With the economic target, C3-OUT is 0.6 percent cheaper than current practice at a gap of 0.002.</a:t>
            </a:r>
          </a:p>
          <a:p>
            <a:endParaRPr/>
          </a:p>
          <a:p>
            <a:r>
              <a:t>Source: C³-OUT detailed report (SE_18), Section 5.8, Tables 16 and 17 (2,942 items, 26-week backtest, ETS(A,N,N), A/B/C targets = 0.97/0.95/0.90).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supplementary and we label it that way. We also ran C3-OUT on our retrained Ensemble: 51 test reviews, 25,950 SKUs, 9 classes. Against the DFIOS formula baseline at tau 0.95, the class gap falls from 0.0463 to 0.0010 and cost falls 6.2 percent under one cost setting and 18 percent under another. Why does it look better than the PDF? The baseline is different. The PDF’s B2 is a tuned quantile of a calibrated distribution. Ours is the DFIOS formula, Ensemble plus z sigma root lead time, whose 0.95 quantile only covers 83 percent on test. Any calibration helps a baseline that weak. Also, this retrained Ensemble is itself worse than the Result OK run: WRMSSE 0.593, 0.636, 0.786 against 0.494, 0.548, 0.709.</a:t>
            </a:r>
          </a:p>
          <a:p>
            <a:endParaRPr/>
          </a:p>
          <a:p>
            <a:r>
              <a:t>Source: team’s own run of 30 Sep 2026 (c3ok_results.csv, c3ok_csl_by_class.csv, c3ok_forecast_calibration.csv); supplementary to the PDF, not the main result.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one-slide verdict, straight from the report’s summary table. Strong where it claims to be strong: holding each group at its service target, differentiating service by group, working with any model. It does not reduce cost against a well-tuned baseline. Its theory is conditional. The right sentence for the committee is: it is a service controller, worth using when service by group is a management or contractual constraint.</a:t>
            </a:r>
          </a:p>
          <a:p>
            <a:endParaRPr/>
          </a:p>
          <a:p>
            <a:r>
              <a:t>Source: C³-OUT detailed report (SE_18), Section 6.2, Table 18.</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close with what we do not know. M5 is one dataset and three of ten stores; sales stand in for demand; the proof is ours and not independently reviewed. Next steps follow the report’s future work, and stage 5, deploy and test with a partner’s real stock and stockout data, is still a plan.</a:t>
            </a:r>
          </a:p>
          <a:p>
            <a:endParaRPr/>
          </a:p>
          <a:p>
            <a:r>
              <a:t>Source: C³-OUT detailed report (SE_18), Sections 6.5 and 6.6; stage 5 is the team’s plan.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We are happy to take questions; the appendix has the full tables behind every chart.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Route b sums daily quantiles under an independence assumption, which makes the total too narrow. Chronos-Bolt and TimesFM-2.5 cover 0.82 and 0.775 on route b, but 0.945 on route c, where the window error is used instead. So the foundation-model under-coverage is mostly an artefact of how daily deciles are summed, not of the models.</a:t>
            </a:r>
          </a:p>
          <a:p>
            <a:endParaRPr/>
          </a:p>
          <a:p>
            <a:r>
              <a:t>Source: C³-OUT detailed report (SE_18), Section 5.3, Table 7.</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Table 8: mean group gap over eight models. The right-hand list is the eight runs on M5 where theta hit its boundary.</a:t>
            </a:r>
          </a:p>
          <a:p>
            <a:endParaRPr/>
          </a:p>
          <a:p>
            <a:r>
              <a:t>Source: C³-OUT detailed report (SE_18), Tables 8 and 9.</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Table 10. Note B2’s chosen tau per model in the second column, from 0.90 for the statistical models up to 0.999 for TimesFM-2.5.</a:t>
            </a:r>
          </a:p>
          <a:p>
            <a:endParaRPr/>
          </a:p>
          <a:p>
            <a:r>
              <a:t>Source: C³-OUT detailed report (SE_18), Table 10 (L = 3, R = 7, original route; 95% CI in brackets).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WRMSSE rises from about 0.65 at aggregate levels to 0.82 at the item level, where the data is sparsest. SHAP shows 70 percent of the attribution on sales history; the top single features are the 28-day rolling mean at 18.2 percent, the 180-day rolling mean at 8.4 percent, and the item id at 7.8 percent.</a:t>
            </a:r>
          </a:p>
          <a:p>
            <a:endParaRPr/>
          </a:p>
          <a:p>
            <a:r>
              <a:t>Source: Result OK run of 13 Sep 2026 (wrmsse_by_level.csv, shap_by_family.csv, shap_feature_importance.csv).</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Order fees are 54 to 63 percent of total cost. Seasonal Naive places about 28.4 orders per SKU against 34.5 to 38.0 for the others, so it wins under B2 despite the worst MASE. When the order fee c is zero it falls to last place and Chronos-2 becomes cheapest. Cost rank is therefore not a direct measure of forecast value unless the route and cost parameters are fixed and published.</a:t>
            </a:r>
          </a:p>
          <a:p>
            <a:endParaRPr/>
          </a:p>
          <a:p>
            <a:r>
              <a:t>Source: C³-OUT detailed report (SE_18), Section 5.6, Tables 13 and 14.</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Table 16. Rows are policies; the total cost is in USD and the percentage is against current practice. The last row, C3-OUT with the economic target, matches the cheapest policy within 0.1 percent while keeping every group within 0.002 of its target.</a:t>
            </a:r>
          </a:p>
          <a:p>
            <a:endParaRPr/>
          </a:p>
          <a:p>
            <a:r>
              <a:t>Source: C³-OUT detailed report (SE_18), Table 16 (USD).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honest finding we keep in the appendix: on the 200-SKU sample ARIMA has the lowest MASE, 0.970, 0.966 and 0.983, below the ML models, which sit around 1.00 to 1.02. The sample is small and stratified, so this should not be read as ARIMA beating the ML models overall; it is a reminder that classical models stay competitive on a subset.</a:t>
            </a:r>
          </a:p>
          <a:p>
            <a:endParaRPr/>
          </a:p>
          <a:p>
            <a:r>
              <a:t>Source: Result OK run of 13 Sep 2026 (metrics_arima_subset.csv). A 200-SKU stratified sample; not directly comparable with the MASE over all 30,490 series.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retrained Ensemble under-covers at every level: its 0.95 quantile covers 83 percent on test and its 0.995 quantile only 89 percent, with a bias of minus 4.4 percent. That is why a calibration loop helps so much against the DFIOS formula baseline.</a:t>
            </a:r>
          </a:p>
          <a:p>
            <a:endParaRPr/>
          </a:p>
          <a:p>
            <a:r>
              <a:t>Source: team’s own run of 30 Sep 2026 (c3ok_forecast_calibration.csv, c3ok_results.csv). Supplementary, not the main result.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Saturday and Sunday are the busiest days. The calendar holds 162 event days across 30 event names and four event types, and 650 SNAP days per state.</a:t>
            </a:r>
          </a:p>
          <a:p>
            <a:endParaRPr/>
          </a:p>
          <a:p>
            <a:r>
              <a:t>Source: computed by the team from sales_train_evaluation.csv and calendar.csv.</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answer the four points raised by LongNQ9 in Review 1 before the main content.</a:t>
            </a:r>
          </a:p>
          <a:p>
            <a:r>
              <a:t>1) Data. M5 Forecasting (Walmart, Kaggle; Makridakis et al., 2022). We did not collect new raw data. We built derived data: 53 features, ABC×XYZ groups, rolling-origin forecasts, and a synthetic set (10 seeds × 900 SKUs × 730 days) whose forecast defects are known by construction.</a:t>
            </a:r>
          </a:p>
          <a:p>
            <a:r>
              <a:t>2) Novelty. Partly agree: the forecasting models are existing algorithms. The team's own design is C³-OUT, a calibration layer that wraps any model, with Theorem 1 extending adaptive conformal inference (Gibbs &amp; Candès, 2021) to delayed feedback. Evidence: group gap ≤ 0.0027 in runs without boundary hits vs 0.006–0.069 for a fixed quantile (C3OUT_bao_cao_chi_tiet, sections 5.4, 6.2). On our own Ensemble vs the DFIOS formula at τ = 0.95: gap 0.0463 → 0.0010, cost −6.19% (team run, 30 Sep 2026).</a:t>
            </a:r>
          </a:p>
          <a:p>
            <a:r>
              <a:t>3) Users and scope: SME retail inventory managers with POS data and spreadsheet reordering (Report 1, sections 1.3–1.4).</a:t>
            </a:r>
          </a:p>
          <a:p>
            <a:r>
              <a:t>4) Case study: Walmart store CA_1, 2,942 items, 24 May 2013 – 22 May 2016 (PDF section 5.8, Tables 16–17). Flow: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flow left to right, then the feedback loop.</a:t>
            </a:r>
          </a:p>
          <a:p>
            <a:r>
              <a:t>Steps 1 and 6 are done by the store manager; steps 2 to 5 run automatically as scheduled jobs. The forecast model is trained once and frozen; the only quantity updated in operation is θ per group.</a:t>
            </a:r>
          </a:p>
          <a:p>
            <a:r>
              <a:t>Delay d = ⌈(L + R)/R⌉; with L = 3, R = 7, d = 2 reviews (Chapter 4, Eq. 2).</a:t>
            </a:r>
          </a:p>
          <a:p>
            <a:r>
              <a:t>Case study box: the same workflow implemented in the prototype c3out_webapp and run on CA_1 (PDF section 5.8): ABC×XYZ, route (c) forecasts from four statistical models with selection on validation, 26-week backtest of 6 options, recommendation by the manager's targets, order plan for the next period, closed loop at every review. Selected model on CA_1: ETS(A,N,N); critical ratio 0.986.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1100000"/>
            <a:ext cx="6000000" cy="300000"/>
          </a:xfrm>
          <a:prstGeom prst="rect">
            <a:avLst/>
          </a:prstGeom>
          <a:noFill/>
        </p:spPr>
        <p:txBody>
          <a:bodyPr wrap="square" lIns="0" tIns="0" rIns="0" bIns="0" anchor="t">
            <a:noAutofit/>
          </a:bodyPr>
          <a:lstStyle/>
          <a:p>
            <a:pPr algn="l"/>
            <a:r>
              <a:rPr sz="1650" b="1" i="0">
                <a:solidFill>
                  <a:srgbClr val="F3D9C6"/>
                </a:solidFill>
                <a:latin typeface="Calibri"/>
                <a:ea typeface="Calibri"/>
                <a:cs typeface="Calibri"/>
              </a:rPr>
              <a:t>DFIOS · SET490 · FA26</a:t>
            </a:r>
          </a:p>
        </p:txBody>
      </p:sp>
      <p:sp>
        <p:nvSpPr>
          <p:cNvPr id="3" name="TextBox 2"/>
          <p:cNvSpPr txBox="1"/>
          <p:nvPr/>
        </p:nvSpPr>
        <p:spPr>
          <a:xfrm>
            <a:off x="731520" y="1700000"/>
            <a:ext cx="10700000" cy="1500000"/>
          </a:xfrm>
          <a:prstGeom prst="rect">
            <a:avLst/>
          </a:prstGeom>
          <a:noFill/>
        </p:spPr>
        <p:txBody>
          <a:bodyPr wrap="square" lIns="0" tIns="0" rIns="0" bIns="0" anchor="t">
            <a:noAutofit/>
          </a:bodyPr>
          <a:lstStyle/>
          <a:p>
            <a:pPr algn="l"/>
            <a:r>
              <a:rPr sz="3800" b="1" i="0">
                <a:solidFill>
                  <a:srgbClr val="FFFFFF"/>
                </a:solidFill>
                <a:latin typeface="Cambria"/>
                <a:ea typeface="Cambria"/>
                <a:cs typeface="Cambria"/>
              </a:rPr>
              <a:t>Demand forecasting and inventory service-level control with machine learning</a:t>
            </a:r>
          </a:p>
        </p:txBody>
      </p:sp>
      <p:sp>
        <p:nvSpPr>
          <p:cNvPr id="4" name="TextBox 3"/>
          <p:cNvSpPr txBox="1"/>
          <p:nvPr/>
        </p:nvSpPr>
        <p:spPr>
          <a:xfrm>
            <a:off x="731520" y="3500000"/>
            <a:ext cx="10300000" cy="900000"/>
          </a:xfrm>
          <a:prstGeom prst="rect">
            <a:avLst/>
          </a:prstGeom>
          <a:noFill/>
        </p:spPr>
        <p:txBody>
          <a:bodyPr wrap="square" lIns="0" tIns="0" rIns="0" bIns="0" anchor="t">
            <a:noAutofit/>
          </a:bodyPr>
          <a:lstStyle/>
          <a:p>
            <a:pPr algn="l"/>
            <a:r>
              <a:rPr sz="1800" b="0" i="0">
                <a:solidFill>
                  <a:srgbClr val="D8DCE6"/>
                </a:solidFill>
                <a:latin typeface="Calibri"/>
                <a:ea typeface="Calibri"/>
                <a:cs typeface="Calibri"/>
              </a:rPr>
              <a:t>A five-stage pipeline on M5 data: from raw data, through Ensemble and C³-OUT training, to benchmarking against baselines.</a:t>
            </a:r>
          </a:p>
        </p:txBody>
      </p:sp>
      <p:sp>
        <p:nvSpPr>
          <p:cNvPr id="5" name="Rectangle 4"/>
          <p:cNvSpPr/>
          <p:nvPr/>
        </p:nvSpPr>
        <p:spPr>
          <a:xfrm>
            <a:off x="731520" y="4650000"/>
            <a:ext cx="1100000" cy="45720"/>
          </a:xfrm>
          <a:prstGeom prst="rect">
            <a:avLst/>
          </a:prstGeom>
          <a:solidFill>
            <a:srgbClr val="E0662B"/>
          </a:solidFill>
          <a:ln>
            <a:noFill/>
          </a:ln>
          <a:effectLst/>
        </p:spPr>
        <p:txBody>
          <a:bodyPr rtlCol="0" anchor="ctr"/>
          <a:lstStyle/>
          <a:p>
            <a:pPr algn="ctr"/>
            <a:endParaRPr/>
          </a:p>
        </p:txBody>
      </p:sp>
      <p:sp>
        <p:nvSpPr>
          <p:cNvPr id="6" name="TextBox 5"/>
          <p:cNvSpPr txBox="1"/>
          <p:nvPr/>
        </p:nvSpPr>
        <p:spPr>
          <a:xfrm>
            <a:off x="731520" y="4800000"/>
            <a:ext cx="10300000" cy="900000"/>
          </a:xfrm>
          <a:prstGeom prst="rect">
            <a:avLst/>
          </a:prstGeom>
          <a:noFill/>
        </p:spPr>
        <p:txBody>
          <a:bodyPr wrap="square" lIns="0" tIns="0" rIns="0" bIns="0" anchor="t">
            <a:noAutofit/>
          </a:bodyPr>
          <a:lstStyle/>
          <a:p>
            <a:pPr algn="l">
              <a:spcBef>
                <a:spcPts val="300"/>
              </a:spcBef>
            </a:pPr>
            <a:r>
              <a:rPr sz="1650" b="0" i="0" dirty="0">
                <a:solidFill>
                  <a:srgbClr val="9AA2B4"/>
                </a:solidFill>
                <a:latin typeface="Calibri"/>
                <a:ea typeface="Calibri"/>
                <a:cs typeface="Calibri"/>
              </a:rPr>
              <a:t>Team SE_18 · FPT University Da Nang</a:t>
            </a:r>
          </a:p>
          <a:p>
            <a:pPr algn="l">
              <a:spcBef>
                <a:spcPts val="300"/>
              </a:spcBef>
            </a:pPr>
            <a:r>
              <a:rPr sz="1650" b="0" i="0" dirty="0">
                <a:solidFill>
                  <a:srgbClr val="9AA2B4"/>
                </a:solidFill>
                <a:latin typeface="Calibri"/>
                <a:ea typeface="Calibri"/>
                <a:cs typeface="Calibri"/>
              </a:rPr>
              <a:t>Supervisor: Dr. Nguyễn Gia Trí · </a:t>
            </a:r>
            <a:endParaRPr lang="vi-VN" sz="1650" b="0" i="0" dirty="0">
              <a:solidFill>
                <a:srgbClr val="9AA2B4"/>
              </a:solidFill>
              <a:latin typeface="Calibri"/>
              <a:ea typeface="Calibri"/>
              <a:cs typeface="Calibri"/>
            </a:endParaRPr>
          </a:p>
          <a:p>
            <a:pPr algn="l">
              <a:spcBef>
                <a:spcPts val="300"/>
              </a:spcBef>
            </a:pPr>
            <a:r>
              <a:rPr sz="1650" b="0" i="0" dirty="0">
                <a:solidFill>
                  <a:srgbClr val="9AA2B4"/>
                </a:solidFill>
                <a:latin typeface="Calibri"/>
                <a:ea typeface="Calibri"/>
                <a:cs typeface="Calibri"/>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AGENDA</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The report follows the five stages of the pipeline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4</a:t>
            </a:r>
          </a:p>
        </p:txBody>
      </p:sp>
      <p:sp>
        <p:nvSpPr>
          <p:cNvPr id="6" name="TextBox 5"/>
          <p:cNvSpPr txBox="1"/>
          <p:nvPr/>
        </p:nvSpPr>
        <p:spPr>
          <a:xfrm>
            <a:off x="548640" y="1568760"/>
            <a:ext cx="700000" cy="560000"/>
          </a:xfrm>
          <a:prstGeom prst="rect">
            <a:avLst/>
          </a:prstGeom>
          <a:noFill/>
        </p:spPr>
        <p:txBody>
          <a:bodyPr wrap="square" lIns="0" tIns="0" rIns="0" bIns="0" anchor="ctr">
            <a:noAutofit/>
          </a:bodyPr>
          <a:lstStyle/>
          <a:p>
            <a:pPr algn="l"/>
            <a:r>
              <a:rPr sz="3400" b="1" i="0">
                <a:solidFill>
                  <a:srgbClr val="E0662B"/>
                </a:solidFill>
                <a:latin typeface="Cambria"/>
                <a:ea typeface="Cambria"/>
                <a:cs typeface="Cambria"/>
              </a:rPr>
              <a:t>0</a:t>
            </a:r>
          </a:p>
        </p:txBody>
      </p:sp>
      <p:sp>
        <p:nvSpPr>
          <p:cNvPr id="7" name="TextBox 6"/>
          <p:cNvSpPr txBox="1"/>
          <p:nvPr/>
        </p:nvSpPr>
        <p:spPr>
          <a:xfrm>
            <a:off x="1348640" y="1568760"/>
            <a:ext cx="3300000" cy="560000"/>
          </a:xfrm>
          <a:prstGeom prst="rect">
            <a:avLst/>
          </a:prstGeom>
          <a:noFill/>
        </p:spPr>
        <p:txBody>
          <a:bodyPr wrap="square" lIns="0" tIns="0" rIns="0" bIns="0" anchor="ctr">
            <a:noAutofit/>
          </a:bodyPr>
          <a:lstStyle/>
          <a:p>
            <a:pPr algn="l"/>
            <a:r>
              <a:rPr sz="2000" b="1" i="0">
                <a:solidFill>
                  <a:srgbClr val="1B2A4A"/>
                </a:solidFill>
                <a:latin typeface="Cambria"/>
                <a:ea typeface="Cambria"/>
                <a:cs typeface="Cambria"/>
              </a:rPr>
              <a:t>Overview</a:t>
            </a:r>
          </a:p>
        </p:txBody>
      </p:sp>
      <p:sp>
        <p:nvSpPr>
          <p:cNvPr id="8" name="TextBox 7"/>
          <p:cNvSpPr txBox="1"/>
          <p:nvPr/>
        </p:nvSpPr>
        <p:spPr>
          <a:xfrm>
            <a:off x="4748640" y="1568760"/>
            <a:ext cx="6800000" cy="560000"/>
          </a:xfrm>
          <a:prstGeom prst="rect">
            <a:avLst/>
          </a:prstGeom>
          <a:noFill/>
        </p:spPr>
        <p:txBody>
          <a:bodyPr wrap="square" lIns="0" tIns="0" rIns="0" bIns="0" anchor="ctr">
            <a:noAutofit/>
          </a:bodyPr>
          <a:lstStyle/>
          <a:p>
            <a:pPr algn="l"/>
            <a:r>
              <a:rPr sz="1500" b="0" i="0">
                <a:solidFill>
                  <a:srgbClr val="50596C"/>
                </a:solidFill>
                <a:latin typeface="Calibri"/>
                <a:ea typeface="Calibri"/>
                <a:cs typeface="Calibri"/>
              </a:rPr>
              <a:t>The problem, the goals, the five-stage pipeline</a:t>
            </a:r>
          </a:p>
        </p:txBody>
      </p:sp>
      <p:cxnSp>
        <p:nvCxnSpPr>
          <p:cNvPr id="9" name="Connector 8"/>
          <p:cNvCxnSpPr/>
          <p:nvPr/>
        </p:nvCxnSpPr>
        <p:spPr>
          <a:xfrm>
            <a:off x="548640" y="2208760"/>
            <a:ext cx="11094720" cy="0"/>
          </a:xfrm>
          <a:prstGeom prst="line">
            <a:avLst/>
          </a:prstGeom>
          <a:ln w="12700">
            <a:solidFill>
              <a:srgbClr val="E3DED3"/>
            </a:solidFill>
          </a:ln>
        </p:spPr>
      </p:cxnSp>
      <p:sp>
        <p:nvSpPr>
          <p:cNvPr id="10" name="TextBox 9"/>
          <p:cNvSpPr txBox="1"/>
          <p:nvPr/>
        </p:nvSpPr>
        <p:spPr>
          <a:xfrm>
            <a:off x="548640" y="2268760"/>
            <a:ext cx="700000" cy="560000"/>
          </a:xfrm>
          <a:prstGeom prst="rect">
            <a:avLst/>
          </a:prstGeom>
          <a:noFill/>
        </p:spPr>
        <p:txBody>
          <a:bodyPr wrap="square" lIns="0" tIns="0" rIns="0" bIns="0" anchor="ctr">
            <a:noAutofit/>
          </a:bodyPr>
          <a:lstStyle/>
          <a:p>
            <a:pPr algn="l"/>
            <a:r>
              <a:rPr sz="3400" b="1" i="0">
                <a:solidFill>
                  <a:srgbClr val="E0662B"/>
                </a:solidFill>
                <a:latin typeface="Cambria"/>
                <a:ea typeface="Cambria"/>
                <a:cs typeface="Cambria"/>
              </a:rPr>
              <a:t>1</a:t>
            </a:r>
          </a:p>
        </p:txBody>
      </p:sp>
      <p:sp>
        <p:nvSpPr>
          <p:cNvPr id="11" name="TextBox 10"/>
          <p:cNvSpPr txBox="1"/>
          <p:nvPr/>
        </p:nvSpPr>
        <p:spPr>
          <a:xfrm>
            <a:off x="1348640" y="2268760"/>
            <a:ext cx="3300000" cy="560000"/>
          </a:xfrm>
          <a:prstGeom prst="rect">
            <a:avLst/>
          </a:prstGeom>
          <a:noFill/>
        </p:spPr>
        <p:txBody>
          <a:bodyPr wrap="square" lIns="0" tIns="0" rIns="0" bIns="0" anchor="ctr">
            <a:noAutofit/>
          </a:bodyPr>
          <a:lstStyle/>
          <a:p>
            <a:pPr algn="l"/>
            <a:r>
              <a:rPr sz="2000" b="1" i="0">
                <a:solidFill>
                  <a:srgbClr val="1B2A4A"/>
                </a:solidFill>
                <a:latin typeface="Cambria"/>
                <a:ea typeface="Cambria"/>
                <a:cs typeface="Cambria"/>
              </a:rPr>
              <a:t>Collect Data</a:t>
            </a:r>
          </a:p>
        </p:txBody>
      </p:sp>
      <p:sp>
        <p:nvSpPr>
          <p:cNvPr id="12" name="TextBox 11"/>
          <p:cNvSpPr txBox="1"/>
          <p:nvPr/>
        </p:nvSpPr>
        <p:spPr>
          <a:xfrm>
            <a:off x="4748640" y="2268760"/>
            <a:ext cx="6800000" cy="560000"/>
          </a:xfrm>
          <a:prstGeom prst="rect">
            <a:avLst/>
          </a:prstGeom>
          <a:noFill/>
        </p:spPr>
        <p:txBody>
          <a:bodyPr wrap="square" lIns="0" tIns="0" rIns="0" bIns="0" anchor="ctr">
            <a:noAutofit/>
          </a:bodyPr>
          <a:lstStyle/>
          <a:p>
            <a:pPr algn="l"/>
            <a:r>
              <a:rPr sz="1500" b="0" i="0">
                <a:solidFill>
                  <a:srgbClr val="50596C"/>
                </a:solidFill>
                <a:latin typeface="Calibri"/>
                <a:ea typeface="Calibri"/>
                <a:cs typeface="Calibri"/>
              </a:rPr>
              <a:t>The M5 dataset: 3 tables, 30,490 series, why it fits</a:t>
            </a:r>
          </a:p>
        </p:txBody>
      </p:sp>
      <p:cxnSp>
        <p:nvCxnSpPr>
          <p:cNvPr id="13" name="Connector 12"/>
          <p:cNvCxnSpPr/>
          <p:nvPr/>
        </p:nvCxnSpPr>
        <p:spPr>
          <a:xfrm>
            <a:off x="548640" y="2908760"/>
            <a:ext cx="11094720" cy="0"/>
          </a:xfrm>
          <a:prstGeom prst="line">
            <a:avLst/>
          </a:prstGeom>
          <a:ln w="12700">
            <a:solidFill>
              <a:srgbClr val="E3DED3"/>
            </a:solidFill>
          </a:ln>
        </p:spPr>
      </p:cxnSp>
      <p:sp>
        <p:nvSpPr>
          <p:cNvPr id="14" name="TextBox 13"/>
          <p:cNvSpPr txBox="1"/>
          <p:nvPr/>
        </p:nvSpPr>
        <p:spPr>
          <a:xfrm>
            <a:off x="548640" y="2968760"/>
            <a:ext cx="700000" cy="560000"/>
          </a:xfrm>
          <a:prstGeom prst="rect">
            <a:avLst/>
          </a:prstGeom>
          <a:noFill/>
        </p:spPr>
        <p:txBody>
          <a:bodyPr wrap="square" lIns="0" tIns="0" rIns="0" bIns="0" anchor="ctr">
            <a:noAutofit/>
          </a:bodyPr>
          <a:lstStyle/>
          <a:p>
            <a:pPr algn="l"/>
            <a:r>
              <a:rPr sz="3400" b="1" i="0">
                <a:solidFill>
                  <a:srgbClr val="E0662B"/>
                </a:solidFill>
                <a:latin typeface="Cambria"/>
                <a:ea typeface="Cambria"/>
                <a:cs typeface="Cambria"/>
              </a:rPr>
              <a:t>2</a:t>
            </a:r>
          </a:p>
        </p:txBody>
      </p:sp>
      <p:sp>
        <p:nvSpPr>
          <p:cNvPr id="15" name="TextBox 14"/>
          <p:cNvSpPr txBox="1"/>
          <p:nvPr/>
        </p:nvSpPr>
        <p:spPr>
          <a:xfrm>
            <a:off x="1348640" y="2968760"/>
            <a:ext cx="3300000" cy="560000"/>
          </a:xfrm>
          <a:prstGeom prst="rect">
            <a:avLst/>
          </a:prstGeom>
          <a:noFill/>
        </p:spPr>
        <p:txBody>
          <a:bodyPr wrap="square" lIns="0" tIns="0" rIns="0" bIns="0" anchor="ctr">
            <a:noAutofit/>
          </a:bodyPr>
          <a:lstStyle/>
          <a:p>
            <a:pPr algn="l"/>
            <a:r>
              <a:rPr sz="2000" b="1" i="0">
                <a:solidFill>
                  <a:srgbClr val="1B2A4A"/>
                </a:solidFill>
                <a:latin typeface="Cambria"/>
                <a:ea typeface="Cambria"/>
                <a:cs typeface="Cambria"/>
              </a:rPr>
              <a:t>Preprocessing</a:t>
            </a:r>
          </a:p>
        </p:txBody>
      </p:sp>
      <p:sp>
        <p:nvSpPr>
          <p:cNvPr id="16" name="TextBox 15"/>
          <p:cNvSpPr txBox="1"/>
          <p:nvPr/>
        </p:nvSpPr>
        <p:spPr>
          <a:xfrm>
            <a:off x="4748640" y="2968760"/>
            <a:ext cx="6800000" cy="560000"/>
          </a:xfrm>
          <a:prstGeom prst="rect">
            <a:avLst/>
          </a:prstGeom>
          <a:noFill/>
        </p:spPr>
        <p:txBody>
          <a:bodyPr wrap="square" lIns="0" tIns="0" rIns="0" bIns="0" anchor="ctr">
            <a:noAutofit/>
          </a:bodyPr>
          <a:lstStyle/>
          <a:p>
            <a:pPr algn="l"/>
            <a:r>
              <a:rPr sz="1500" b="0" i="0">
                <a:solidFill>
                  <a:srgbClr val="50596C"/>
                </a:solidFill>
                <a:latin typeface="Calibri"/>
                <a:ea typeface="Calibri"/>
                <a:cs typeface="Calibri"/>
              </a:rPr>
              <a:t>From raw tables to 53 features; preparing for C³-OUT</a:t>
            </a:r>
          </a:p>
        </p:txBody>
      </p:sp>
      <p:cxnSp>
        <p:nvCxnSpPr>
          <p:cNvPr id="17" name="Connector 16"/>
          <p:cNvCxnSpPr/>
          <p:nvPr/>
        </p:nvCxnSpPr>
        <p:spPr>
          <a:xfrm>
            <a:off x="548640" y="3608760"/>
            <a:ext cx="11094720" cy="0"/>
          </a:xfrm>
          <a:prstGeom prst="line">
            <a:avLst/>
          </a:prstGeom>
          <a:ln w="12700">
            <a:solidFill>
              <a:srgbClr val="E3DED3"/>
            </a:solidFill>
          </a:ln>
        </p:spPr>
      </p:cxnSp>
      <p:sp>
        <p:nvSpPr>
          <p:cNvPr id="18" name="TextBox 17"/>
          <p:cNvSpPr txBox="1"/>
          <p:nvPr/>
        </p:nvSpPr>
        <p:spPr>
          <a:xfrm>
            <a:off x="548640" y="3668760"/>
            <a:ext cx="700000" cy="560000"/>
          </a:xfrm>
          <a:prstGeom prst="rect">
            <a:avLst/>
          </a:prstGeom>
          <a:noFill/>
        </p:spPr>
        <p:txBody>
          <a:bodyPr wrap="square" lIns="0" tIns="0" rIns="0" bIns="0" anchor="ctr">
            <a:noAutofit/>
          </a:bodyPr>
          <a:lstStyle/>
          <a:p>
            <a:pPr algn="l"/>
            <a:r>
              <a:rPr sz="3400" b="1" i="0">
                <a:solidFill>
                  <a:srgbClr val="E0662B"/>
                </a:solidFill>
                <a:latin typeface="Cambria"/>
                <a:ea typeface="Cambria"/>
                <a:cs typeface="Cambria"/>
              </a:rPr>
              <a:t>3</a:t>
            </a:r>
          </a:p>
        </p:txBody>
      </p:sp>
      <p:sp>
        <p:nvSpPr>
          <p:cNvPr id="19" name="TextBox 18"/>
          <p:cNvSpPr txBox="1"/>
          <p:nvPr/>
        </p:nvSpPr>
        <p:spPr>
          <a:xfrm>
            <a:off x="1348640" y="3668760"/>
            <a:ext cx="3300000" cy="560000"/>
          </a:xfrm>
          <a:prstGeom prst="rect">
            <a:avLst/>
          </a:prstGeom>
          <a:noFill/>
        </p:spPr>
        <p:txBody>
          <a:bodyPr wrap="square" lIns="0" tIns="0" rIns="0" bIns="0" anchor="ctr">
            <a:noAutofit/>
          </a:bodyPr>
          <a:lstStyle/>
          <a:p>
            <a:pPr algn="l"/>
            <a:r>
              <a:rPr sz="2000" b="1" i="0">
                <a:solidFill>
                  <a:srgbClr val="1B2A4A"/>
                </a:solidFill>
                <a:latin typeface="Cambria"/>
                <a:ea typeface="Cambria"/>
                <a:cs typeface="Cambria"/>
              </a:rPr>
              <a:t>Training</a:t>
            </a:r>
          </a:p>
        </p:txBody>
      </p:sp>
      <p:sp>
        <p:nvSpPr>
          <p:cNvPr id="20" name="TextBox 19"/>
          <p:cNvSpPr txBox="1"/>
          <p:nvPr/>
        </p:nvSpPr>
        <p:spPr>
          <a:xfrm>
            <a:off x="4748640" y="3668760"/>
            <a:ext cx="6800000" cy="560000"/>
          </a:xfrm>
          <a:prstGeom prst="rect">
            <a:avLst/>
          </a:prstGeom>
          <a:noFill/>
        </p:spPr>
        <p:txBody>
          <a:bodyPr wrap="square" lIns="0" tIns="0" rIns="0" bIns="0" anchor="ctr">
            <a:noAutofit/>
          </a:bodyPr>
          <a:lstStyle/>
          <a:p>
            <a:pPr algn="l"/>
            <a:r>
              <a:rPr sz="1500" b="0" i="0">
                <a:solidFill>
                  <a:srgbClr val="50596C"/>
                </a:solidFill>
                <a:latin typeface="Calibri"/>
                <a:ea typeface="Calibri"/>
                <a:cs typeface="Calibri"/>
              </a:rPr>
              <a:t>3A: forecasting Ensemble · 3B: C³-OUT service controller</a:t>
            </a:r>
          </a:p>
        </p:txBody>
      </p:sp>
      <p:cxnSp>
        <p:nvCxnSpPr>
          <p:cNvPr id="21" name="Connector 20"/>
          <p:cNvCxnSpPr/>
          <p:nvPr/>
        </p:nvCxnSpPr>
        <p:spPr>
          <a:xfrm>
            <a:off x="548640" y="4308760"/>
            <a:ext cx="11094720" cy="0"/>
          </a:xfrm>
          <a:prstGeom prst="line">
            <a:avLst/>
          </a:prstGeom>
          <a:ln w="12700">
            <a:solidFill>
              <a:srgbClr val="E3DED3"/>
            </a:solidFill>
          </a:ln>
        </p:spPr>
      </p:cxnSp>
      <p:sp>
        <p:nvSpPr>
          <p:cNvPr id="22" name="TextBox 21"/>
          <p:cNvSpPr txBox="1"/>
          <p:nvPr/>
        </p:nvSpPr>
        <p:spPr>
          <a:xfrm>
            <a:off x="548640" y="4368760"/>
            <a:ext cx="700000" cy="560000"/>
          </a:xfrm>
          <a:prstGeom prst="rect">
            <a:avLst/>
          </a:prstGeom>
          <a:noFill/>
        </p:spPr>
        <p:txBody>
          <a:bodyPr wrap="square" lIns="0" tIns="0" rIns="0" bIns="0" anchor="ctr">
            <a:noAutofit/>
          </a:bodyPr>
          <a:lstStyle/>
          <a:p>
            <a:pPr algn="l"/>
            <a:r>
              <a:rPr sz="3400" b="1" i="0">
                <a:solidFill>
                  <a:srgbClr val="E0662B"/>
                </a:solidFill>
                <a:latin typeface="Cambria"/>
                <a:ea typeface="Cambria"/>
                <a:cs typeface="Cambria"/>
              </a:rPr>
              <a:t>4</a:t>
            </a:r>
          </a:p>
        </p:txBody>
      </p:sp>
      <p:sp>
        <p:nvSpPr>
          <p:cNvPr id="23" name="TextBox 22"/>
          <p:cNvSpPr txBox="1"/>
          <p:nvPr/>
        </p:nvSpPr>
        <p:spPr>
          <a:xfrm>
            <a:off x="1348640" y="4368760"/>
            <a:ext cx="3300000" cy="560000"/>
          </a:xfrm>
          <a:prstGeom prst="rect">
            <a:avLst/>
          </a:prstGeom>
          <a:noFill/>
        </p:spPr>
        <p:txBody>
          <a:bodyPr wrap="square" lIns="0" tIns="0" rIns="0" bIns="0" anchor="ctr">
            <a:noAutofit/>
          </a:bodyPr>
          <a:lstStyle/>
          <a:p>
            <a:pPr algn="l"/>
            <a:r>
              <a:rPr sz="2000" b="1" i="0">
                <a:solidFill>
                  <a:srgbClr val="1B2A4A"/>
                </a:solidFill>
                <a:latin typeface="Cambria"/>
                <a:ea typeface="Cambria"/>
                <a:cs typeface="Cambria"/>
              </a:rPr>
              <a:t>Evaluation</a:t>
            </a:r>
          </a:p>
        </p:txBody>
      </p:sp>
      <p:sp>
        <p:nvSpPr>
          <p:cNvPr id="24" name="TextBox 23"/>
          <p:cNvSpPr txBox="1"/>
          <p:nvPr/>
        </p:nvSpPr>
        <p:spPr>
          <a:xfrm>
            <a:off x="4748640" y="4368760"/>
            <a:ext cx="6800000" cy="560000"/>
          </a:xfrm>
          <a:prstGeom prst="rect">
            <a:avLst/>
          </a:prstGeom>
          <a:noFill/>
        </p:spPr>
        <p:txBody>
          <a:bodyPr wrap="square" lIns="0" tIns="0" rIns="0" bIns="0" anchor="ctr">
            <a:noAutofit/>
          </a:bodyPr>
          <a:lstStyle/>
          <a:p>
            <a:pPr algn="l"/>
            <a:r>
              <a:rPr sz="1500" b="0" i="0">
                <a:solidFill>
                  <a:srgbClr val="50596C"/>
                </a:solidFill>
                <a:latin typeface="Calibri"/>
                <a:ea typeface="Calibri"/>
                <a:cs typeface="Calibri"/>
              </a:rPr>
              <a:t>Benchmark against baselines: accuracy, service, cost</a:t>
            </a:r>
          </a:p>
        </p:txBody>
      </p:sp>
      <p:cxnSp>
        <p:nvCxnSpPr>
          <p:cNvPr id="25" name="Connector 24"/>
          <p:cNvCxnSpPr/>
          <p:nvPr/>
        </p:nvCxnSpPr>
        <p:spPr>
          <a:xfrm>
            <a:off x="548640" y="5008760"/>
            <a:ext cx="11094720" cy="0"/>
          </a:xfrm>
          <a:prstGeom prst="line">
            <a:avLst/>
          </a:prstGeom>
          <a:ln w="12700">
            <a:solidFill>
              <a:srgbClr val="E3DED3"/>
            </a:solidFill>
          </a:ln>
        </p:spPr>
      </p:cxnSp>
      <p:sp>
        <p:nvSpPr>
          <p:cNvPr id="26" name="TextBox 25"/>
          <p:cNvSpPr txBox="1"/>
          <p:nvPr/>
        </p:nvSpPr>
        <p:spPr>
          <a:xfrm>
            <a:off x="548640" y="5068760"/>
            <a:ext cx="700000" cy="560000"/>
          </a:xfrm>
          <a:prstGeom prst="rect">
            <a:avLst/>
          </a:prstGeom>
          <a:noFill/>
        </p:spPr>
        <p:txBody>
          <a:bodyPr wrap="square" lIns="0" tIns="0" rIns="0" bIns="0" anchor="ctr">
            <a:noAutofit/>
          </a:bodyPr>
          <a:lstStyle/>
          <a:p>
            <a:pPr algn="l"/>
            <a:r>
              <a:rPr sz="3400" b="1" i="0">
                <a:solidFill>
                  <a:srgbClr val="9AA2B4"/>
                </a:solidFill>
                <a:latin typeface="Cambria"/>
                <a:ea typeface="Cambria"/>
                <a:cs typeface="Cambria"/>
              </a:rPr>
              <a:t>5</a:t>
            </a:r>
          </a:p>
        </p:txBody>
      </p:sp>
      <p:sp>
        <p:nvSpPr>
          <p:cNvPr id="27" name="TextBox 26"/>
          <p:cNvSpPr txBox="1"/>
          <p:nvPr/>
        </p:nvSpPr>
        <p:spPr>
          <a:xfrm>
            <a:off x="1348640" y="5068760"/>
            <a:ext cx="3300000" cy="560000"/>
          </a:xfrm>
          <a:prstGeom prst="rect">
            <a:avLst/>
          </a:prstGeom>
          <a:noFill/>
        </p:spPr>
        <p:txBody>
          <a:bodyPr wrap="square" lIns="0" tIns="0" rIns="0" bIns="0" anchor="ctr">
            <a:noAutofit/>
          </a:bodyPr>
          <a:lstStyle/>
          <a:p>
            <a:pPr algn="l"/>
            <a:r>
              <a:rPr sz="2000" b="1" i="0">
                <a:solidFill>
                  <a:srgbClr val="50596C"/>
                </a:solidFill>
                <a:latin typeface="Cambria"/>
                <a:ea typeface="Cambria"/>
                <a:cs typeface="Cambria"/>
              </a:rPr>
              <a:t>Deploy + Test</a:t>
            </a:r>
          </a:p>
        </p:txBody>
      </p:sp>
      <p:sp>
        <p:nvSpPr>
          <p:cNvPr id="28" name="TextBox 27"/>
          <p:cNvSpPr txBox="1"/>
          <p:nvPr/>
        </p:nvSpPr>
        <p:spPr>
          <a:xfrm>
            <a:off x="4748640" y="5068760"/>
            <a:ext cx="6800000" cy="560000"/>
          </a:xfrm>
          <a:prstGeom prst="rect">
            <a:avLst/>
          </a:prstGeom>
          <a:noFill/>
        </p:spPr>
        <p:txBody>
          <a:bodyPr wrap="square" lIns="0" tIns="0" rIns="0" bIns="0" anchor="ctr">
            <a:noAutofit/>
          </a:bodyPr>
          <a:lstStyle/>
          <a:p>
            <a:pPr algn="l"/>
            <a:r>
              <a:rPr sz="1500" b="0" i="0">
                <a:solidFill>
                  <a:srgbClr val="50596C"/>
                </a:solidFill>
                <a:latin typeface="Calibri"/>
                <a:ea typeface="Calibri"/>
                <a:cs typeface="Calibri"/>
              </a:rPr>
              <a:t>Planned, not done: mentioned only in the Pipeline slide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OVERVIEW · THE PROBLEM</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A good forecast is not enough: someone has to decide how much to order</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5</a:t>
            </a:r>
          </a:p>
        </p:txBody>
      </p:sp>
      <p:sp>
        <p:nvSpPr>
          <p:cNvPr id="6" name="Rectangle 5"/>
          <p:cNvSpPr/>
          <p:nvPr/>
        </p:nvSpPr>
        <p:spPr>
          <a:xfrm>
            <a:off x="548640" y="1508760"/>
            <a:ext cx="3500000" cy="2350000"/>
          </a:xfrm>
          <a:prstGeom prst="rect">
            <a:avLst/>
          </a:prstGeom>
          <a:solidFill>
            <a:srgbClr val="F1EDE4"/>
          </a:solidFill>
          <a:ln>
            <a:noFill/>
          </a:ln>
          <a:effectLst/>
        </p:spPr>
        <p:txBody>
          <a:bodyPr rtlCol="0" anchor="ctr"/>
          <a:lstStyle/>
          <a:p>
            <a:pPr algn="ctr"/>
            <a:endParaRPr/>
          </a:p>
        </p:txBody>
      </p:sp>
      <p:sp>
        <p:nvSpPr>
          <p:cNvPr id="7" name="TextBox 6"/>
          <p:cNvSpPr txBox="1"/>
          <p:nvPr/>
        </p:nvSpPr>
        <p:spPr>
          <a:xfrm>
            <a:off x="698640" y="1608760"/>
            <a:ext cx="320000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1 · Forecast</a:t>
            </a:r>
          </a:p>
        </p:txBody>
      </p:sp>
      <p:sp>
        <p:nvSpPr>
          <p:cNvPr id="8" name="TextBox 7"/>
          <p:cNvSpPr txBox="1"/>
          <p:nvPr/>
        </p:nvSpPr>
        <p:spPr>
          <a:xfrm>
            <a:off x="698640" y="1923085"/>
            <a:ext cx="3200000" cy="1875675"/>
          </a:xfrm>
          <a:prstGeom prst="rect">
            <a:avLst/>
          </a:prstGeom>
          <a:noFill/>
        </p:spPr>
        <p:txBody>
          <a:bodyPr wrap="square" lIns="0" tIns="0" rIns="0" bIns="0" anchor="t">
            <a:noAutofit/>
          </a:bodyPr>
          <a:lstStyle/>
          <a:p>
            <a:pPr algn="l">
              <a:spcBef>
                <a:spcPts val="300"/>
              </a:spcBef>
            </a:pPr>
            <a:r>
              <a:rPr sz="1550" b="0" i="0">
                <a:solidFill>
                  <a:srgbClr val="1B2A4A"/>
                </a:solidFill>
                <a:latin typeface="Calibri"/>
                <a:ea typeface="Calibri"/>
                <a:cs typeface="Calibri"/>
              </a:rPr>
              <a:t>The model outputs a demand distribution over the L + R day window (L: lead time, R: review period).</a:t>
            </a:r>
          </a:p>
        </p:txBody>
      </p:sp>
      <p:sp>
        <p:nvSpPr>
          <p:cNvPr id="9" name="Rectangle 8"/>
          <p:cNvSpPr/>
          <p:nvPr/>
        </p:nvSpPr>
        <p:spPr>
          <a:xfrm>
            <a:off x="4208640" y="1508760"/>
            <a:ext cx="3500000" cy="2350000"/>
          </a:xfrm>
          <a:prstGeom prst="rect">
            <a:avLst/>
          </a:prstGeom>
          <a:solidFill>
            <a:srgbClr val="F1EDE4"/>
          </a:solidFill>
          <a:ln>
            <a:noFill/>
          </a:ln>
          <a:effectLst/>
        </p:spPr>
        <p:txBody>
          <a:bodyPr rtlCol="0" anchor="ctr"/>
          <a:lstStyle/>
          <a:p>
            <a:pPr algn="ctr"/>
            <a:endParaRPr/>
          </a:p>
        </p:txBody>
      </p:sp>
      <p:sp>
        <p:nvSpPr>
          <p:cNvPr id="10" name="TextBox 9"/>
          <p:cNvSpPr txBox="1"/>
          <p:nvPr/>
        </p:nvSpPr>
        <p:spPr>
          <a:xfrm>
            <a:off x="4358640" y="1608760"/>
            <a:ext cx="320000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2 · Order decision</a:t>
            </a:r>
          </a:p>
        </p:txBody>
      </p:sp>
      <p:sp>
        <p:nvSpPr>
          <p:cNvPr id="11" name="TextBox 10"/>
          <p:cNvSpPr txBox="1"/>
          <p:nvPr/>
        </p:nvSpPr>
        <p:spPr>
          <a:xfrm>
            <a:off x="4358640" y="1923085"/>
            <a:ext cx="3200000" cy="1875675"/>
          </a:xfrm>
          <a:prstGeom prst="rect">
            <a:avLst/>
          </a:prstGeom>
          <a:noFill/>
        </p:spPr>
        <p:txBody>
          <a:bodyPr wrap="square" lIns="0" tIns="0" rIns="0" bIns="0" anchor="t">
            <a:noAutofit/>
          </a:bodyPr>
          <a:lstStyle/>
          <a:p>
            <a:pPr algn="l">
              <a:spcBef>
                <a:spcPts val="300"/>
              </a:spcBef>
            </a:pPr>
            <a:r>
              <a:rPr sz="1550" b="0" i="0">
                <a:solidFill>
                  <a:srgbClr val="1B2A4A"/>
                </a:solidFill>
                <a:latin typeface="Calibri"/>
                <a:ea typeface="Calibri"/>
                <a:cs typeface="Calibri"/>
              </a:rPr>
              <a:t>Order-up-to policy: S = the τ-quantile of window demand; order q = max(0, S − IP). τ is the service promise (CSL: probability of no stockout in a cycle).</a:t>
            </a:r>
          </a:p>
        </p:txBody>
      </p:sp>
      <p:sp>
        <p:nvSpPr>
          <p:cNvPr id="12" name="Rectangle 11"/>
          <p:cNvSpPr/>
          <p:nvPr/>
        </p:nvSpPr>
        <p:spPr>
          <a:xfrm>
            <a:off x="7868640" y="1508760"/>
            <a:ext cx="3514720" cy="2350000"/>
          </a:xfrm>
          <a:prstGeom prst="rect">
            <a:avLst/>
          </a:prstGeom>
          <a:solidFill>
            <a:srgbClr val="F1EDE4"/>
          </a:solidFill>
          <a:ln>
            <a:noFill/>
          </a:ln>
          <a:effectLst/>
        </p:spPr>
        <p:txBody>
          <a:bodyPr rtlCol="0" anchor="ctr"/>
          <a:lstStyle/>
          <a:p>
            <a:pPr algn="ctr"/>
            <a:endParaRPr/>
          </a:p>
        </p:txBody>
      </p:sp>
      <p:sp>
        <p:nvSpPr>
          <p:cNvPr id="13" name="Rectangle 12"/>
          <p:cNvSpPr/>
          <p:nvPr/>
        </p:nvSpPr>
        <p:spPr>
          <a:xfrm>
            <a:off x="7868640" y="1508760"/>
            <a:ext cx="54864" cy="2350000"/>
          </a:xfrm>
          <a:prstGeom prst="rect">
            <a:avLst/>
          </a:prstGeom>
          <a:solidFill>
            <a:srgbClr val="E0662B"/>
          </a:solidFill>
          <a:ln>
            <a:noFill/>
          </a:ln>
          <a:effectLst/>
        </p:spPr>
        <p:txBody>
          <a:bodyPr rtlCol="0" anchor="ctr"/>
          <a:lstStyle/>
          <a:p>
            <a:pPr algn="ctr"/>
            <a:endParaRPr/>
          </a:p>
        </p:txBody>
      </p:sp>
      <p:sp>
        <p:nvSpPr>
          <p:cNvPr id="14" name="TextBox 13"/>
          <p:cNvSpPr txBox="1"/>
          <p:nvPr/>
        </p:nvSpPr>
        <p:spPr>
          <a:xfrm>
            <a:off x="8018640" y="1608760"/>
            <a:ext cx="321472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3 · The gap</a:t>
            </a:r>
          </a:p>
        </p:txBody>
      </p:sp>
      <p:sp>
        <p:nvSpPr>
          <p:cNvPr id="15" name="TextBox 14"/>
          <p:cNvSpPr txBox="1"/>
          <p:nvPr/>
        </p:nvSpPr>
        <p:spPr>
          <a:xfrm>
            <a:off x="8018640" y="1923085"/>
            <a:ext cx="3214720" cy="1875675"/>
          </a:xfrm>
          <a:prstGeom prst="rect">
            <a:avLst/>
          </a:prstGeom>
          <a:noFill/>
        </p:spPr>
        <p:txBody>
          <a:bodyPr wrap="square" lIns="0" tIns="0" rIns="0" bIns="0" anchor="t">
            <a:noAutofit/>
          </a:bodyPr>
          <a:lstStyle/>
          <a:p>
            <a:pPr algn="l">
              <a:spcBef>
                <a:spcPts val="300"/>
              </a:spcBef>
            </a:pPr>
            <a:r>
              <a:rPr sz="1550" b="0" i="0">
                <a:solidFill>
                  <a:srgbClr val="1B2A4A"/>
                </a:solidFill>
                <a:latin typeface="Calibri"/>
                <a:ea typeface="Calibri"/>
                <a:cs typeface="Calibri"/>
              </a:rPr>
              <a:t>Real CSL equals τ only if the forecast distribution is perfectly calibrated. In practice forecasts are too narrow or biased, so delivered service drifts from the target.</a:t>
            </a:r>
          </a:p>
        </p:txBody>
      </p:sp>
      <p:sp>
        <p:nvSpPr>
          <p:cNvPr id="16" name="TextBox 15"/>
          <p:cNvSpPr txBox="1"/>
          <p:nvPr/>
        </p:nvSpPr>
        <p:spPr>
          <a:xfrm>
            <a:off x="548640" y="4158760"/>
            <a:ext cx="3600000" cy="6858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0.0275</a:t>
            </a:r>
          </a:p>
        </p:txBody>
      </p:sp>
      <p:sp>
        <p:nvSpPr>
          <p:cNvPr id="17" name="TextBox 16"/>
          <p:cNvSpPr txBox="1"/>
          <p:nvPr/>
        </p:nvSpPr>
        <p:spPr>
          <a:xfrm>
            <a:off x="548640" y="4869960"/>
            <a:ext cx="3600000" cy="6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group gap |CSL − τ| of a fixed quantile (τ = 0.95; L = 3, R = 7; mean of 8 models)</a:t>
            </a:r>
          </a:p>
        </p:txBody>
      </p:sp>
      <p:sp>
        <p:nvSpPr>
          <p:cNvPr id="18" name="TextBox 17"/>
          <p:cNvSpPr txBox="1"/>
          <p:nvPr/>
        </p:nvSpPr>
        <p:spPr>
          <a:xfrm>
            <a:off x="4248640" y="4258760"/>
            <a:ext cx="600000" cy="600000"/>
          </a:xfrm>
          <a:prstGeom prst="rect">
            <a:avLst/>
          </a:prstGeom>
          <a:noFill/>
        </p:spPr>
        <p:txBody>
          <a:bodyPr wrap="square" lIns="0" tIns="0" rIns="0" bIns="0" anchor="t">
            <a:noAutofit/>
          </a:bodyPr>
          <a:lstStyle/>
          <a:p>
            <a:pPr algn="ctr"/>
            <a:r>
              <a:rPr sz="4000" b="0" i="0">
                <a:solidFill>
                  <a:srgbClr val="50596C"/>
                </a:solidFill>
                <a:latin typeface="Cambria"/>
                <a:ea typeface="Cambria"/>
                <a:cs typeface="Cambria"/>
              </a:rPr>
              <a:t>→</a:t>
            </a:r>
          </a:p>
        </p:txBody>
      </p:sp>
      <p:sp>
        <p:nvSpPr>
          <p:cNvPr id="19" name="TextBox 18"/>
          <p:cNvSpPr txBox="1"/>
          <p:nvPr/>
        </p:nvSpPr>
        <p:spPr>
          <a:xfrm>
            <a:off x="5048640" y="4158760"/>
            <a:ext cx="3600000" cy="6858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0.0012</a:t>
            </a:r>
          </a:p>
        </p:txBody>
      </p:sp>
      <p:sp>
        <p:nvSpPr>
          <p:cNvPr id="20" name="TextBox 19"/>
          <p:cNvSpPr txBox="1"/>
          <p:nvPr/>
        </p:nvSpPr>
        <p:spPr>
          <a:xfrm>
            <a:off x="5048640" y="4869960"/>
            <a:ext cx="3600000" cy="6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same setting, after adding the C³-OUT calibration loop</a:t>
            </a:r>
          </a:p>
        </p:txBody>
      </p:sp>
      <p:sp>
        <p:nvSpPr>
          <p:cNvPr id="21" name="TextBox 20"/>
          <p:cNvSpPr txBox="1"/>
          <p:nvPr/>
        </p:nvSpPr>
        <p:spPr>
          <a:xfrm>
            <a:off x="8848640" y="4208760"/>
            <a:ext cx="2800000" cy="1300000"/>
          </a:xfrm>
          <a:prstGeom prst="rect">
            <a:avLst/>
          </a:prstGeom>
          <a:noFill/>
        </p:spPr>
        <p:txBody>
          <a:bodyPr wrap="square" lIns="0" tIns="0" rIns="0" bIns="0" anchor="t">
            <a:noAutofit/>
          </a:bodyPr>
          <a:lstStyle/>
          <a:p>
            <a:pPr algn="l"/>
            <a:r>
              <a:rPr sz="1550" b="0" i="0">
                <a:solidFill>
                  <a:srgbClr val="50596C"/>
                </a:solidFill>
                <a:latin typeface="Calibri"/>
                <a:ea typeface="Calibri"/>
                <a:cs typeface="Calibri"/>
              </a:rPr>
              <a:t>The fix does not replace the forecaster: it only adds a closed-loop calibration block after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OVERVIEW · GOALS</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Three goals, each with its own yardstick</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6</a:t>
            </a:r>
          </a:p>
        </p:txBody>
      </p:sp>
      <p:sp>
        <p:nvSpPr>
          <p:cNvPr id="6" name="Rectangle 5"/>
          <p:cNvSpPr/>
          <p:nvPr/>
        </p:nvSpPr>
        <p:spPr>
          <a:xfrm>
            <a:off x="548640" y="1508760"/>
            <a:ext cx="3560000" cy="290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508760"/>
            <a:ext cx="3560000" cy="54864"/>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98640" y="1638760"/>
            <a:ext cx="800000" cy="600000"/>
          </a:xfrm>
          <a:prstGeom prst="rect">
            <a:avLst/>
          </a:prstGeom>
          <a:noFill/>
        </p:spPr>
        <p:txBody>
          <a:bodyPr wrap="square" lIns="0" tIns="0" rIns="0" bIns="0" anchor="t">
            <a:noAutofit/>
          </a:bodyPr>
          <a:lstStyle/>
          <a:p>
            <a:pPr algn="l"/>
            <a:r>
              <a:rPr sz="3600" b="1" i="0">
                <a:solidFill>
                  <a:srgbClr val="E0662B"/>
                </a:solidFill>
                <a:latin typeface="Cambria"/>
                <a:ea typeface="Cambria"/>
                <a:cs typeface="Cambria"/>
              </a:rPr>
              <a:t>1</a:t>
            </a:r>
          </a:p>
        </p:txBody>
      </p:sp>
      <p:sp>
        <p:nvSpPr>
          <p:cNvPr id="9" name="TextBox 8"/>
          <p:cNvSpPr txBox="1"/>
          <p:nvPr/>
        </p:nvSpPr>
        <p:spPr>
          <a:xfrm>
            <a:off x="698640" y="2288760"/>
            <a:ext cx="3260000" cy="400000"/>
          </a:xfrm>
          <a:prstGeom prst="rect">
            <a:avLst/>
          </a:prstGeom>
          <a:noFill/>
        </p:spPr>
        <p:txBody>
          <a:bodyPr wrap="square" lIns="0" tIns="0" rIns="0" bIns="0" anchor="t">
            <a:noAutofit/>
          </a:bodyPr>
          <a:lstStyle/>
          <a:p>
            <a:pPr algn="l"/>
            <a:r>
              <a:rPr sz="1700" b="1" i="0">
                <a:solidFill>
                  <a:srgbClr val="1B2A4A"/>
                </a:solidFill>
                <a:latin typeface="Cambria"/>
                <a:ea typeface="Cambria"/>
                <a:cs typeface="Cambria"/>
              </a:rPr>
              <a:t>Forecast accurately</a:t>
            </a:r>
          </a:p>
        </p:txBody>
      </p:sp>
      <p:sp>
        <p:nvSpPr>
          <p:cNvPr id="10" name="TextBox 9"/>
          <p:cNvSpPr txBox="1"/>
          <p:nvPr/>
        </p:nvSpPr>
        <p:spPr>
          <a:xfrm>
            <a:off x="698640" y="2738760"/>
            <a:ext cx="3260000" cy="1100000"/>
          </a:xfrm>
          <a:prstGeom prst="rect">
            <a:avLst/>
          </a:prstGeom>
          <a:noFill/>
        </p:spPr>
        <p:txBody>
          <a:bodyPr wrap="square" lIns="0" tIns="0" rIns="0" bIns="0" anchor="t">
            <a:noAutofit/>
          </a:bodyPr>
          <a:lstStyle/>
          <a:p>
            <a:pPr algn="l"/>
            <a:r>
              <a:rPr sz="1550" b="0" i="0">
                <a:solidFill>
                  <a:srgbClr val="1B2A4A"/>
                </a:solidFill>
                <a:latin typeface="Calibri"/>
                <a:ea typeface="Calibri"/>
                <a:cs typeface="Calibri"/>
              </a:rPr>
              <a:t>Multi-horizon (1 to 28 days) demand forecasts for 30,490 M5 series with an ML ensemble.</a:t>
            </a:r>
          </a:p>
        </p:txBody>
      </p:sp>
      <p:sp>
        <p:nvSpPr>
          <p:cNvPr id="11" name="TextBox 10"/>
          <p:cNvSpPr txBox="1"/>
          <p:nvPr/>
        </p:nvSpPr>
        <p:spPr>
          <a:xfrm>
            <a:off x="698640" y="3888760"/>
            <a:ext cx="3260000" cy="400000"/>
          </a:xfrm>
          <a:prstGeom prst="rect">
            <a:avLst/>
          </a:prstGeom>
          <a:noFill/>
        </p:spPr>
        <p:txBody>
          <a:bodyPr wrap="square" lIns="0" tIns="0" rIns="0" bIns="0" anchor="t">
            <a:noAutofit/>
          </a:bodyPr>
          <a:lstStyle/>
          <a:p>
            <a:pPr algn="l"/>
            <a:r>
              <a:rPr sz="1400" b="1" i="0">
                <a:solidFill>
                  <a:srgbClr val="E0662B"/>
                </a:solidFill>
                <a:latin typeface="Calibri"/>
                <a:ea typeface="Calibri"/>
                <a:cs typeface="Calibri"/>
              </a:rPr>
              <a:t>Yardstick: WRMSSE, MASE</a:t>
            </a:r>
          </a:p>
        </p:txBody>
      </p:sp>
      <p:sp>
        <p:nvSpPr>
          <p:cNvPr id="12" name="Rectangle 11"/>
          <p:cNvSpPr/>
          <p:nvPr/>
        </p:nvSpPr>
        <p:spPr>
          <a:xfrm>
            <a:off x="4268640" y="1508760"/>
            <a:ext cx="3560000" cy="2900000"/>
          </a:xfrm>
          <a:prstGeom prst="rect">
            <a:avLst/>
          </a:prstGeom>
          <a:solidFill>
            <a:srgbClr val="F1EDE4"/>
          </a:solidFill>
          <a:ln>
            <a:noFill/>
          </a:ln>
          <a:effectLst/>
        </p:spPr>
        <p:txBody>
          <a:bodyPr rtlCol="0" anchor="ctr"/>
          <a:lstStyle/>
          <a:p>
            <a:pPr algn="ctr"/>
            <a:endParaRPr/>
          </a:p>
        </p:txBody>
      </p:sp>
      <p:sp>
        <p:nvSpPr>
          <p:cNvPr id="13" name="Rectangle 12"/>
          <p:cNvSpPr/>
          <p:nvPr/>
        </p:nvSpPr>
        <p:spPr>
          <a:xfrm>
            <a:off x="4268640" y="1508760"/>
            <a:ext cx="3560000" cy="54864"/>
          </a:xfrm>
          <a:prstGeom prst="rect">
            <a:avLst/>
          </a:prstGeom>
          <a:solidFill>
            <a:srgbClr val="E0662B"/>
          </a:solidFill>
          <a:ln>
            <a:noFill/>
          </a:ln>
          <a:effectLst/>
        </p:spPr>
        <p:txBody>
          <a:bodyPr rtlCol="0" anchor="ctr"/>
          <a:lstStyle/>
          <a:p>
            <a:pPr algn="ctr"/>
            <a:endParaRPr/>
          </a:p>
        </p:txBody>
      </p:sp>
      <p:sp>
        <p:nvSpPr>
          <p:cNvPr id="14" name="TextBox 13"/>
          <p:cNvSpPr txBox="1"/>
          <p:nvPr/>
        </p:nvSpPr>
        <p:spPr>
          <a:xfrm>
            <a:off x="4418640" y="1638760"/>
            <a:ext cx="800000" cy="600000"/>
          </a:xfrm>
          <a:prstGeom prst="rect">
            <a:avLst/>
          </a:prstGeom>
          <a:noFill/>
        </p:spPr>
        <p:txBody>
          <a:bodyPr wrap="square" lIns="0" tIns="0" rIns="0" bIns="0" anchor="t">
            <a:noAutofit/>
          </a:bodyPr>
          <a:lstStyle/>
          <a:p>
            <a:pPr algn="l"/>
            <a:r>
              <a:rPr sz="3600" b="1" i="0">
                <a:solidFill>
                  <a:srgbClr val="E0662B"/>
                </a:solidFill>
                <a:latin typeface="Cambria"/>
                <a:ea typeface="Cambria"/>
                <a:cs typeface="Cambria"/>
              </a:rPr>
              <a:t>2</a:t>
            </a:r>
          </a:p>
        </p:txBody>
      </p:sp>
      <p:sp>
        <p:nvSpPr>
          <p:cNvPr id="15" name="TextBox 14"/>
          <p:cNvSpPr txBox="1"/>
          <p:nvPr/>
        </p:nvSpPr>
        <p:spPr>
          <a:xfrm>
            <a:off x="4418640" y="2288760"/>
            <a:ext cx="3260000" cy="400000"/>
          </a:xfrm>
          <a:prstGeom prst="rect">
            <a:avLst/>
          </a:prstGeom>
          <a:noFill/>
        </p:spPr>
        <p:txBody>
          <a:bodyPr wrap="square" lIns="0" tIns="0" rIns="0" bIns="0" anchor="t">
            <a:noAutofit/>
          </a:bodyPr>
          <a:lstStyle/>
          <a:p>
            <a:pPr algn="l"/>
            <a:r>
              <a:rPr sz="1700" b="1" i="0">
                <a:solidFill>
                  <a:srgbClr val="1B2A4A"/>
                </a:solidFill>
                <a:latin typeface="Cambria"/>
                <a:ea typeface="Cambria"/>
                <a:cs typeface="Cambria"/>
              </a:rPr>
              <a:t>Hit the service target</a:t>
            </a:r>
          </a:p>
        </p:txBody>
      </p:sp>
      <p:sp>
        <p:nvSpPr>
          <p:cNvPr id="16" name="TextBox 15"/>
          <p:cNvSpPr txBox="1"/>
          <p:nvPr/>
        </p:nvSpPr>
        <p:spPr>
          <a:xfrm>
            <a:off x="4418640" y="2738760"/>
            <a:ext cx="3260000" cy="1100000"/>
          </a:xfrm>
          <a:prstGeom prst="rect">
            <a:avLst/>
          </a:prstGeom>
          <a:noFill/>
        </p:spPr>
        <p:txBody>
          <a:bodyPr wrap="square" lIns="0" tIns="0" rIns="0" bIns="0" anchor="t">
            <a:noAutofit/>
          </a:bodyPr>
          <a:lstStyle/>
          <a:p>
            <a:pPr algn="l"/>
            <a:r>
              <a:rPr sz="1550" b="0" i="0">
                <a:solidFill>
                  <a:srgbClr val="1B2A4A"/>
                </a:solidFill>
                <a:latin typeface="Calibri"/>
                <a:ea typeface="Calibri"/>
                <a:cs typeface="Calibri"/>
              </a:rPr>
              <a:t>Bring each product group’s real CSL to its target τ, for any forecasting model.</a:t>
            </a:r>
          </a:p>
        </p:txBody>
      </p:sp>
      <p:sp>
        <p:nvSpPr>
          <p:cNvPr id="17" name="TextBox 16"/>
          <p:cNvSpPr txBox="1"/>
          <p:nvPr/>
        </p:nvSpPr>
        <p:spPr>
          <a:xfrm>
            <a:off x="4418640" y="3888760"/>
            <a:ext cx="3260000" cy="400000"/>
          </a:xfrm>
          <a:prstGeom prst="rect">
            <a:avLst/>
          </a:prstGeom>
          <a:noFill/>
        </p:spPr>
        <p:txBody>
          <a:bodyPr wrap="square" lIns="0" tIns="0" rIns="0" bIns="0" anchor="t">
            <a:noAutofit/>
          </a:bodyPr>
          <a:lstStyle/>
          <a:p>
            <a:pPr algn="l"/>
            <a:r>
              <a:rPr sz="1400" b="1" i="0">
                <a:solidFill>
                  <a:srgbClr val="E0662B"/>
                </a:solidFill>
                <a:latin typeface="Calibri"/>
                <a:ea typeface="Calibri"/>
                <a:cs typeface="Calibri"/>
              </a:rPr>
              <a:t>Yardstick: group gap |CSL − τ|</a:t>
            </a:r>
          </a:p>
        </p:txBody>
      </p:sp>
      <p:sp>
        <p:nvSpPr>
          <p:cNvPr id="18" name="Rectangle 17"/>
          <p:cNvSpPr/>
          <p:nvPr/>
        </p:nvSpPr>
        <p:spPr>
          <a:xfrm>
            <a:off x="7988640" y="1508760"/>
            <a:ext cx="3560000" cy="2900000"/>
          </a:xfrm>
          <a:prstGeom prst="rect">
            <a:avLst/>
          </a:prstGeom>
          <a:solidFill>
            <a:srgbClr val="F1EDE4"/>
          </a:solidFill>
          <a:ln>
            <a:noFill/>
          </a:ln>
          <a:effectLst/>
        </p:spPr>
        <p:txBody>
          <a:bodyPr rtlCol="0" anchor="ctr"/>
          <a:lstStyle/>
          <a:p>
            <a:pPr algn="ctr"/>
            <a:endParaRPr/>
          </a:p>
        </p:txBody>
      </p:sp>
      <p:sp>
        <p:nvSpPr>
          <p:cNvPr id="19" name="Rectangle 18"/>
          <p:cNvSpPr/>
          <p:nvPr/>
        </p:nvSpPr>
        <p:spPr>
          <a:xfrm>
            <a:off x="7988640" y="1508760"/>
            <a:ext cx="3560000" cy="54864"/>
          </a:xfrm>
          <a:prstGeom prst="rect">
            <a:avLst/>
          </a:prstGeom>
          <a:solidFill>
            <a:srgbClr val="E0662B"/>
          </a:solidFill>
          <a:ln>
            <a:noFill/>
          </a:ln>
          <a:effectLst/>
        </p:spPr>
        <p:txBody>
          <a:bodyPr rtlCol="0" anchor="ctr"/>
          <a:lstStyle/>
          <a:p>
            <a:pPr algn="ctr"/>
            <a:endParaRPr/>
          </a:p>
        </p:txBody>
      </p:sp>
      <p:sp>
        <p:nvSpPr>
          <p:cNvPr id="20" name="TextBox 19"/>
          <p:cNvSpPr txBox="1"/>
          <p:nvPr/>
        </p:nvSpPr>
        <p:spPr>
          <a:xfrm>
            <a:off x="8138640" y="1638760"/>
            <a:ext cx="800000" cy="600000"/>
          </a:xfrm>
          <a:prstGeom prst="rect">
            <a:avLst/>
          </a:prstGeom>
          <a:noFill/>
        </p:spPr>
        <p:txBody>
          <a:bodyPr wrap="square" lIns="0" tIns="0" rIns="0" bIns="0" anchor="t">
            <a:noAutofit/>
          </a:bodyPr>
          <a:lstStyle/>
          <a:p>
            <a:pPr algn="l"/>
            <a:r>
              <a:rPr sz="3600" b="1" i="0">
                <a:solidFill>
                  <a:srgbClr val="E0662B"/>
                </a:solidFill>
                <a:latin typeface="Cambria"/>
                <a:ea typeface="Cambria"/>
                <a:cs typeface="Cambria"/>
              </a:rPr>
              <a:t>3</a:t>
            </a:r>
          </a:p>
        </p:txBody>
      </p:sp>
      <p:sp>
        <p:nvSpPr>
          <p:cNvPr id="21" name="TextBox 20"/>
          <p:cNvSpPr txBox="1"/>
          <p:nvPr/>
        </p:nvSpPr>
        <p:spPr>
          <a:xfrm>
            <a:off x="8138640" y="2288760"/>
            <a:ext cx="3260000" cy="400000"/>
          </a:xfrm>
          <a:prstGeom prst="rect">
            <a:avLst/>
          </a:prstGeom>
          <a:noFill/>
        </p:spPr>
        <p:txBody>
          <a:bodyPr wrap="square" lIns="0" tIns="0" rIns="0" bIns="0" anchor="t">
            <a:noAutofit/>
          </a:bodyPr>
          <a:lstStyle/>
          <a:p>
            <a:pPr algn="l"/>
            <a:r>
              <a:rPr sz="1700" b="1" i="0">
                <a:solidFill>
                  <a:srgbClr val="1B2A4A"/>
                </a:solidFill>
                <a:latin typeface="Cambria"/>
                <a:ea typeface="Cambria"/>
                <a:cs typeface="Cambria"/>
              </a:rPr>
              <a:t>Evaluate honestly</a:t>
            </a:r>
          </a:p>
        </p:txBody>
      </p:sp>
      <p:sp>
        <p:nvSpPr>
          <p:cNvPr id="22" name="TextBox 21"/>
          <p:cNvSpPr txBox="1"/>
          <p:nvPr/>
        </p:nvSpPr>
        <p:spPr>
          <a:xfrm>
            <a:off x="8138640" y="2738760"/>
            <a:ext cx="3260000" cy="1100000"/>
          </a:xfrm>
          <a:prstGeom prst="rect">
            <a:avLst/>
          </a:prstGeom>
          <a:noFill/>
        </p:spPr>
        <p:txBody>
          <a:bodyPr wrap="square" lIns="0" tIns="0" rIns="0" bIns="0" anchor="t">
            <a:noAutofit/>
          </a:bodyPr>
          <a:lstStyle/>
          <a:p>
            <a:pPr algn="l"/>
            <a:r>
              <a:rPr sz="1550" b="0" i="0">
                <a:solidFill>
                  <a:srgbClr val="1B2A4A"/>
                </a:solidFill>
                <a:latin typeface="Calibri"/>
                <a:ea typeface="Calibri"/>
                <a:cs typeface="Calibri"/>
              </a:rPr>
              <a:t>Compare with strong baselines, including tuned ones; report where we do not win.</a:t>
            </a:r>
          </a:p>
        </p:txBody>
      </p:sp>
      <p:sp>
        <p:nvSpPr>
          <p:cNvPr id="23" name="TextBox 22"/>
          <p:cNvSpPr txBox="1"/>
          <p:nvPr/>
        </p:nvSpPr>
        <p:spPr>
          <a:xfrm>
            <a:off x="8138640" y="3888760"/>
            <a:ext cx="3260000" cy="400000"/>
          </a:xfrm>
          <a:prstGeom prst="rect">
            <a:avLst/>
          </a:prstGeom>
          <a:noFill/>
        </p:spPr>
        <p:txBody>
          <a:bodyPr wrap="square" lIns="0" tIns="0" rIns="0" bIns="0" anchor="t">
            <a:noAutofit/>
          </a:bodyPr>
          <a:lstStyle/>
          <a:p>
            <a:pPr algn="l"/>
            <a:r>
              <a:rPr sz="1400" b="1" i="0">
                <a:solidFill>
                  <a:srgbClr val="E0662B"/>
                </a:solidFill>
                <a:latin typeface="Calibri"/>
                <a:ea typeface="Calibri"/>
                <a:cs typeface="Calibri"/>
              </a:rPr>
              <a:t>Yardstick: cost, confidence intervals</a:t>
            </a:r>
          </a:p>
        </p:txBody>
      </p:sp>
      <p:sp>
        <p:nvSpPr>
          <p:cNvPr id="24" name="Rectangle 23"/>
          <p:cNvSpPr/>
          <p:nvPr/>
        </p:nvSpPr>
        <p:spPr>
          <a:xfrm>
            <a:off x="548640" y="4658760"/>
            <a:ext cx="11094720" cy="1250000"/>
          </a:xfrm>
          <a:prstGeom prst="rect">
            <a:avLst/>
          </a:prstGeom>
          <a:solidFill>
            <a:srgbClr val="F1EDE4"/>
          </a:solidFill>
          <a:ln>
            <a:noFill/>
          </a:ln>
          <a:effectLst/>
        </p:spPr>
        <p:txBody>
          <a:bodyPr rtlCol="0" anchor="ctr"/>
          <a:lstStyle/>
          <a:p>
            <a:pPr algn="ctr"/>
            <a:endParaRPr/>
          </a:p>
        </p:txBody>
      </p:sp>
      <p:sp>
        <p:nvSpPr>
          <p:cNvPr id="25" name="Rectangle 24"/>
          <p:cNvSpPr/>
          <p:nvPr/>
        </p:nvSpPr>
        <p:spPr>
          <a:xfrm>
            <a:off x="548640" y="4658760"/>
            <a:ext cx="54864" cy="1250000"/>
          </a:xfrm>
          <a:prstGeom prst="rect">
            <a:avLst/>
          </a:prstGeom>
          <a:solidFill>
            <a:srgbClr val="E0662B"/>
          </a:solidFill>
          <a:ln>
            <a:noFill/>
          </a:ln>
          <a:effectLst/>
        </p:spPr>
        <p:txBody>
          <a:bodyPr rtlCol="0" anchor="ctr"/>
          <a:lstStyle/>
          <a:p>
            <a:pPr algn="ctr"/>
            <a:endParaRPr/>
          </a:p>
        </p:txBody>
      </p:sp>
      <p:sp>
        <p:nvSpPr>
          <p:cNvPr id="26" name="TextBox 25"/>
          <p:cNvSpPr txBox="1"/>
          <p:nvPr/>
        </p:nvSpPr>
        <p:spPr>
          <a:xfrm>
            <a:off x="698640" y="4758760"/>
            <a:ext cx="1079472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Scope and what we do not claim</a:t>
            </a:r>
          </a:p>
        </p:txBody>
      </p:sp>
      <p:sp>
        <p:nvSpPr>
          <p:cNvPr id="27" name="TextBox 26"/>
          <p:cNvSpPr txBox="1"/>
          <p:nvPr/>
        </p:nvSpPr>
        <p:spPr>
          <a:xfrm>
            <a:off x="698640" y="5073085"/>
            <a:ext cx="10794720" cy="775675"/>
          </a:xfrm>
          <a:prstGeom prst="rect">
            <a:avLst/>
          </a:prstGeom>
          <a:noFill/>
        </p:spPr>
        <p:txBody>
          <a:bodyPr wrap="square" lIns="0" tIns="0" rIns="0" bIns="0" anchor="t">
            <a:noAutofit/>
          </a:bodyPr>
          <a:lstStyle/>
          <a:p>
            <a:pPr marL="228600" indent="-228600" algn="l">
              <a:spcBef>
                <a:spcPts val="200"/>
              </a:spcBef>
              <a:buClr>
                <a:srgbClr val="E0662B"/>
              </a:buClr>
              <a:buFont typeface="Arial"/>
              <a:buChar char="•"/>
            </a:pPr>
            <a:r>
              <a:rPr sz="1550" b="0" i="0">
                <a:solidFill>
                  <a:srgbClr val="1B2A4A"/>
                </a:solidFill>
                <a:latin typeface="Calibri"/>
                <a:ea typeface="Calibri"/>
                <a:cs typeface="Calibri"/>
              </a:rPr>
              <a:t>M5 holds sales, not true demand (censored when stocked out); inventory and lost sales are simulated.</a:t>
            </a:r>
          </a:p>
          <a:p>
            <a:pPr marL="228600" indent="-228600" algn="l">
              <a:spcBef>
                <a:spcPts val="200"/>
              </a:spcBef>
              <a:buClr>
                <a:srgbClr val="E0662B"/>
              </a:buClr>
              <a:buFont typeface="Arial"/>
              <a:buChar char="•"/>
            </a:pPr>
            <a:r>
              <a:rPr sz="1550" b="0" i="0">
                <a:solidFill>
                  <a:srgbClr val="1B2A4A"/>
                </a:solidFill>
                <a:latin typeface="Calibri"/>
                <a:ea typeface="Calibri"/>
                <a:cs typeface="Calibri"/>
              </a:rPr>
              <a:t>Stage 5 (deploy and test) is a plan; there are no live operating results yet.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OVERVIEW · PIPELINE</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The AI pipeline has five stages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7</a:t>
            </a:r>
          </a:p>
        </p:txBody>
      </p:sp>
      <p:sp>
        <p:nvSpPr>
          <p:cNvPr id="6" name="Rectangle 5"/>
          <p:cNvSpPr/>
          <p:nvPr/>
        </p:nvSpPr>
        <p:spPr>
          <a:xfrm>
            <a:off x="548640" y="1608760"/>
            <a:ext cx="2080000" cy="235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608760"/>
            <a:ext cx="2080000" cy="54864"/>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78640" y="1708760"/>
            <a:ext cx="700000" cy="56000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1</a:t>
            </a:r>
          </a:p>
        </p:txBody>
      </p:sp>
      <p:sp>
        <p:nvSpPr>
          <p:cNvPr id="9" name="TextBox 8"/>
          <p:cNvSpPr txBox="1"/>
          <p:nvPr/>
        </p:nvSpPr>
        <p:spPr>
          <a:xfrm>
            <a:off x="678640" y="2358760"/>
            <a:ext cx="1880000" cy="400000"/>
          </a:xfrm>
          <a:prstGeom prst="rect">
            <a:avLst/>
          </a:prstGeom>
          <a:noFill/>
        </p:spPr>
        <p:txBody>
          <a:bodyPr wrap="square" lIns="0" tIns="0" rIns="0" bIns="0" anchor="t">
            <a:noAutofit/>
          </a:bodyPr>
          <a:lstStyle/>
          <a:p>
            <a:pPr algn="l"/>
            <a:r>
              <a:rPr sz="1600" b="1" i="0">
                <a:solidFill>
                  <a:srgbClr val="1B2A4A"/>
                </a:solidFill>
                <a:latin typeface="Cambria"/>
                <a:ea typeface="Cambria"/>
                <a:cs typeface="Cambria"/>
              </a:rPr>
              <a:t>Collect Data</a:t>
            </a:r>
          </a:p>
        </p:txBody>
      </p:sp>
      <p:sp>
        <p:nvSpPr>
          <p:cNvPr id="10" name="TextBox 9"/>
          <p:cNvSpPr txBox="1"/>
          <p:nvPr/>
        </p:nvSpPr>
        <p:spPr>
          <a:xfrm>
            <a:off x="678640" y="2758760"/>
            <a:ext cx="1880000" cy="560000"/>
          </a:xfrm>
          <a:prstGeom prst="rect">
            <a:avLst/>
          </a:prstGeom>
          <a:noFill/>
        </p:spPr>
        <p:txBody>
          <a:bodyPr wrap="square" lIns="0" tIns="0" rIns="0" bIns="0" anchor="t">
            <a:noAutofit/>
          </a:bodyPr>
          <a:lstStyle/>
          <a:p>
            <a:pPr algn="l"/>
            <a:r>
              <a:rPr sz="1300" b="0" i="0">
                <a:solidFill>
                  <a:srgbClr val="1B2A4A"/>
                </a:solidFill>
                <a:latin typeface="Calibri"/>
                <a:ea typeface="Calibri"/>
                <a:cs typeface="Calibri"/>
              </a:rPr>
              <a:t>3 M5 CSV files</a:t>
            </a:r>
          </a:p>
        </p:txBody>
      </p:sp>
      <p:sp>
        <p:nvSpPr>
          <p:cNvPr id="11" name="TextBox 10"/>
          <p:cNvSpPr txBox="1"/>
          <p:nvPr/>
        </p:nvSpPr>
        <p:spPr>
          <a:xfrm>
            <a:off x="678640" y="3338760"/>
            <a:ext cx="1880000" cy="45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30,490 series, 1,941 days</a:t>
            </a:r>
          </a:p>
        </p:txBody>
      </p:sp>
      <p:cxnSp>
        <p:nvCxnSpPr>
          <p:cNvPr id="12" name="Connector 11"/>
          <p:cNvCxnSpPr/>
          <p:nvPr/>
        </p:nvCxnSpPr>
        <p:spPr>
          <a:xfrm>
            <a:off x="2638640" y="2658760"/>
            <a:ext cx="153000" cy="0"/>
          </a:xfrm>
          <a:prstGeom prst="line">
            <a:avLst/>
          </a:prstGeom>
          <a:ln w="25400">
            <a:solidFill>
              <a:srgbClr val="E0662B"/>
            </a:solidFill>
            <a:tailEnd type="triangle" w="med" len="med"/>
          </a:ln>
        </p:spPr>
      </p:cxnSp>
      <p:sp>
        <p:nvSpPr>
          <p:cNvPr id="13" name="Rectangle 12"/>
          <p:cNvSpPr/>
          <p:nvPr/>
        </p:nvSpPr>
        <p:spPr>
          <a:xfrm>
            <a:off x="2801640" y="1608760"/>
            <a:ext cx="2080000" cy="2350000"/>
          </a:xfrm>
          <a:prstGeom prst="rect">
            <a:avLst/>
          </a:prstGeom>
          <a:solidFill>
            <a:srgbClr val="F1EDE4"/>
          </a:solidFill>
          <a:ln>
            <a:noFill/>
          </a:ln>
          <a:effectLst/>
        </p:spPr>
        <p:txBody>
          <a:bodyPr rtlCol="0" anchor="ctr"/>
          <a:lstStyle/>
          <a:p>
            <a:pPr algn="ctr"/>
            <a:endParaRPr/>
          </a:p>
        </p:txBody>
      </p:sp>
      <p:sp>
        <p:nvSpPr>
          <p:cNvPr id="14" name="Rectangle 13"/>
          <p:cNvSpPr/>
          <p:nvPr/>
        </p:nvSpPr>
        <p:spPr>
          <a:xfrm>
            <a:off x="2801640" y="1608760"/>
            <a:ext cx="2080000" cy="54864"/>
          </a:xfrm>
          <a:prstGeom prst="rect">
            <a:avLst/>
          </a:prstGeom>
          <a:solidFill>
            <a:srgbClr val="E0662B"/>
          </a:solidFill>
          <a:ln>
            <a:noFill/>
          </a:ln>
          <a:effectLst/>
        </p:spPr>
        <p:txBody>
          <a:bodyPr rtlCol="0" anchor="ctr"/>
          <a:lstStyle/>
          <a:p>
            <a:pPr algn="ctr"/>
            <a:endParaRPr/>
          </a:p>
        </p:txBody>
      </p:sp>
      <p:sp>
        <p:nvSpPr>
          <p:cNvPr id="15" name="TextBox 14"/>
          <p:cNvSpPr txBox="1"/>
          <p:nvPr/>
        </p:nvSpPr>
        <p:spPr>
          <a:xfrm>
            <a:off x="2931640" y="1708760"/>
            <a:ext cx="700000" cy="56000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2</a:t>
            </a:r>
          </a:p>
        </p:txBody>
      </p:sp>
      <p:sp>
        <p:nvSpPr>
          <p:cNvPr id="16" name="TextBox 15"/>
          <p:cNvSpPr txBox="1"/>
          <p:nvPr/>
        </p:nvSpPr>
        <p:spPr>
          <a:xfrm>
            <a:off x="2931640" y="2358760"/>
            <a:ext cx="1880000" cy="400000"/>
          </a:xfrm>
          <a:prstGeom prst="rect">
            <a:avLst/>
          </a:prstGeom>
          <a:noFill/>
        </p:spPr>
        <p:txBody>
          <a:bodyPr wrap="square" lIns="0" tIns="0" rIns="0" bIns="0" anchor="t">
            <a:noAutofit/>
          </a:bodyPr>
          <a:lstStyle/>
          <a:p>
            <a:pPr algn="l"/>
            <a:r>
              <a:rPr sz="1600" b="1" i="0">
                <a:solidFill>
                  <a:srgbClr val="1B2A4A"/>
                </a:solidFill>
                <a:latin typeface="Cambria"/>
                <a:ea typeface="Cambria"/>
                <a:cs typeface="Cambria"/>
              </a:rPr>
              <a:t>Preprocessing</a:t>
            </a:r>
          </a:p>
        </p:txBody>
      </p:sp>
      <p:sp>
        <p:nvSpPr>
          <p:cNvPr id="17" name="TextBox 16"/>
          <p:cNvSpPr txBox="1"/>
          <p:nvPr/>
        </p:nvSpPr>
        <p:spPr>
          <a:xfrm>
            <a:off x="2931640" y="2758760"/>
            <a:ext cx="1880000" cy="560000"/>
          </a:xfrm>
          <a:prstGeom prst="rect">
            <a:avLst/>
          </a:prstGeom>
          <a:noFill/>
        </p:spPr>
        <p:txBody>
          <a:bodyPr wrap="square" lIns="0" tIns="0" rIns="0" bIns="0" anchor="t">
            <a:noAutofit/>
          </a:bodyPr>
          <a:lstStyle/>
          <a:p>
            <a:pPr algn="l"/>
            <a:r>
              <a:rPr sz="1300" b="0" i="0">
                <a:solidFill>
                  <a:srgbClr val="1B2A4A"/>
                </a:solidFill>
                <a:latin typeface="Calibri"/>
                <a:ea typeface="Calibri"/>
                <a:cs typeface="Calibri"/>
              </a:rPr>
              <a:t>Raw tables to features</a:t>
            </a:r>
          </a:p>
        </p:txBody>
      </p:sp>
      <p:sp>
        <p:nvSpPr>
          <p:cNvPr id="18" name="TextBox 17"/>
          <p:cNvSpPr txBox="1"/>
          <p:nvPr/>
        </p:nvSpPr>
        <p:spPr>
          <a:xfrm>
            <a:off x="2931640" y="3338760"/>
            <a:ext cx="1880000" cy="45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53 features; ABC×XYZ groups</a:t>
            </a:r>
          </a:p>
        </p:txBody>
      </p:sp>
      <p:cxnSp>
        <p:nvCxnSpPr>
          <p:cNvPr id="19" name="Connector 18"/>
          <p:cNvCxnSpPr/>
          <p:nvPr/>
        </p:nvCxnSpPr>
        <p:spPr>
          <a:xfrm>
            <a:off x="4891640" y="2658760"/>
            <a:ext cx="153000" cy="0"/>
          </a:xfrm>
          <a:prstGeom prst="line">
            <a:avLst/>
          </a:prstGeom>
          <a:ln w="25400">
            <a:solidFill>
              <a:srgbClr val="E0662B"/>
            </a:solidFill>
            <a:tailEnd type="triangle" w="med" len="med"/>
          </a:ln>
        </p:spPr>
      </p:cxnSp>
      <p:sp>
        <p:nvSpPr>
          <p:cNvPr id="20" name="Rectangle 19"/>
          <p:cNvSpPr/>
          <p:nvPr/>
        </p:nvSpPr>
        <p:spPr>
          <a:xfrm>
            <a:off x="5054640" y="1608760"/>
            <a:ext cx="2080000" cy="2350000"/>
          </a:xfrm>
          <a:prstGeom prst="rect">
            <a:avLst/>
          </a:prstGeom>
          <a:solidFill>
            <a:srgbClr val="F1EDE4"/>
          </a:solidFill>
          <a:ln>
            <a:noFill/>
          </a:ln>
          <a:effectLst/>
        </p:spPr>
        <p:txBody>
          <a:bodyPr rtlCol="0" anchor="ctr"/>
          <a:lstStyle/>
          <a:p>
            <a:pPr algn="ctr"/>
            <a:endParaRPr/>
          </a:p>
        </p:txBody>
      </p:sp>
      <p:sp>
        <p:nvSpPr>
          <p:cNvPr id="21" name="Rectangle 20"/>
          <p:cNvSpPr/>
          <p:nvPr/>
        </p:nvSpPr>
        <p:spPr>
          <a:xfrm>
            <a:off x="5054640" y="1608760"/>
            <a:ext cx="2080000" cy="54864"/>
          </a:xfrm>
          <a:prstGeom prst="rect">
            <a:avLst/>
          </a:prstGeom>
          <a:solidFill>
            <a:srgbClr val="E0662B"/>
          </a:solidFill>
          <a:ln>
            <a:noFill/>
          </a:ln>
          <a:effectLst/>
        </p:spPr>
        <p:txBody>
          <a:bodyPr rtlCol="0" anchor="ctr"/>
          <a:lstStyle/>
          <a:p>
            <a:pPr algn="ctr"/>
            <a:endParaRPr/>
          </a:p>
        </p:txBody>
      </p:sp>
      <p:sp>
        <p:nvSpPr>
          <p:cNvPr id="22" name="TextBox 21"/>
          <p:cNvSpPr txBox="1"/>
          <p:nvPr/>
        </p:nvSpPr>
        <p:spPr>
          <a:xfrm>
            <a:off x="5184640" y="1708760"/>
            <a:ext cx="700000" cy="56000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3</a:t>
            </a:r>
          </a:p>
        </p:txBody>
      </p:sp>
      <p:sp>
        <p:nvSpPr>
          <p:cNvPr id="23" name="TextBox 22"/>
          <p:cNvSpPr txBox="1"/>
          <p:nvPr/>
        </p:nvSpPr>
        <p:spPr>
          <a:xfrm>
            <a:off x="5184640" y="2358760"/>
            <a:ext cx="1880000" cy="400000"/>
          </a:xfrm>
          <a:prstGeom prst="rect">
            <a:avLst/>
          </a:prstGeom>
          <a:noFill/>
        </p:spPr>
        <p:txBody>
          <a:bodyPr wrap="square" lIns="0" tIns="0" rIns="0" bIns="0" anchor="t">
            <a:noAutofit/>
          </a:bodyPr>
          <a:lstStyle/>
          <a:p>
            <a:pPr algn="l"/>
            <a:r>
              <a:rPr sz="1600" b="1" i="0">
                <a:solidFill>
                  <a:srgbClr val="1B2A4A"/>
                </a:solidFill>
                <a:latin typeface="Cambria"/>
                <a:ea typeface="Cambria"/>
                <a:cs typeface="Cambria"/>
              </a:rPr>
              <a:t>Training</a:t>
            </a:r>
          </a:p>
        </p:txBody>
      </p:sp>
      <p:sp>
        <p:nvSpPr>
          <p:cNvPr id="24" name="TextBox 23"/>
          <p:cNvSpPr txBox="1"/>
          <p:nvPr/>
        </p:nvSpPr>
        <p:spPr>
          <a:xfrm>
            <a:off x="5184640" y="2758760"/>
            <a:ext cx="1880000" cy="560000"/>
          </a:xfrm>
          <a:prstGeom prst="rect">
            <a:avLst/>
          </a:prstGeom>
          <a:noFill/>
        </p:spPr>
        <p:txBody>
          <a:bodyPr wrap="square" lIns="0" tIns="0" rIns="0" bIns="0" anchor="t">
            <a:noAutofit/>
          </a:bodyPr>
          <a:lstStyle/>
          <a:p>
            <a:pPr algn="l"/>
            <a:r>
              <a:rPr sz="1300" b="0" i="0">
                <a:solidFill>
                  <a:srgbClr val="1B2A4A"/>
                </a:solidFill>
                <a:latin typeface="Calibri"/>
                <a:ea typeface="Calibri"/>
                <a:cs typeface="Calibri"/>
              </a:rPr>
              <a:t>3A Ensemble · 3B C³-OUT</a:t>
            </a:r>
          </a:p>
        </p:txBody>
      </p:sp>
      <p:sp>
        <p:nvSpPr>
          <p:cNvPr id="25" name="TextBox 24"/>
          <p:cNvSpPr txBox="1"/>
          <p:nvPr/>
        </p:nvSpPr>
        <p:spPr>
          <a:xfrm>
            <a:off x="5184640" y="3338760"/>
            <a:ext cx="1880000" cy="45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Forecast, then calibrate service</a:t>
            </a:r>
          </a:p>
        </p:txBody>
      </p:sp>
      <p:cxnSp>
        <p:nvCxnSpPr>
          <p:cNvPr id="26" name="Connector 25"/>
          <p:cNvCxnSpPr/>
          <p:nvPr/>
        </p:nvCxnSpPr>
        <p:spPr>
          <a:xfrm>
            <a:off x="7144640" y="2658760"/>
            <a:ext cx="153000" cy="0"/>
          </a:xfrm>
          <a:prstGeom prst="line">
            <a:avLst/>
          </a:prstGeom>
          <a:ln w="25400">
            <a:solidFill>
              <a:srgbClr val="E0662B"/>
            </a:solidFill>
            <a:tailEnd type="triangle" w="med" len="med"/>
          </a:ln>
        </p:spPr>
      </p:cxnSp>
      <p:sp>
        <p:nvSpPr>
          <p:cNvPr id="27" name="Rectangle 26"/>
          <p:cNvSpPr/>
          <p:nvPr/>
        </p:nvSpPr>
        <p:spPr>
          <a:xfrm>
            <a:off x="7307640" y="1608760"/>
            <a:ext cx="2080000" cy="2350000"/>
          </a:xfrm>
          <a:prstGeom prst="rect">
            <a:avLst/>
          </a:prstGeom>
          <a:solidFill>
            <a:srgbClr val="F1EDE4"/>
          </a:solidFill>
          <a:ln>
            <a:noFill/>
          </a:ln>
          <a:effectLst/>
        </p:spPr>
        <p:txBody>
          <a:bodyPr rtlCol="0" anchor="ctr"/>
          <a:lstStyle/>
          <a:p>
            <a:pPr algn="ctr"/>
            <a:endParaRPr/>
          </a:p>
        </p:txBody>
      </p:sp>
      <p:sp>
        <p:nvSpPr>
          <p:cNvPr id="28" name="Rectangle 27"/>
          <p:cNvSpPr/>
          <p:nvPr/>
        </p:nvSpPr>
        <p:spPr>
          <a:xfrm>
            <a:off x="7307640" y="1608760"/>
            <a:ext cx="2080000" cy="54864"/>
          </a:xfrm>
          <a:prstGeom prst="rect">
            <a:avLst/>
          </a:prstGeom>
          <a:solidFill>
            <a:srgbClr val="E0662B"/>
          </a:solidFill>
          <a:ln>
            <a:noFill/>
          </a:ln>
          <a:effectLst/>
        </p:spPr>
        <p:txBody>
          <a:bodyPr rtlCol="0" anchor="ctr"/>
          <a:lstStyle/>
          <a:p>
            <a:pPr algn="ctr"/>
            <a:endParaRPr/>
          </a:p>
        </p:txBody>
      </p:sp>
      <p:sp>
        <p:nvSpPr>
          <p:cNvPr id="29" name="TextBox 28"/>
          <p:cNvSpPr txBox="1"/>
          <p:nvPr/>
        </p:nvSpPr>
        <p:spPr>
          <a:xfrm>
            <a:off x="7437640" y="1708760"/>
            <a:ext cx="700000" cy="56000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4</a:t>
            </a:r>
          </a:p>
        </p:txBody>
      </p:sp>
      <p:sp>
        <p:nvSpPr>
          <p:cNvPr id="30" name="TextBox 29"/>
          <p:cNvSpPr txBox="1"/>
          <p:nvPr/>
        </p:nvSpPr>
        <p:spPr>
          <a:xfrm>
            <a:off x="7437640" y="2358760"/>
            <a:ext cx="1880000" cy="400000"/>
          </a:xfrm>
          <a:prstGeom prst="rect">
            <a:avLst/>
          </a:prstGeom>
          <a:noFill/>
        </p:spPr>
        <p:txBody>
          <a:bodyPr wrap="square" lIns="0" tIns="0" rIns="0" bIns="0" anchor="t">
            <a:noAutofit/>
          </a:bodyPr>
          <a:lstStyle/>
          <a:p>
            <a:pPr algn="l"/>
            <a:r>
              <a:rPr sz="1600" b="1" i="0">
                <a:solidFill>
                  <a:srgbClr val="1B2A4A"/>
                </a:solidFill>
                <a:latin typeface="Cambria"/>
                <a:ea typeface="Cambria"/>
                <a:cs typeface="Cambria"/>
              </a:rPr>
              <a:t>Evaluation</a:t>
            </a:r>
          </a:p>
        </p:txBody>
      </p:sp>
      <p:sp>
        <p:nvSpPr>
          <p:cNvPr id="31" name="TextBox 30"/>
          <p:cNvSpPr txBox="1"/>
          <p:nvPr/>
        </p:nvSpPr>
        <p:spPr>
          <a:xfrm>
            <a:off x="7437640" y="2758760"/>
            <a:ext cx="1880000" cy="560000"/>
          </a:xfrm>
          <a:prstGeom prst="rect">
            <a:avLst/>
          </a:prstGeom>
          <a:noFill/>
        </p:spPr>
        <p:txBody>
          <a:bodyPr wrap="square" lIns="0" tIns="0" rIns="0" bIns="0" anchor="t">
            <a:noAutofit/>
          </a:bodyPr>
          <a:lstStyle/>
          <a:p>
            <a:pPr algn="l"/>
            <a:r>
              <a:rPr sz="1300" b="0" i="0">
                <a:solidFill>
                  <a:srgbClr val="1B2A4A"/>
                </a:solidFill>
                <a:latin typeface="Calibri"/>
                <a:ea typeface="Calibri"/>
                <a:cs typeface="Calibri"/>
              </a:rPr>
              <a:t>Benchmark vs baselines</a:t>
            </a:r>
          </a:p>
        </p:txBody>
      </p:sp>
      <p:sp>
        <p:nvSpPr>
          <p:cNvPr id="32" name="TextBox 31"/>
          <p:cNvSpPr txBox="1"/>
          <p:nvPr/>
        </p:nvSpPr>
        <p:spPr>
          <a:xfrm>
            <a:off x="7437640" y="3338760"/>
            <a:ext cx="1880000" cy="45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WRMSSE, CSL, cost</a:t>
            </a:r>
          </a:p>
        </p:txBody>
      </p:sp>
      <p:cxnSp>
        <p:nvCxnSpPr>
          <p:cNvPr id="33" name="Connector 32"/>
          <p:cNvCxnSpPr/>
          <p:nvPr/>
        </p:nvCxnSpPr>
        <p:spPr>
          <a:xfrm>
            <a:off x="9397640" y="2658760"/>
            <a:ext cx="153000" cy="0"/>
          </a:xfrm>
          <a:prstGeom prst="line">
            <a:avLst/>
          </a:prstGeom>
          <a:ln w="25400">
            <a:solidFill>
              <a:srgbClr val="E0662B"/>
            </a:solidFill>
            <a:tailEnd type="triangle" w="med" len="med"/>
          </a:ln>
        </p:spPr>
      </p:cxnSp>
      <p:sp>
        <p:nvSpPr>
          <p:cNvPr id="34" name="Rectangle 33"/>
          <p:cNvSpPr/>
          <p:nvPr/>
        </p:nvSpPr>
        <p:spPr>
          <a:xfrm>
            <a:off x="9560640" y="1608760"/>
            <a:ext cx="2080000" cy="2350000"/>
          </a:xfrm>
          <a:prstGeom prst="rect">
            <a:avLst/>
          </a:prstGeom>
          <a:noFill/>
          <a:ln w="9525">
            <a:solidFill>
              <a:srgbClr val="9AA2B4"/>
            </a:solidFill>
            <a:prstDash val="dash"/>
          </a:ln>
          <a:effectLst/>
        </p:spPr>
        <p:txBody>
          <a:bodyPr rtlCol="0" anchor="ctr"/>
          <a:lstStyle/>
          <a:p>
            <a:pPr algn="ctr"/>
            <a:endParaRPr/>
          </a:p>
        </p:txBody>
      </p:sp>
      <p:sp>
        <p:nvSpPr>
          <p:cNvPr id="35" name="TextBox 34"/>
          <p:cNvSpPr txBox="1"/>
          <p:nvPr/>
        </p:nvSpPr>
        <p:spPr>
          <a:xfrm>
            <a:off x="9690640" y="1708760"/>
            <a:ext cx="700000" cy="560000"/>
          </a:xfrm>
          <a:prstGeom prst="rect">
            <a:avLst/>
          </a:prstGeom>
          <a:noFill/>
        </p:spPr>
        <p:txBody>
          <a:bodyPr wrap="square" lIns="0" tIns="0" rIns="0" bIns="0" anchor="t">
            <a:noAutofit/>
          </a:bodyPr>
          <a:lstStyle/>
          <a:p>
            <a:pPr algn="l"/>
            <a:r>
              <a:rPr sz="3400" b="1" i="0">
                <a:solidFill>
                  <a:srgbClr val="9AA2B4"/>
                </a:solidFill>
                <a:latin typeface="Cambria"/>
                <a:ea typeface="Cambria"/>
                <a:cs typeface="Cambria"/>
              </a:rPr>
              <a:t>5</a:t>
            </a:r>
          </a:p>
        </p:txBody>
      </p:sp>
      <p:sp>
        <p:nvSpPr>
          <p:cNvPr id="36" name="TextBox 35"/>
          <p:cNvSpPr txBox="1"/>
          <p:nvPr/>
        </p:nvSpPr>
        <p:spPr>
          <a:xfrm>
            <a:off x="9690640" y="2358760"/>
            <a:ext cx="1880000" cy="400000"/>
          </a:xfrm>
          <a:prstGeom prst="rect">
            <a:avLst/>
          </a:prstGeom>
          <a:noFill/>
        </p:spPr>
        <p:txBody>
          <a:bodyPr wrap="square" lIns="0" tIns="0" rIns="0" bIns="0" anchor="t">
            <a:noAutofit/>
          </a:bodyPr>
          <a:lstStyle/>
          <a:p>
            <a:pPr algn="l"/>
            <a:r>
              <a:rPr sz="1600" b="1" i="0">
                <a:solidFill>
                  <a:srgbClr val="50596C"/>
                </a:solidFill>
                <a:latin typeface="Cambria"/>
                <a:ea typeface="Cambria"/>
                <a:cs typeface="Cambria"/>
              </a:rPr>
              <a:t>Deploy + Test</a:t>
            </a:r>
          </a:p>
        </p:txBody>
      </p:sp>
      <p:sp>
        <p:nvSpPr>
          <p:cNvPr id="37" name="TextBox 36"/>
          <p:cNvSpPr txBox="1"/>
          <p:nvPr/>
        </p:nvSpPr>
        <p:spPr>
          <a:xfrm>
            <a:off x="9690640" y="2758760"/>
            <a:ext cx="1880000" cy="56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Planned</a:t>
            </a:r>
          </a:p>
        </p:txBody>
      </p:sp>
      <p:sp>
        <p:nvSpPr>
          <p:cNvPr id="38" name="TextBox 37"/>
          <p:cNvSpPr txBox="1"/>
          <p:nvPr/>
        </p:nvSpPr>
        <p:spPr>
          <a:xfrm>
            <a:off x="9690640" y="3338760"/>
            <a:ext cx="1880000" cy="45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Not done yet</a:t>
            </a:r>
          </a:p>
        </p:txBody>
      </p:sp>
      <p:sp>
        <p:nvSpPr>
          <p:cNvPr id="39" name="TextBox 38"/>
          <p:cNvSpPr txBox="1"/>
          <p:nvPr/>
        </p:nvSpPr>
        <p:spPr>
          <a:xfrm>
            <a:off x="548640" y="4158760"/>
            <a:ext cx="11094720" cy="30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Two tiers inside stages 3 and 4</a:t>
            </a:r>
          </a:p>
        </p:txBody>
      </p:sp>
      <p:sp>
        <p:nvSpPr>
          <p:cNvPr id="40" name="Rectangle 39"/>
          <p:cNvSpPr/>
          <p:nvPr/>
        </p:nvSpPr>
        <p:spPr>
          <a:xfrm>
            <a:off x="548640" y="4558760"/>
            <a:ext cx="5450000" cy="1250000"/>
          </a:xfrm>
          <a:prstGeom prst="rect">
            <a:avLst/>
          </a:prstGeom>
          <a:solidFill>
            <a:srgbClr val="F1EDE4"/>
          </a:solidFill>
          <a:ln>
            <a:noFill/>
          </a:ln>
          <a:effectLst/>
        </p:spPr>
        <p:txBody>
          <a:bodyPr rtlCol="0" anchor="ctr"/>
          <a:lstStyle/>
          <a:p>
            <a:pPr algn="ctr"/>
            <a:endParaRPr/>
          </a:p>
        </p:txBody>
      </p:sp>
      <p:sp>
        <p:nvSpPr>
          <p:cNvPr id="41" name="TextBox 40"/>
          <p:cNvSpPr txBox="1"/>
          <p:nvPr/>
        </p:nvSpPr>
        <p:spPr>
          <a:xfrm>
            <a:off x="698640" y="4658760"/>
            <a:ext cx="515000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Tier 1 · Forecast (3A)</a:t>
            </a:r>
          </a:p>
        </p:txBody>
      </p:sp>
      <p:sp>
        <p:nvSpPr>
          <p:cNvPr id="42" name="TextBox 41"/>
          <p:cNvSpPr txBox="1"/>
          <p:nvPr/>
        </p:nvSpPr>
        <p:spPr>
          <a:xfrm>
            <a:off x="698640" y="4973085"/>
            <a:ext cx="5150000" cy="775675"/>
          </a:xfrm>
          <a:prstGeom prst="rect">
            <a:avLst/>
          </a:prstGeom>
          <a:noFill/>
        </p:spPr>
        <p:txBody>
          <a:bodyPr wrap="square" lIns="0" tIns="0" rIns="0" bIns="0" anchor="t">
            <a:noAutofit/>
          </a:bodyPr>
          <a:lstStyle/>
          <a:p>
            <a:pPr algn="l">
              <a:spcBef>
                <a:spcPts val="300"/>
              </a:spcBef>
            </a:pPr>
            <a:r>
              <a:rPr sz="1500" b="0" i="0">
                <a:solidFill>
                  <a:srgbClr val="1B2A4A"/>
                </a:solidFill>
                <a:latin typeface="Calibri"/>
                <a:ea typeface="Calibri"/>
                <a:cs typeface="Calibri"/>
              </a:rPr>
              <a:t>Ensemble of LightGBM + XGBoost + LSTM + TFT forecasting sales 1 to 28 days ahead. Measured by WRMSSE.</a:t>
            </a:r>
          </a:p>
        </p:txBody>
      </p:sp>
      <p:sp>
        <p:nvSpPr>
          <p:cNvPr id="43" name="Rectangle 42"/>
          <p:cNvSpPr/>
          <p:nvPr/>
        </p:nvSpPr>
        <p:spPr>
          <a:xfrm>
            <a:off x="6193640" y="4558760"/>
            <a:ext cx="5450000" cy="1250000"/>
          </a:xfrm>
          <a:prstGeom prst="rect">
            <a:avLst/>
          </a:prstGeom>
          <a:solidFill>
            <a:srgbClr val="F1EDE4"/>
          </a:solidFill>
          <a:ln>
            <a:noFill/>
          </a:ln>
          <a:effectLst/>
        </p:spPr>
        <p:txBody>
          <a:bodyPr rtlCol="0" anchor="ctr"/>
          <a:lstStyle/>
          <a:p>
            <a:pPr algn="ctr"/>
            <a:endParaRPr/>
          </a:p>
        </p:txBody>
      </p:sp>
      <p:sp>
        <p:nvSpPr>
          <p:cNvPr id="44" name="Rectangle 43"/>
          <p:cNvSpPr/>
          <p:nvPr/>
        </p:nvSpPr>
        <p:spPr>
          <a:xfrm>
            <a:off x="6193640" y="4558760"/>
            <a:ext cx="54864" cy="1250000"/>
          </a:xfrm>
          <a:prstGeom prst="rect">
            <a:avLst/>
          </a:prstGeom>
          <a:solidFill>
            <a:srgbClr val="E0662B"/>
          </a:solidFill>
          <a:ln>
            <a:noFill/>
          </a:ln>
          <a:effectLst/>
        </p:spPr>
        <p:txBody>
          <a:bodyPr rtlCol="0" anchor="ctr"/>
          <a:lstStyle/>
          <a:p>
            <a:pPr algn="ctr"/>
            <a:endParaRPr/>
          </a:p>
        </p:txBody>
      </p:sp>
      <p:sp>
        <p:nvSpPr>
          <p:cNvPr id="45" name="TextBox 44"/>
          <p:cNvSpPr txBox="1"/>
          <p:nvPr/>
        </p:nvSpPr>
        <p:spPr>
          <a:xfrm>
            <a:off x="6343640" y="4658760"/>
            <a:ext cx="515000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Tier 2 · Service control (3B)</a:t>
            </a:r>
          </a:p>
        </p:txBody>
      </p:sp>
      <p:sp>
        <p:nvSpPr>
          <p:cNvPr id="46" name="TextBox 45"/>
          <p:cNvSpPr txBox="1"/>
          <p:nvPr/>
        </p:nvSpPr>
        <p:spPr>
          <a:xfrm>
            <a:off x="6343640" y="4973085"/>
            <a:ext cx="5150000" cy="775675"/>
          </a:xfrm>
          <a:prstGeom prst="rect">
            <a:avLst/>
          </a:prstGeom>
          <a:noFill/>
        </p:spPr>
        <p:txBody>
          <a:bodyPr wrap="square" lIns="0" tIns="0" rIns="0" bIns="0" anchor="t">
            <a:noAutofit/>
          </a:bodyPr>
          <a:lstStyle/>
          <a:p>
            <a:pPr algn="l">
              <a:spcBef>
                <a:spcPts val="300"/>
              </a:spcBef>
            </a:pPr>
            <a:r>
              <a:rPr sz="1500" b="0" i="0">
                <a:solidFill>
                  <a:srgbClr val="1B2A4A"/>
                </a:solidFill>
                <a:latin typeface="Calibri"/>
                <a:ea typeface="Calibri"/>
                <a:cs typeface="Calibri"/>
              </a:rPr>
              <a:t>C³-OUT takes quantiles from any model and calibrates a per-group multiplier. Measured by CSL gap and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743200" cy="1188720"/>
          </a:xfrm>
          <a:prstGeom prst="rect">
            <a:avLst/>
          </a:prstGeom>
          <a:noFill/>
        </p:spPr>
        <p:txBody>
          <a:bodyPr wrap="square" lIns="0" tIns="0" rIns="0" bIns="0" anchor="t">
            <a:noAutofit/>
          </a:bodyPr>
          <a:lstStyle/>
          <a:p>
            <a:pPr algn="l"/>
            <a:r>
              <a:rPr sz="7200" b="1" i="0">
                <a:solidFill>
                  <a:srgbClr val="E0662B"/>
                </a:solidFill>
                <a:latin typeface="Cambria"/>
                <a:ea typeface="Cambria"/>
                <a:cs typeface="Cambria"/>
              </a:rPr>
              <a:t>1</a:t>
            </a:r>
          </a:p>
        </p:txBody>
      </p:sp>
      <p:sp>
        <p:nvSpPr>
          <p:cNvPr id="3" name="TextBox 2"/>
          <p:cNvSpPr txBox="1"/>
          <p:nvPr/>
        </p:nvSpPr>
        <p:spPr>
          <a:xfrm>
            <a:off x="749808" y="2468880"/>
            <a:ext cx="3657600" cy="292608"/>
          </a:xfrm>
          <a:prstGeom prst="rect">
            <a:avLst/>
          </a:prstGeom>
          <a:noFill/>
        </p:spPr>
        <p:txBody>
          <a:bodyPr wrap="square" lIns="0" tIns="0" rIns="0" bIns="0" anchor="t">
            <a:noAutofit/>
          </a:bodyPr>
          <a:lstStyle/>
          <a:p>
            <a:pPr algn="l"/>
            <a:r>
              <a:rPr sz="1400" b="0" i="0">
                <a:solidFill>
                  <a:srgbClr val="F3D9C6"/>
                </a:solidFill>
                <a:latin typeface="Calibri"/>
                <a:ea typeface="Calibri"/>
                <a:cs typeface="Calibri"/>
              </a:rPr>
              <a:t>STAGE 1 · COLLECT DATA</a:t>
            </a:r>
          </a:p>
        </p:txBody>
      </p:sp>
      <p:sp>
        <p:nvSpPr>
          <p:cNvPr id="4" name="TextBox 3"/>
          <p:cNvSpPr txBox="1"/>
          <p:nvPr/>
        </p:nvSpPr>
        <p:spPr>
          <a:xfrm>
            <a:off x="731520" y="2761488"/>
            <a:ext cx="10607040" cy="914400"/>
          </a:xfrm>
          <a:prstGeom prst="rect">
            <a:avLst/>
          </a:prstGeom>
          <a:noFill/>
        </p:spPr>
        <p:txBody>
          <a:bodyPr wrap="square" lIns="0" tIns="0" rIns="0" bIns="0" anchor="t">
            <a:noAutofit/>
          </a:bodyPr>
          <a:lstStyle/>
          <a:p>
            <a:pPr algn="l"/>
            <a:r>
              <a:rPr sz="3700" b="1" i="0">
                <a:solidFill>
                  <a:srgbClr val="FFFFFF"/>
                </a:solidFill>
                <a:latin typeface="Cambria"/>
                <a:ea typeface="Cambria"/>
                <a:cs typeface="Cambria"/>
              </a:rPr>
              <a:t>The M5 dataset</a:t>
            </a:r>
          </a:p>
        </p:txBody>
      </p:sp>
      <p:sp>
        <p:nvSpPr>
          <p:cNvPr id="5" name="TextBox 4"/>
          <p:cNvSpPr txBox="1"/>
          <p:nvPr/>
        </p:nvSpPr>
        <p:spPr>
          <a:xfrm>
            <a:off x="731520" y="3749040"/>
            <a:ext cx="9875520" cy="914400"/>
          </a:xfrm>
          <a:prstGeom prst="rect">
            <a:avLst/>
          </a:prstGeom>
          <a:noFill/>
        </p:spPr>
        <p:txBody>
          <a:bodyPr wrap="square" lIns="0" tIns="0" rIns="0" bIns="0" anchor="t">
            <a:noAutofit/>
          </a:bodyPr>
          <a:lstStyle/>
          <a:p>
            <a:pPr algn="l"/>
            <a:r>
              <a:rPr sz="1800" b="0" i="0">
                <a:solidFill>
                  <a:srgbClr val="D8DCE6"/>
                </a:solidFill>
                <a:latin typeface="Calibri"/>
                <a:ea typeface="Calibri"/>
                <a:cs typeface="Calibri"/>
              </a:rPr>
              <a:t>Which data is real and rich enough to test an inventory policy?</a:t>
            </a:r>
          </a:p>
        </p:txBody>
      </p:sp>
      <p:sp>
        <p:nvSpPr>
          <p:cNvPr id="6" name="TextBox 5"/>
          <p:cNvSpPr txBox="1"/>
          <p:nvPr/>
        </p:nvSpPr>
        <p:spPr>
          <a:xfrm>
            <a:off x="731520" y="5989320"/>
            <a:ext cx="9144000" cy="292608"/>
          </a:xfrm>
          <a:prstGeom prst="rect">
            <a:avLst/>
          </a:prstGeom>
          <a:noFill/>
        </p:spPr>
        <p:txBody>
          <a:bodyPr wrap="square" lIns="0" tIns="0" rIns="0" bIns="0" anchor="t">
            <a:noAutofit/>
          </a:bodyPr>
          <a:lstStyle/>
          <a:p>
            <a:pPr algn="l"/>
            <a:r>
              <a:rPr sz="1250" b="0" i="0">
                <a:solidFill>
                  <a:srgbClr val="9AA2B4"/>
                </a:solidFill>
                <a:latin typeface="Calibri"/>
                <a:ea typeface="Calibri"/>
                <a:cs typeface="Calibri"/>
              </a:rPr>
              <a:t>3 tables  ·  hierarchy  ·  data characteristics  ·  why M5</a:t>
            </a:r>
          </a:p>
        </p:txBody>
      </p:sp>
      <p:sp>
        <p:nvSpPr>
          <p:cNvPr id="7" name="TextBox 6"/>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9AA2B4"/>
                </a:solidFill>
                <a:latin typeface="Calibri"/>
                <a:ea typeface="Calibri"/>
                <a:cs typeface="Calibri"/>
              </a:rPr>
              <a:t>DFIOS · SE_18 · FPT University Da Nang · SET490</a:t>
            </a:r>
          </a:p>
        </p:txBody>
      </p:sp>
      <p:sp>
        <p:nvSpPr>
          <p:cNvPr id="8" name="TextBox 7"/>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9AA2B4"/>
                </a:solidFill>
                <a:latin typeface="Calibri"/>
                <a:ea typeface="Calibri"/>
                <a:cs typeface="Calibri"/>
              </a:rPr>
              <a:t>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1 · M5</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M5 has three tables, almost 6.9 million rows in total</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9</a:t>
            </a:r>
          </a:p>
        </p:txBody>
      </p:sp>
      <p:sp>
        <p:nvSpPr>
          <p:cNvPr id="6" name="TextBox 5"/>
          <p:cNvSpPr txBox="1"/>
          <p:nvPr/>
        </p:nvSpPr>
        <p:spPr>
          <a:xfrm>
            <a:off x="548640" y="1508760"/>
            <a:ext cx="3560000" cy="58293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30,490</a:t>
            </a:r>
          </a:p>
        </p:txBody>
      </p:sp>
      <p:sp>
        <p:nvSpPr>
          <p:cNvPr id="7" name="TextBox 6"/>
          <p:cNvSpPr txBox="1"/>
          <p:nvPr/>
        </p:nvSpPr>
        <p:spPr>
          <a:xfrm>
            <a:off x="548640" y="2113280"/>
            <a:ext cx="3560000" cy="6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series (item × store)</a:t>
            </a:r>
          </a:p>
        </p:txBody>
      </p:sp>
      <p:sp>
        <p:nvSpPr>
          <p:cNvPr id="8" name="TextBox 7"/>
          <p:cNvSpPr txBox="1"/>
          <p:nvPr/>
        </p:nvSpPr>
        <p:spPr>
          <a:xfrm>
            <a:off x="4268640" y="1508760"/>
            <a:ext cx="3560000" cy="58293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1,941</a:t>
            </a:r>
          </a:p>
        </p:txBody>
      </p:sp>
      <p:sp>
        <p:nvSpPr>
          <p:cNvPr id="9" name="TextBox 8"/>
          <p:cNvSpPr txBox="1"/>
          <p:nvPr/>
        </p:nvSpPr>
        <p:spPr>
          <a:xfrm>
            <a:off x="4268640" y="2113280"/>
            <a:ext cx="3560000" cy="6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days: 2011-01-29 to 2016-05-22</a:t>
            </a:r>
          </a:p>
        </p:txBody>
      </p:sp>
      <p:sp>
        <p:nvSpPr>
          <p:cNvPr id="10" name="TextBox 9"/>
          <p:cNvSpPr txBox="1"/>
          <p:nvPr/>
        </p:nvSpPr>
        <p:spPr>
          <a:xfrm>
            <a:off x="7988640" y="1508760"/>
            <a:ext cx="3560000" cy="58293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3,049</a:t>
            </a:r>
          </a:p>
        </p:txBody>
      </p:sp>
      <p:sp>
        <p:nvSpPr>
          <p:cNvPr id="11" name="TextBox 10"/>
          <p:cNvSpPr txBox="1"/>
          <p:nvPr/>
        </p:nvSpPr>
        <p:spPr>
          <a:xfrm>
            <a:off x="7988640" y="2113280"/>
            <a:ext cx="3560000" cy="6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items, 10 stores, 3 states</a:t>
            </a:r>
          </a:p>
        </p:txBody>
      </p:sp>
      <p:sp>
        <p:nvSpPr>
          <p:cNvPr id="12" name="Rectangle 11"/>
          <p:cNvSpPr/>
          <p:nvPr/>
        </p:nvSpPr>
        <p:spPr>
          <a:xfrm>
            <a:off x="548640" y="2958760"/>
            <a:ext cx="11094720" cy="400000"/>
          </a:xfrm>
          <a:prstGeom prst="rect">
            <a:avLst/>
          </a:prstGeom>
          <a:solidFill>
            <a:srgbClr val="1B2A4A"/>
          </a:solidFill>
          <a:ln>
            <a:noFill/>
          </a:ln>
          <a:effectLst/>
        </p:spPr>
        <p:txBody>
          <a:bodyPr rtlCol="0" anchor="ctr"/>
          <a:lstStyle/>
          <a:p>
            <a:pPr algn="ctr"/>
            <a:endParaRPr/>
          </a:p>
        </p:txBody>
      </p:sp>
      <p:sp>
        <p:nvSpPr>
          <p:cNvPr id="13" name="TextBox 12"/>
          <p:cNvSpPr txBox="1"/>
          <p:nvPr/>
        </p:nvSpPr>
        <p:spPr>
          <a:xfrm>
            <a:off x="640080" y="2958760"/>
            <a:ext cx="2017120" cy="40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Table</a:t>
            </a:r>
          </a:p>
        </p:txBody>
      </p:sp>
      <p:sp>
        <p:nvSpPr>
          <p:cNvPr id="14" name="TextBox 13"/>
          <p:cNvSpPr txBox="1"/>
          <p:nvPr/>
        </p:nvSpPr>
        <p:spPr>
          <a:xfrm>
            <a:off x="2840080" y="2958760"/>
            <a:ext cx="1417120" cy="40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Shape</a:t>
            </a:r>
          </a:p>
        </p:txBody>
      </p:sp>
      <p:sp>
        <p:nvSpPr>
          <p:cNvPr id="15" name="TextBox 14"/>
          <p:cNvSpPr txBox="1"/>
          <p:nvPr/>
        </p:nvSpPr>
        <p:spPr>
          <a:xfrm>
            <a:off x="4440080" y="2958760"/>
            <a:ext cx="2217120" cy="40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Describes</a:t>
            </a:r>
          </a:p>
        </p:txBody>
      </p:sp>
      <p:sp>
        <p:nvSpPr>
          <p:cNvPr id="16" name="TextBox 15"/>
          <p:cNvSpPr txBox="1"/>
          <p:nvPr/>
        </p:nvSpPr>
        <p:spPr>
          <a:xfrm>
            <a:off x="6840080" y="2958760"/>
            <a:ext cx="4711840" cy="40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Holds</a:t>
            </a:r>
          </a:p>
        </p:txBody>
      </p:sp>
      <p:sp>
        <p:nvSpPr>
          <p:cNvPr id="17" name="TextBox 16"/>
          <p:cNvSpPr txBox="1"/>
          <p:nvPr/>
        </p:nvSpPr>
        <p:spPr>
          <a:xfrm>
            <a:off x="640080" y="3358760"/>
            <a:ext cx="2017120" cy="76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sales_train_evaluation</a:t>
            </a:r>
          </a:p>
        </p:txBody>
      </p:sp>
      <p:sp>
        <p:nvSpPr>
          <p:cNvPr id="18" name="TextBox 17"/>
          <p:cNvSpPr txBox="1"/>
          <p:nvPr/>
        </p:nvSpPr>
        <p:spPr>
          <a:xfrm>
            <a:off x="2840080" y="3358760"/>
            <a:ext cx="141712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30,490 × 1,947</a:t>
            </a:r>
          </a:p>
        </p:txBody>
      </p:sp>
      <p:sp>
        <p:nvSpPr>
          <p:cNvPr id="19" name="TextBox 18"/>
          <p:cNvSpPr txBox="1"/>
          <p:nvPr/>
        </p:nvSpPr>
        <p:spPr>
          <a:xfrm>
            <a:off x="4440080" y="3358760"/>
            <a:ext cx="221712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Daily sales of each series</a:t>
            </a:r>
          </a:p>
        </p:txBody>
      </p:sp>
      <p:sp>
        <p:nvSpPr>
          <p:cNvPr id="20" name="TextBox 19"/>
          <p:cNvSpPr txBox="1"/>
          <p:nvPr/>
        </p:nvSpPr>
        <p:spPr>
          <a:xfrm>
            <a:off x="6840080" y="3358760"/>
            <a:ext cx="471184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6 ID columns (id, item, dept, cat, store, state) + 1,941 columns d_1…d_1941 of units sold</a:t>
            </a:r>
          </a:p>
        </p:txBody>
      </p:sp>
      <p:sp>
        <p:nvSpPr>
          <p:cNvPr id="21" name="Rectangle 20"/>
          <p:cNvSpPr/>
          <p:nvPr/>
        </p:nvSpPr>
        <p:spPr>
          <a:xfrm>
            <a:off x="548640" y="4118760"/>
            <a:ext cx="11094720" cy="760000"/>
          </a:xfrm>
          <a:prstGeom prst="rect">
            <a:avLst/>
          </a:prstGeom>
          <a:solidFill>
            <a:srgbClr val="E3DED3"/>
          </a:solidFill>
          <a:ln>
            <a:noFill/>
          </a:ln>
          <a:effectLst/>
        </p:spPr>
        <p:txBody>
          <a:bodyPr rtlCol="0" anchor="ctr"/>
          <a:lstStyle/>
          <a:p>
            <a:pPr algn="ctr"/>
            <a:endParaRPr/>
          </a:p>
        </p:txBody>
      </p:sp>
      <p:sp>
        <p:nvSpPr>
          <p:cNvPr id="22" name="TextBox 21"/>
          <p:cNvSpPr txBox="1"/>
          <p:nvPr/>
        </p:nvSpPr>
        <p:spPr>
          <a:xfrm>
            <a:off x="640080" y="4118760"/>
            <a:ext cx="2017120" cy="76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calendar</a:t>
            </a:r>
          </a:p>
        </p:txBody>
      </p:sp>
      <p:sp>
        <p:nvSpPr>
          <p:cNvPr id="23" name="TextBox 22"/>
          <p:cNvSpPr txBox="1"/>
          <p:nvPr/>
        </p:nvSpPr>
        <p:spPr>
          <a:xfrm>
            <a:off x="2840080" y="4118760"/>
            <a:ext cx="141712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1,969 × 14</a:t>
            </a:r>
          </a:p>
        </p:txBody>
      </p:sp>
      <p:sp>
        <p:nvSpPr>
          <p:cNvPr id="24" name="TextBox 23"/>
          <p:cNvSpPr txBox="1"/>
          <p:nvPr/>
        </p:nvSpPr>
        <p:spPr>
          <a:xfrm>
            <a:off x="4440080" y="4118760"/>
            <a:ext cx="221712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Calendar of each day</a:t>
            </a:r>
          </a:p>
        </p:txBody>
      </p:sp>
      <p:sp>
        <p:nvSpPr>
          <p:cNvPr id="25" name="TextBox 24"/>
          <p:cNvSpPr txBox="1"/>
          <p:nvPr/>
        </p:nvSpPr>
        <p:spPr>
          <a:xfrm>
            <a:off x="6840080" y="4118760"/>
            <a:ext cx="471184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date, wm_yr_wk, weekday, month, year, d; events (event_name/type_1, _2); SNAP flags for CA, TX, WI</a:t>
            </a:r>
          </a:p>
        </p:txBody>
      </p:sp>
      <p:sp>
        <p:nvSpPr>
          <p:cNvPr id="26" name="TextBox 25"/>
          <p:cNvSpPr txBox="1"/>
          <p:nvPr/>
        </p:nvSpPr>
        <p:spPr>
          <a:xfrm>
            <a:off x="640080" y="4878760"/>
            <a:ext cx="2017120" cy="76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sell_prices</a:t>
            </a:r>
          </a:p>
        </p:txBody>
      </p:sp>
      <p:sp>
        <p:nvSpPr>
          <p:cNvPr id="27" name="TextBox 26"/>
          <p:cNvSpPr txBox="1"/>
          <p:nvPr/>
        </p:nvSpPr>
        <p:spPr>
          <a:xfrm>
            <a:off x="2840080" y="4878760"/>
            <a:ext cx="141712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6,841,121 × 4</a:t>
            </a:r>
          </a:p>
        </p:txBody>
      </p:sp>
      <p:sp>
        <p:nvSpPr>
          <p:cNvPr id="28" name="TextBox 27"/>
          <p:cNvSpPr txBox="1"/>
          <p:nvPr/>
        </p:nvSpPr>
        <p:spPr>
          <a:xfrm>
            <a:off x="4440080" y="4878760"/>
            <a:ext cx="221712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Weekly selling price</a:t>
            </a:r>
          </a:p>
        </p:txBody>
      </p:sp>
      <p:sp>
        <p:nvSpPr>
          <p:cNvPr id="29" name="TextBox 28"/>
          <p:cNvSpPr txBox="1"/>
          <p:nvPr/>
        </p:nvSpPr>
        <p:spPr>
          <a:xfrm>
            <a:off x="6840080" y="4878760"/>
            <a:ext cx="4711840" cy="7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store_id, item_id, wm_yr_wk, sell_price (min 0.01; median 3.47; max 107.32)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1 · M5</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Each series is an item × store pair; the three tables join on three keys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10</a:t>
            </a:r>
          </a:p>
        </p:txBody>
      </p:sp>
      <p:sp>
        <p:nvSpPr>
          <p:cNvPr id="6" name="TextBox 5"/>
          <p:cNvSpPr txBox="1"/>
          <p:nvPr/>
        </p:nvSpPr>
        <p:spPr>
          <a:xfrm>
            <a:off x="548640" y="1508760"/>
            <a:ext cx="5300000" cy="300000"/>
          </a:xfrm>
          <a:prstGeom prst="rect">
            <a:avLst/>
          </a:prstGeom>
          <a:noFill/>
        </p:spPr>
        <p:txBody>
          <a:bodyPr wrap="square" lIns="0" tIns="0" rIns="0" bIns="0" anchor="t">
            <a:noAutofit/>
          </a:bodyPr>
          <a:lstStyle/>
          <a:p>
            <a:pPr algn="l"/>
            <a:r>
              <a:rPr sz="1600" b="1" i="0">
                <a:solidFill>
                  <a:srgbClr val="1B2A4A"/>
                </a:solidFill>
                <a:latin typeface="Cambria"/>
                <a:ea typeface="Cambria"/>
                <a:cs typeface="Cambria"/>
              </a:rPr>
              <a:t>Hierarchy</a:t>
            </a:r>
          </a:p>
        </p:txBody>
      </p:sp>
      <p:sp>
        <p:nvSpPr>
          <p:cNvPr id="7" name="Rectangle 6"/>
          <p:cNvSpPr/>
          <p:nvPr/>
        </p:nvSpPr>
        <p:spPr>
          <a:xfrm>
            <a:off x="548640" y="1888760"/>
            <a:ext cx="5500000" cy="380000"/>
          </a:xfrm>
          <a:prstGeom prst="rect">
            <a:avLst/>
          </a:prstGeom>
          <a:solidFill>
            <a:srgbClr val="1B2A4A"/>
          </a:solidFill>
          <a:ln>
            <a:noFill/>
          </a:ln>
          <a:effectLst/>
        </p:spPr>
        <p:txBody>
          <a:bodyPr rtlCol="0" anchor="ctr"/>
          <a:lstStyle/>
          <a:p>
            <a:pPr algn="ctr"/>
            <a:endParaRPr/>
          </a:p>
        </p:txBody>
      </p:sp>
      <p:sp>
        <p:nvSpPr>
          <p:cNvPr id="8" name="TextBox 7"/>
          <p:cNvSpPr txBox="1"/>
          <p:nvPr/>
        </p:nvSpPr>
        <p:spPr>
          <a:xfrm>
            <a:off x="640080" y="1888760"/>
            <a:ext cx="1317120" cy="38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Level</a:t>
            </a:r>
          </a:p>
        </p:txBody>
      </p:sp>
      <p:sp>
        <p:nvSpPr>
          <p:cNvPr id="9" name="TextBox 8"/>
          <p:cNvSpPr txBox="1"/>
          <p:nvPr/>
        </p:nvSpPr>
        <p:spPr>
          <a:xfrm>
            <a:off x="2140080" y="1888760"/>
            <a:ext cx="3817120" cy="38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Values (series)</a:t>
            </a:r>
          </a:p>
        </p:txBody>
      </p:sp>
      <p:sp>
        <p:nvSpPr>
          <p:cNvPr id="10" name="TextBox 9"/>
          <p:cNvSpPr txBox="1"/>
          <p:nvPr/>
        </p:nvSpPr>
        <p:spPr>
          <a:xfrm>
            <a:off x="640080" y="2268760"/>
            <a:ext cx="1317120" cy="50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Category (3)</a:t>
            </a:r>
          </a:p>
        </p:txBody>
      </p:sp>
      <p:sp>
        <p:nvSpPr>
          <p:cNvPr id="11" name="TextBox 10"/>
          <p:cNvSpPr txBox="1"/>
          <p:nvPr/>
        </p:nvSpPr>
        <p:spPr>
          <a:xfrm>
            <a:off x="2140080" y="2268760"/>
            <a:ext cx="3817120" cy="5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FOODS 14,370 · HOUSEHOLD 10,470 · HOBBIES 5,650</a:t>
            </a:r>
          </a:p>
        </p:txBody>
      </p:sp>
      <p:sp>
        <p:nvSpPr>
          <p:cNvPr id="12" name="Rectangle 11"/>
          <p:cNvSpPr/>
          <p:nvPr/>
        </p:nvSpPr>
        <p:spPr>
          <a:xfrm>
            <a:off x="548640" y="2768760"/>
            <a:ext cx="5500000" cy="900000"/>
          </a:xfrm>
          <a:prstGeom prst="rect">
            <a:avLst/>
          </a:prstGeom>
          <a:solidFill>
            <a:srgbClr val="E3DED3"/>
          </a:solidFill>
          <a:ln>
            <a:noFill/>
          </a:ln>
          <a:effectLst/>
        </p:spPr>
        <p:txBody>
          <a:bodyPr rtlCol="0" anchor="ctr"/>
          <a:lstStyle/>
          <a:p>
            <a:pPr algn="ctr"/>
            <a:endParaRPr/>
          </a:p>
        </p:txBody>
      </p:sp>
      <p:sp>
        <p:nvSpPr>
          <p:cNvPr id="13" name="TextBox 12"/>
          <p:cNvSpPr txBox="1"/>
          <p:nvPr/>
        </p:nvSpPr>
        <p:spPr>
          <a:xfrm>
            <a:off x="640080" y="2768760"/>
            <a:ext cx="1317120" cy="90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Department (7)</a:t>
            </a:r>
          </a:p>
        </p:txBody>
      </p:sp>
      <p:sp>
        <p:nvSpPr>
          <p:cNvPr id="14" name="TextBox 13"/>
          <p:cNvSpPr txBox="1"/>
          <p:nvPr/>
        </p:nvSpPr>
        <p:spPr>
          <a:xfrm>
            <a:off x="2140080" y="2768760"/>
            <a:ext cx="3817120" cy="9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FOODS_3 8,230 · HOUSEHOLD_1 5,320 · HOUSEHOLD_2 5,150 · HOBBIES_1 4,160 · FOODS_2 3,980 · FOODS_1 2,160 · HOBBIES_2 1,490</a:t>
            </a:r>
          </a:p>
        </p:txBody>
      </p:sp>
      <p:sp>
        <p:nvSpPr>
          <p:cNvPr id="15" name="TextBox 14"/>
          <p:cNvSpPr txBox="1"/>
          <p:nvPr/>
        </p:nvSpPr>
        <p:spPr>
          <a:xfrm>
            <a:off x="640080" y="3668760"/>
            <a:ext cx="1317120" cy="50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State (3)</a:t>
            </a:r>
          </a:p>
        </p:txBody>
      </p:sp>
      <p:sp>
        <p:nvSpPr>
          <p:cNvPr id="16" name="TextBox 15"/>
          <p:cNvSpPr txBox="1"/>
          <p:nvPr/>
        </p:nvSpPr>
        <p:spPr>
          <a:xfrm>
            <a:off x="2140080" y="3668760"/>
            <a:ext cx="3817120" cy="5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CA 12,196 · TX 9,147 · WI 9,147</a:t>
            </a:r>
          </a:p>
        </p:txBody>
      </p:sp>
      <p:sp>
        <p:nvSpPr>
          <p:cNvPr id="17" name="Rectangle 16"/>
          <p:cNvSpPr/>
          <p:nvPr/>
        </p:nvSpPr>
        <p:spPr>
          <a:xfrm>
            <a:off x="548640" y="4168760"/>
            <a:ext cx="5500000" cy="420000"/>
          </a:xfrm>
          <a:prstGeom prst="rect">
            <a:avLst/>
          </a:prstGeom>
          <a:solidFill>
            <a:srgbClr val="E3DED3"/>
          </a:solidFill>
          <a:ln>
            <a:noFill/>
          </a:ln>
          <a:effectLst/>
        </p:spPr>
        <p:txBody>
          <a:bodyPr rtlCol="0" anchor="ctr"/>
          <a:lstStyle/>
          <a:p>
            <a:pPr algn="ctr"/>
            <a:endParaRPr/>
          </a:p>
        </p:txBody>
      </p:sp>
      <p:sp>
        <p:nvSpPr>
          <p:cNvPr id="18" name="TextBox 17"/>
          <p:cNvSpPr txBox="1"/>
          <p:nvPr/>
        </p:nvSpPr>
        <p:spPr>
          <a:xfrm>
            <a:off x="640080" y="4168760"/>
            <a:ext cx="1317120" cy="4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Store (10)</a:t>
            </a:r>
          </a:p>
        </p:txBody>
      </p:sp>
      <p:sp>
        <p:nvSpPr>
          <p:cNvPr id="19" name="TextBox 18"/>
          <p:cNvSpPr txBox="1"/>
          <p:nvPr/>
        </p:nvSpPr>
        <p:spPr>
          <a:xfrm>
            <a:off x="2140080" y="4168760"/>
            <a:ext cx="381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CA_1–4 · TX_1–3 · WI_1–3</a:t>
            </a:r>
          </a:p>
        </p:txBody>
      </p:sp>
      <p:sp>
        <p:nvSpPr>
          <p:cNvPr id="20" name="TextBox 19"/>
          <p:cNvSpPr txBox="1"/>
          <p:nvPr/>
        </p:nvSpPr>
        <p:spPr>
          <a:xfrm>
            <a:off x="640080" y="4588760"/>
            <a:ext cx="1317120" cy="50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Item (3,049)</a:t>
            </a:r>
          </a:p>
        </p:txBody>
      </p:sp>
      <p:sp>
        <p:nvSpPr>
          <p:cNvPr id="21" name="TextBox 20"/>
          <p:cNvSpPr txBox="1"/>
          <p:nvPr/>
        </p:nvSpPr>
        <p:spPr>
          <a:xfrm>
            <a:off x="2140080" y="4588760"/>
            <a:ext cx="3817120" cy="5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3,049 × 10 stores = 30,490 series</a:t>
            </a:r>
          </a:p>
        </p:txBody>
      </p:sp>
      <p:sp>
        <p:nvSpPr>
          <p:cNvPr id="22" name="TextBox 21"/>
          <p:cNvSpPr txBox="1"/>
          <p:nvPr/>
        </p:nvSpPr>
        <p:spPr>
          <a:xfrm>
            <a:off x="6400000" y="1508760"/>
            <a:ext cx="5200000" cy="300000"/>
          </a:xfrm>
          <a:prstGeom prst="rect">
            <a:avLst/>
          </a:prstGeom>
          <a:noFill/>
        </p:spPr>
        <p:txBody>
          <a:bodyPr wrap="square" lIns="0" tIns="0" rIns="0" bIns="0" anchor="t">
            <a:noAutofit/>
          </a:bodyPr>
          <a:lstStyle/>
          <a:p>
            <a:pPr algn="l"/>
            <a:r>
              <a:rPr sz="1600" b="1" i="0">
                <a:solidFill>
                  <a:srgbClr val="1B2A4A"/>
                </a:solidFill>
                <a:latin typeface="Cambria"/>
                <a:ea typeface="Cambria"/>
                <a:cs typeface="Cambria"/>
              </a:rPr>
              <a:t>How the three tables join</a:t>
            </a:r>
          </a:p>
        </p:txBody>
      </p:sp>
      <p:sp>
        <p:nvSpPr>
          <p:cNvPr id="23" name="Rectangle 22"/>
          <p:cNvSpPr/>
          <p:nvPr/>
        </p:nvSpPr>
        <p:spPr>
          <a:xfrm>
            <a:off x="6386800" y="2035641"/>
            <a:ext cx="2300000" cy="1000000"/>
          </a:xfrm>
          <a:prstGeom prst="rect">
            <a:avLst/>
          </a:prstGeom>
          <a:solidFill>
            <a:srgbClr val="F1EDE4"/>
          </a:solidFill>
          <a:ln>
            <a:noFill/>
          </a:ln>
          <a:effectLst/>
        </p:spPr>
        <p:txBody>
          <a:bodyPr rtlCol="0" anchor="ctr"/>
          <a:lstStyle/>
          <a:p>
            <a:pPr algn="ctr"/>
            <a:endParaRPr/>
          </a:p>
        </p:txBody>
      </p:sp>
      <p:sp>
        <p:nvSpPr>
          <p:cNvPr id="25" name="TextBox 24"/>
          <p:cNvSpPr txBox="1"/>
          <p:nvPr/>
        </p:nvSpPr>
        <p:spPr>
          <a:xfrm>
            <a:off x="6530000" y="2068760"/>
            <a:ext cx="2100000" cy="300000"/>
          </a:xfrm>
          <a:prstGeom prst="rect">
            <a:avLst/>
          </a:prstGeom>
          <a:noFill/>
        </p:spPr>
        <p:txBody>
          <a:bodyPr wrap="square" lIns="0" tIns="0" rIns="0" bIns="0" anchor="t">
            <a:noAutofit/>
          </a:bodyPr>
          <a:lstStyle/>
          <a:p>
            <a:pPr algn="ctr"/>
            <a:r>
              <a:rPr sz="1600" b="1" i="0">
                <a:solidFill>
                  <a:srgbClr val="1B2A4A"/>
                </a:solidFill>
                <a:latin typeface="Cambria"/>
                <a:ea typeface="Cambria"/>
                <a:cs typeface="Cambria"/>
              </a:rPr>
              <a:t>sales</a:t>
            </a:r>
          </a:p>
        </p:txBody>
      </p:sp>
      <p:sp>
        <p:nvSpPr>
          <p:cNvPr id="26" name="TextBox 25"/>
          <p:cNvSpPr txBox="1"/>
          <p:nvPr/>
        </p:nvSpPr>
        <p:spPr>
          <a:xfrm>
            <a:off x="6530000" y="2388760"/>
            <a:ext cx="2100000" cy="60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id, item_id, store_id, d_1…d_1941</a:t>
            </a:r>
          </a:p>
        </p:txBody>
      </p:sp>
      <p:sp>
        <p:nvSpPr>
          <p:cNvPr id="27" name="Rectangle 26"/>
          <p:cNvSpPr/>
          <p:nvPr/>
        </p:nvSpPr>
        <p:spPr>
          <a:xfrm>
            <a:off x="9300000" y="2008760"/>
            <a:ext cx="2300000" cy="1000000"/>
          </a:xfrm>
          <a:prstGeom prst="rect">
            <a:avLst/>
          </a:prstGeom>
          <a:solidFill>
            <a:srgbClr val="F1EDE4"/>
          </a:solidFill>
          <a:ln>
            <a:noFill/>
          </a:ln>
          <a:effectLst/>
        </p:spPr>
        <p:txBody>
          <a:bodyPr rtlCol="0" anchor="ctr"/>
          <a:lstStyle/>
          <a:p>
            <a:pPr algn="ctr"/>
            <a:endParaRPr/>
          </a:p>
        </p:txBody>
      </p:sp>
      <p:sp>
        <p:nvSpPr>
          <p:cNvPr id="28" name="TextBox 27"/>
          <p:cNvSpPr txBox="1"/>
          <p:nvPr/>
        </p:nvSpPr>
        <p:spPr>
          <a:xfrm>
            <a:off x="9430000" y="2068760"/>
            <a:ext cx="2100000" cy="300000"/>
          </a:xfrm>
          <a:prstGeom prst="rect">
            <a:avLst/>
          </a:prstGeom>
          <a:noFill/>
        </p:spPr>
        <p:txBody>
          <a:bodyPr wrap="square" lIns="0" tIns="0" rIns="0" bIns="0" anchor="t">
            <a:noAutofit/>
          </a:bodyPr>
          <a:lstStyle/>
          <a:p>
            <a:pPr algn="ctr"/>
            <a:r>
              <a:rPr sz="1600" b="1" i="0">
                <a:solidFill>
                  <a:srgbClr val="1B2A4A"/>
                </a:solidFill>
                <a:latin typeface="Cambria"/>
                <a:ea typeface="Cambria"/>
                <a:cs typeface="Cambria"/>
              </a:rPr>
              <a:t>calendar</a:t>
            </a:r>
          </a:p>
        </p:txBody>
      </p:sp>
      <p:sp>
        <p:nvSpPr>
          <p:cNvPr id="29" name="TextBox 28"/>
          <p:cNvSpPr txBox="1"/>
          <p:nvPr/>
        </p:nvSpPr>
        <p:spPr>
          <a:xfrm>
            <a:off x="9430000" y="2388760"/>
            <a:ext cx="2100000" cy="60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d, date, wm_yr_wk, events, snap_*</a:t>
            </a:r>
          </a:p>
        </p:txBody>
      </p:sp>
      <p:sp>
        <p:nvSpPr>
          <p:cNvPr id="30" name="Rectangle 29"/>
          <p:cNvSpPr/>
          <p:nvPr/>
        </p:nvSpPr>
        <p:spPr>
          <a:xfrm>
            <a:off x="7850000" y="4008760"/>
            <a:ext cx="2300000" cy="1000000"/>
          </a:xfrm>
          <a:prstGeom prst="rect">
            <a:avLst/>
          </a:prstGeom>
          <a:solidFill>
            <a:srgbClr val="F1EDE4"/>
          </a:solidFill>
          <a:ln>
            <a:noFill/>
          </a:ln>
          <a:effectLst/>
        </p:spPr>
        <p:txBody>
          <a:bodyPr rtlCol="0" anchor="ctr"/>
          <a:lstStyle/>
          <a:p>
            <a:pPr algn="ctr"/>
            <a:endParaRPr/>
          </a:p>
        </p:txBody>
      </p:sp>
      <p:sp>
        <p:nvSpPr>
          <p:cNvPr id="31" name="TextBox 30"/>
          <p:cNvSpPr txBox="1"/>
          <p:nvPr/>
        </p:nvSpPr>
        <p:spPr>
          <a:xfrm>
            <a:off x="7980000" y="4068760"/>
            <a:ext cx="2100000" cy="300000"/>
          </a:xfrm>
          <a:prstGeom prst="rect">
            <a:avLst/>
          </a:prstGeom>
          <a:noFill/>
        </p:spPr>
        <p:txBody>
          <a:bodyPr wrap="square" lIns="0" tIns="0" rIns="0" bIns="0" anchor="t">
            <a:noAutofit/>
          </a:bodyPr>
          <a:lstStyle/>
          <a:p>
            <a:pPr algn="ctr"/>
            <a:r>
              <a:rPr sz="1600" b="1" i="0">
                <a:solidFill>
                  <a:srgbClr val="1B2A4A"/>
                </a:solidFill>
                <a:latin typeface="Cambria"/>
                <a:ea typeface="Cambria"/>
                <a:cs typeface="Cambria"/>
              </a:rPr>
              <a:t>sell_prices</a:t>
            </a:r>
          </a:p>
        </p:txBody>
      </p:sp>
      <p:sp>
        <p:nvSpPr>
          <p:cNvPr id="32" name="TextBox 31"/>
          <p:cNvSpPr txBox="1"/>
          <p:nvPr/>
        </p:nvSpPr>
        <p:spPr>
          <a:xfrm>
            <a:off x="7980000" y="4388760"/>
            <a:ext cx="2100000" cy="600000"/>
          </a:xfrm>
          <a:prstGeom prst="rect">
            <a:avLst/>
          </a:prstGeom>
          <a:noFill/>
        </p:spPr>
        <p:txBody>
          <a:bodyPr wrap="square" lIns="0" tIns="0" rIns="0" bIns="0" anchor="t">
            <a:noAutofit/>
          </a:bodyPr>
          <a:lstStyle/>
          <a:p>
            <a:pPr algn="l"/>
            <a:r>
              <a:rPr sz="1250" b="0" i="0">
                <a:solidFill>
                  <a:srgbClr val="50596C"/>
                </a:solidFill>
                <a:latin typeface="Calibri"/>
                <a:ea typeface="Calibri"/>
                <a:cs typeface="Calibri"/>
              </a:rPr>
              <a:t>store_id, item_id, wm_yr_wk, sell_price</a:t>
            </a:r>
          </a:p>
        </p:txBody>
      </p:sp>
      <p:cxnSp>
        <p:nvCxnSpPr>
          <p:cNvPr id="33" name="Connector 32"/>
          <p:cNvCxnSpPr/>
          <p:nvPr/>
        </p:nvCxnSpPr>
        <p:spPr>
          <a:xfrm>
            <a:off x="8700000" y="2508760"/>
            <a:ext cx="600000" cy="0"/>
          </a:xfrm>
          <a:prstGeom prst="line">
            <a:avLst/>
          </a:prstGeom>
          <a:ln w="25400">
            <a:solidFill>
              <a:srgbClr val="E0662B"/>
            </a:solidFill>
            <a:tailEnd type="triangle" w="med" len="med"/>
          </a:ln>
        </p:spPr>
      </p:cxnSp>
      <p:cxnSp>
        <p:nvCxnSpPr>
          <p:cNvPr id="34" name="Connector 33"/>
          <p:cNvCxnSpPr/>
          <p:nvPr/>
        </p:nvCxnSpPr>
        <p:spPr>
          <a:xfrm flipH="1">
            <a:off x="8700000" y="2508760"/>
            <a:ext cx="600000" cy="0"/>
          </a:xfrm>
          <a:prstGeom prst="line">
            <a:avLst/>
          </a:prstGeom>
          <a:ln w="25400">
            <a:solidFill>
              <a:srgbClr val="E0662B"/>
            </a:solidFill>
            <a:tailEnd type="triangle" w="med" len="med"/>
          </a:ln>
        </p:spPr>
      </p:cxnSp>
      <p:sp>
        <p:nvSpPr>
          <p:cNvPr id="35" name="TextBox 34"/>
          <p:cNvSpPr txBox="1"/>
          <p:nvPr/>
        </p:nvSpPr>
        <p:spPr>
          <a:xfrm>
            <a:off x="8650000" y="2128760"/>
            <a:ext cx="700000" cy="300000"/>
          </a:xfrm>
          <a:prstGeom prst="rect">
            <a:avLst/>
          </a:prstGeom>
          <a:noFill/>
        </p:spPr>
        <p:txBody>
          <a:bodyPr wrap="square" lIns="0" tIns="0" rIns="0" bIns="0" anchor="t">
            <a:noAutofit/>
          </a:bodyPr>
          <a:lstStyle/>
          <a:p>
            <a:pPr algn="ctr"/>
            <a:r>
              <a:rPr sz="1550" b="1" i="0">
                <a:solidFill>
                  <a:srgbClr val="E0662B"/>
                </a:solidFill>
                <a:latin typeface="Calibri"/>
                <a:ea typeface="Calibri"/>
                <a:cs typeface="Calibri"/>
              </a:rPr>
              <a:t>d</a:t>
            </a:r>
          </a:p>
        </p:txBody>
      </p:sp>
      <p:cxnSp>
        <p:nvCxnSpPr>
          <p:cNvPr id="36" name="Connector 35"/>
          <p:cNvCxnSpPr/>
          <p:nvPr/>
        </p:nvCxnSpPr>
        <p:spPr>
          <a:xfrm flipH="1">
            <a:off x="9700000" y="3008760"/>
            <a:ext cx="750000" cy="1000000"/>
          </a:xfrm>
          <a:prstGeom prst="line">
            <a:avLst/>
          </a:prstGeom>
          <a:ln w="25400">
            <a:solidFill>
              <a:srgbClr val="E0662B"/>
            </a:solidFill>
            <a:tailEnd type="triangle" w="med" len="med"/>
          </a:ln>
        </p:spPr>
      </p:cxnSp>
      <p:sp>
        <p:nvSpPr>
          <p:cNvPr id="37" name="TextBox 36"/>
          <p:cNvSpPr txBox="1"/>
          <p:nvPr/>
        </p:nvSpPr>
        <p:spPr>
          <a:xfrm>
            <a:off x="10234495" y="3461460"/>
            <a:ext cx="1500000" cy="300000"/>
          </a:xfrm>
          <a:prstGeom prst="rect">
            <a:avLst/>
          </a:prstGeom>
          <a:noFill/>
        </p:spPr>
        <p:txBody>
          <a:bodyPr wrap="square" lIns="0" tIns="0" rIns="0" bIns="0" anchor="t">
            <a:noAutofit/>
          </a:bodyPr>
          <a:lstStyle/>
          <a:p>
            <a:pPr algn="l"/>
            <a:r>
              <a:rPr sz="1400" b="1" i="0">
                <a:solidFill>
                  <a:srgbClr val="E0662B"/>
                </a:solidFill>
                <a:latin typeface="Calibri"/>
                <a:ea typeface="Calibri"/>
                <a:cs typeface="Calibri"/>
              </a:rPr>
              <a:t>wm_yr_wk</a:t>
            </a:r>
          </a:p>
        </p:txBody>
      </p:sp>
      <p:cxnSp>
        <p:nvCxnSpPr>
          <p:cNvPr id="38" name="Connector 37"/>
          <p:cNvCxnSpPr/>
          <p:nvPr/>
        </p:nvCxnSpPr>
        <p:spPr>
          <a:xfrm>
            <a:off x="7550000" y="3008760"/>
            <a:ext cx="750000" cy="1000000"/>
          </a:xfrm>
          <a:prstGeom prst="line">
            <a:avLst/>
          </a:prstGeom>
          <a:ln w="25400">
            <a:solidFill>
              <a:srgbClr val="E0662B"/>
            </a:solidFill>
            <a:tailEnd type="triangle" w="med" len="med"/>
          </a:ln>
        </p:spPr>
      </p:cxnSp>
      <p:sp>
        <p:nvSpPr>
          <p:cNvPr id="39" name="TextBox 38"/>
          <p:cNvSpPr txBox="1"/>
          <p:nvPr/>
        </p:nvSpPr>
        <p:spPr>
          <a:xfrm>
            <a:off x="6443776" y="3432401"/>
            <a:ext cx="1400000" cy="300000"/>
          </a:xfrm>
          <a:prstGeom prst="rect">
            <a:avLst/>
          </a:prstGeom>
          <a:noFill/>
        </p:spPr>
        <p:txBody>
          <a:bodyPr wrap="square" lIns="0" tIns="0" rIns="0" bIns="0" anchor="t">
            <a:noAutofit/>
          </a:bodyPr>
          <a:lstStyle/>
          <a:p>
            <a:pPr algn="l"/>
            <a:r>
              <a:rPr sz="1400" b="1" i="0" dirty="0" err="1">
                <a:solidFill>
                  <a:srgbClr val="E0662B"/>
                </a:solidFill>
                <a:latin typeface="Calibri"/>
                <a:ea typeface="Calibri"/>
                <a:cs typeface="Calibri"/>
              </a:rPr>
              <a:t>item_id</a:t>
            </a:r>
            <a:r>
              <a:rPr sz="1400" b="1" i="0" dirty="0">
                <a:solidFill>
                  <a:srgbClr val="E0662B"/>
                </a:solidFill>
                <a:latin typeface="Calibri"/>
                <a:ea typeface="Calibri"/>
                <a:cs typeface="Calibri"/>
              </a:rPr>
              <a:t> + </a:t>
            </a:r>
            <a:r>
              <a:rPr sz="1400" b="1" i="0" dirty="0" err="1">
                <a:solidFill>
                  <a:srgbClr val="E0662B"/>
                </a:solidFill>
                <a:latin typeface="Calibri"/>
                <a:ea typeface="Calibri"/>
                <a:cs typeface="Calibri"/>
              </a:rPr>
              <a:t>store_id</a:t>
            </a:r>
            <a:endParaRPr sz="1400" b="1" i="0" dirty="0">
              <a:solidFill>
                <a:srgbClr val="E0662B"/>
              </a:solidFill>
              <a:latin typeface="Calibri"/>
              <a:ea typeface="Calibri"/>
              <a:cs typeface="Calibri"/>
            </a:endParaRPr>
          </a:p>
        </p:txBody>
      </p:sp>
      <p:sp>
        <p:nvSpPr>
          <p:cNvPr id="40" name="TextBox 39"/>
          <p:cNvSpPr txBox="1"/>
          <p:nvPr/>
        </p:nvSpPr>
        <p:spPr>
          <a:xfrm>
            <a:off x="6400000" y="5208760"/>
            <a:ext cx="5200000" cy="7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Price can be NaN: the item was not on sale that week. 77.1% of series start selling after day d_1.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1 · M5</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The data trends upward, has a weekly rhythm, and is full of zero days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11</a:t>
            </a:r>
          </a:p>
        </p:txBody>
      </p:sp>
      <p:pic>
        <p:nvPicPr>
          <p:cNvPr id="6" name="Picture 5" descr="eda_monthly_en.png"/>
          <p:cNvPicPr>
            <a:picLocks noChangeAspect="1"/>
          </p:cNvPicPr>
          <p:nvPr/>
        </p:nvPicPr>
        <p:blipFill>
          <a:blip r:embed="rId3"/>
          <a:stretch>
            <a:fillRect/>
          </a:stretch>
        </p:blipFill>
        <p:spPr>
          <a:xfrm>
            <a:off x="548640" y="1508760"/>
            <a:ext cx="5400000" cy="3137837"/>
          </a:xfrm>
          <a:prstGeom prst="rect">
            <a:avLst/>
          </a:prstGeom>
        </p:spPr>
      </p:pic>
      <p:pic>
        <p:nvPicPr>
          <p:cNvPr id="7" name="Picture 6" descr="eda_zero_en.png"/>
          <p:cNvPicPr>
            <a:picLocks noChangeAspect="1"/>
          </p:cNvPicPr>
          <p:nvPr/>
        </p:nvPicPr>
        <p:blipFill>
          <a:blip r:embed="rId4"/>
          <a:stretch>
            <a:fillRect/>
          </a:stretch>
        </p:blipFill>
        <p:spPr>
          <a:xfrm>
            <a:off x="6148640" y="1508760"/>
            <a:ext cx="5494720" cy="2895865"/>
          </a:xfrm>
          <a:prstGeom prst="rect">
            <a:avLst/>
          </a:prstGeom>
        </p:spPr>
      </p:pic>
      <p:sp>
        <p:nvSpPr>
          <p:cNvPr id="8" name="TextBox 7"/>
          <p:cNvSpPr txBox="1"/>
          <p:nvPr/>
        </p:nvSpPr>
        <p:spPr>
          <a:xfrm>
            <a:off x="548640" y="4788760"/>
            <a:ext cx="3550000" cy="300000"/>
          </a:xfrm>
          <a:prstGeom prst="rect">
            <a:avLst/>
          </a:prstGeom>
          <a:noFill/>
        </p:spPr>
        <p:txBody>
          <a:bodyPr wrap="square" lIns="0" tIns="0" rIns="0" bIns="0" anchor="t">
            <a:noAutofit/>
          </a:bodyPr>
          <a:lstStyle/>
          <a:p>
            <a:pPr algn="l"/>
            <a:r>
              <a:rPr sz="1550" b="1" i="0">
                <a:solidFill>
                  <a:srgbClr val="E0662B"/>
                </a:solidFill>
                <a:latin typeface="Calibri"/>
                <a:ea typeface="Calibri"/>
                <a:cs typeface="Calibri"/>
              </a:rPr>
              <a:t>Units per year (millions)</a:t>
            </a:r>
          </a:p>
        </p:txBody>
      </p:sp>
      <p:sp>
        <p:nvSpPr>
          <p:cNvPr id="9" name="TextBox 8"/>
          <p:cNvSpPr txBox="1"/>
          <p:nvPr/>
        </p:nvSpPr>
        <p:spPr>
          <a:xfrm>
            <a:off x="548640" y="5128760"/>
            <a:ext cx="3550000" cy="8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2011: 8.86 · 2012: 12.06 · 2013: 13.14 · 2014: 13.09 · 2015: 13.80</a:t>
            </a:r>
          </a:p>
        </p:txBody>
      </p:sp>
      <p:sp>
        <p:nvSpPr>
          <p:cNvPr id="10" name="TextBox 9"/>
          <p:cNvSpPr txBox="1"/>
          <p:nvPr/>
        </p:nvSpPr>
        <p:spPr>
          <a:xfrm>
            <a:off x="4248640" y="4788760"/>
            <a:ext cx="3550000" cy="300000"/>
          </a:xfrm>
          <a:prstGeom prst="rect">
            <a:avLst/>
          </a:prstGeom>
          <a:noFill/>
        </p:spPr>
        <p:txBody>
          <a:bodyPr wrap="square" lIns="0" tIns="0" rIns="0" bIns="0" anchor="t">
            <a:noAutofit/>
          </a:bodyPr>
          <a:lstStyle/>
          <a:p>
            <a:pPr algn="l"/>
            <a:r>
              <a:rPr sz="1550" b="1" i="0">
                <a:solidFill>
                  <a:srgbClr val="E0662B"/>
                </a:solidFill>
                <a:latin typeface="Calibri"/>
                <a:ea typeface="Calibri"/>
                <a:cs typeface="Calibri"/>
              </a:rPr>
              <a:t>Weekly rhythm</a:t>
            </a:r>
          </a:p>
        </p:txBody>
      </p:sp>
      <p:sp>
        <p:nvSpPr>
          <p:cNvPr id="11" name="TextBox 10"/>
          <p:cNvSpPr txBox="1"/>
          <p:nvPr/>
        </p:nvSpPr>
        <p:spPr>
          <a:xfrm>
            <a:off x="4248640" y="5128760"/>
            <a:ext cx="3550000" cy="8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Sat and Sun sell about 31% more than Mon–Fri (41.7k and 41.3k vs. a mean of 31.7k units/day)</a:t>
            </a:r>
          </a:p>
        </p:txBody>
      </p:sp>
      <p:sp>
        <p:nvSpPr>
          <p:cNvPr id="12" name="TextBox 11"/>
          <p:cNvSpPr txBox="1"/>
          <p:nvPr/>
        </p:nvSpPr>
        <p:spPr>
          <a:xfrm>
            <a:off x="7948640" y="4788760"/>
            <a:ext cx="3550000" cy="300000"/>
          </a:xfrm>
          <a:prstGeom prst="rect">
            <a:avLst/>
          </a:prstGeom>
          <a:noFill/>
        </p:spPr>
        <p:txBody>
          <a:bodyPr wrap="square" lIns="0" tIns="0" rIns="0" bIns="0" anchor="t">
            <a:noAutofit/>
          </a:bodyPr>
          <a:lstStyle/>
          <a:p>
            <a:pPr algn="l"/>
            <a:r>
              <a:rPr sz="1550" b="1" i="0">
                <a:solidFill>
                  <a:srgbClr val="E0662B"/>
                </a:solidFill>
                <a:latin typeface="Calibri"/>
                <a:ea typeface="Calibri"/>
                <a:cs typeface="Calibri"/>
              </a:rPr>
              <a:t>Zero days</a:t>
            </a:r>
          </a:p>
        </p:txBody>
      </p:sp>
      <p:sp>
        <p:nvSpPr>
          <p:cNvPr id="13" name="TextBox 12"/>
          <p:cNvSpPr txBox="1"/>
          <p:nvPr/>
        </p:nvSpPr>
        <p:spPr>
          <a:xfrm>
            <a:off x="7948640" y="5128760"/>
            <a:ext cx="3550000" cy="8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68.0% overall; FOODS 61.8%, HOUSEHOLD 71.6%, HOBBIES 77.1%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1 · M5</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Why M5 fits an inventory problem</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12</a:t>
            </a:r>
          </a:p>
        </p:txBody>
      </p:sp>
      <p:sp>
        <p:nvSpPr>
          <p:cNvPr id="6" name="Rectangle 5"/>
          <p:cNvSpPr/>
          <p:nvPr/>
        </p:nvSpPr>
        <p:spPr>
          <a:xfrm>
            <a:off x="548640" y="1558760"/>
            <a:ext cx="11094720" cy="420000"/>
          </a:xfrm>
          <a:prstGeom prst="rect">
            <a:avLst/>
          </a:prstGeom>
          <a:solidFill>
            <a:srgbClr val="1B2A4A"/>
          </a:solidFill>
          <a:ln>
            <a:noFill/>
          </a:ln>
          <a:effectLst/>
        </p:spPr>
        <p:txBody>
          <a:bodyPr rtlCol="0" anchor="ctr"/>
          <a:lstStyle/>
          <a:p>
            <a:pPr algn="ctr"/>
            <a:endParaRPr/>
          </a:p>
        </p:txBody>
      </p:sp>
      <p:sp>
        <p:nvSpPr>
          <p:cNvPr id="7" name="TextBox 6"/>
          <p:cNvSpPr txBox="1"/>
          <p:nvPr/>
        </p:nvSpPr>
        <p:spPr>
          <a:xfrm>
            <a:off x="640080" y="1558760"/>
            <a:ext cx="311712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DFIOS needs</a:t>
            </a:r>
          </a:p>
        </p:txBody>
      </p:sp>
      <p:sp>
        <p:nvSpPr>
          <p:cNvPr id="8" name="TextBox 7"/>
          <p:cNvSpPr txBox="1"/>
          <p:nvPr/>
        </p:nvSpPr>
        <p:spPr>
          <a:xfrm>
            <a:off x="3940080" y="1558760"/>
            <a:ext cx="371712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M5 provides</a:t>
            </a:r>
          </a:p>
        </p:txBody>
      </p:sp>
      <p:sp>
        <p:nvSpPr>
          <p:cNvPr id="9" name="TextBox 8"/>
          <p:cNvSpPr txBox="1"/>
          <p:nvPr/>
        </p:nvSpPr>
        <p:spPr>
          <a:xfrm>
            <a:off x="7840080" y="1558760"/>
            <a:ext cx="371184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Caveat</a:t>
            </a:r>
          </a:p>
        </p:txBody>
      </p:sp>
      <p:sp>
        <p:nvSpPr>
          <p:cNvPr id="10" name="TextBox 9"/>
          <p:cNvSpPr txBox="1"/>
          <p:nvPr/>
        </p:nvSpPr>
        <p:spPr>
          <a:xfrm>
            <a:off x="640080" y="1978760"/>
            <a:ext cx="3117120" cy="69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Many items, many demand patterns</a:t>
            </a:r>
          </a:p>
        </p:txBody>
      </p:sp>
      <p:sp>
        <p:nvSpPr>
          <p:cNvPr id="11" name="TextBox 10"/>
          <p:cNvSpPr txBox="1"/>
          <p:nvPr/>
        </p:nvSpPr>
        <p:spPr>
          <a:xfrm>
            <a:off x="3940080" y="1978760"/>
            <a:ext cx="371712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30,490 series; split into 9 ABC×XYZ groups</a:t>
            </a:r>
          </a:p>
        </p:txBody>
      </p:sp>
      <p:sp>
        <p:nvSpPr>
          <p:cNvPr id="12" name="TextBox 11"/>
          <p:cNvSpPr txBox="1"/>
          <p:nvPr/>
        </p:nvSpPr>
        <p:spPr>
          <a:xfrm>
            <a:off x="7840080" y="1978760"/>
            <a:ext cx="371184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C³-OUT tests use 8,831 series from 3 stores</a:t>
            </a:r>
          </a:p>
        </p:txBody>
      </p:sp>
      <p:sp>
        <p:nvSpPr>
          <p:cNvPr id="13" name="Rectangle 12"/>
          <p:cNvSpPr/>
          <p:nvPr/>
        </p:nvSpPr>
        <p:spPr>
          <a:xfrm>
            <a:off x="548640" y="2668760"/>
            <a:ext cx="11094720" cy="690000"/>
          </a:xfrm>
          <a:prstGeom prst="rect">
            <a:avLst/>
          </a:prstGeom>
          <a:solidFill>
            <a:srgbClr val="E3DED3"/>
          </a:solidFill>
          <a:ln>
            <a:noFill/>
          </a:ln>
          <a:effectLst/>
        </p:spPr>
        <p:txBody>
          <a:bodyPr rtlCol="0" anchor="ctr"/>
          <a:lstStyle/>
          <a:p>
            <a:pPr algn="ctr"/>
            <a:endParaRPr/>
          </a:p>
        </p:txBody>
      </p:sp>
      <p:sp>
        <p:nvSpPr>
          <p:cNvPr id="14" name="TextBox 13"/>
          <p:cNvSpPr txBox="1"/>
          <p:nvPr/>
        </p:nvSpPr>
        <p:spPr>
          <a:xfrm>
            <a:off x="640080" y="2668760"/>
            <a:ext cx="3117120" cy="69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Long daily history</a:t>
            </a:r>
          </a:p>
        </p:txBody>
      </p:sp>
      <p:sp>
        <p:nvSpPr>
          <p:cNvPr id="15" name="TextBox 14"/>
          <p:cNvSpPr txBox="1"/>
          <p:nvPr/>
        </p:nvSpPr>
        <p:spPr>
          <a:xfrm>
            <a:off x="3940080" y="2668760"/>
            <a:ext cx="371712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1,941 days (over 5 years)</a:t>
            </a:r>
          </a:p>
        </p:txBody>
      </p:sp>
      <p:sp>
        <p:nvSpPr>
          <p:cNvPr id="16" name="TextBox 15"/>
          <p:cNvSpPr txBox="1"/>
          <p:nvPr/>
        </p:nvSpPr>
        <p:spPr>
          <a:xfrm>
            <a:off x="7840080" y="2668760"/>
            <a:ext cx="371184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One retailer (Walmart), 3 states</a:t>
            </a:r>
          </a:p>
        </p:txBody>
      </p:sp>
      <p:sp>
        <p:nvSpPr>
          <p:cNvPr id="17" name="TextBox 16"/>
          <p:cNvSpPr txBox="1"/>
          <p:nvPr/>
        </p:nvSpPr>
        <p:spPr>
          <a:xfrm>
            <a:off x="640080" y="3358760"/>
            <a:ext cx="3117120" cy="69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Sparse, intermittent demand</a:t>
            </a:r>
          </a:p>
        </p:txBody>
      </p:sp>
      <p:sp>
        <p:nvSpPr>
          <p:cNvPr id="18" name="TextBox 17"/>
          <p:cNvSpPr txBox="1"/>
          <p:nvPr/>
        </p:nvSpPr>
        <p:spPr>
          <a:xfrm>
            <a:off x="3940080" y="3358760"/>
            <a:ext cx="371712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68% of series-days are zero</a:t>
            </a:r>
          </a:p>
        </p:txBody>
      </p:sp>
      <p:sp>
        <p:nvSpPr>
          <p:cNvPr id="19" name="TextBox 18"/>
          <p:cNvSpPr txBox="1"/>
          <p:nvPr/>
        </p:nvSpPr>
        <p:spPr>
          <a:xfrm>
            <a:off x="7840080" y="3358760"/>
            <a:ext cx="371184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Sales = demand censored by stockouts</a:t>
            </a:r>
          </a:p>
        </p:txBody>
      </p:sp>
      <p:sp>
        <p:nvSpPr>
          <p:cNvPr id="20" name="Rectangle 19"/>
          <p:cNvSpPr/>
          <p:nvPr/>
        </p:nvSpPr>
        <p:spPr>
          <a:xfrm>
            <a:off x="548640" y="4048760"/>
            <a:ext cx="11094720" cy="690000"/>
          </a:xfrm>
          <a:prstGeom prst="rect">
            <a:avLst/>
          </a:prstGeom>
          <a:solidFill>
            <a:srgbClr val="E3DED3"/>
          </a:solidFill>
          <a:ln>
            <a:noFill/>
          </a:ln>
          <a:effectLst/>
        </p:spPr>
        <p:txBody>
          <a:bodyPr rtlCol="0" anchor="ctr"/>
          <a:lstStyle/>
          <a:p>
            <a:pPr algn="ctr"/>
            <a:endParaRPr/>
          </a:p>
        </p:txBody>
      </p:sp>
      <p:sp>
        <p:nvSpPr>
          <p:cNvPr id="21" name="TextBox 20"/>
          <p:cNvSpPr txBox="1"/>
          <p:nvPr/>
        </p:nvSpPr>
        <p:spPr>
          <a:xfrm>
            <a:off x="640080" y="4048760"/>
            <a:ext cx="3117120" cy="69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Explanatory drivers</a:t>
            </a:r>
          </a:p>
        </p:txBody>
      </p:sp>
      <p:sp>
        <p:nvSpPr>
          <p:cNvPr id="22" name="TextBox 21"/>
          <p:cNvSpPr txBox="1"/>
          <p:nvPr/>
        </p:nvSpPr>
        <p:spPr>
          <a:xfrm>
            <a:off x="3940080" y="4048760"/>
            <a:ext cx="371712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Price, calendar, 162 event days, SNAP</a:t>
            </a:r>
          </a:p>
        </p:txBody>
      </p:sp>
      <p:sp>
        <p:nvSpPr>
          <p:cNvPr id="23" name="TextBox 22"/>
          <p:cNvSpPr txBox="1"/>
          <p:nvPr/>
        </p:nvSpPr>
        <p:spPr>
          <a:xfrm>
            <a:off x="7840080" y="4048760"/>
            <a:ext cx="371184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Target-day price is treated as known in advance</a:t>
            </a:r>
          </a:p>
        </p:txBody>
      </p:sp>
      <p:sp>
        <p:nvSpPr>
          <p:cNvPr id="24" name="TextBox 23"/>
          <p:cNvSpPr txBox="1"/>
          <p:nvPr/>
        </p:nvSpPr>
        <p:spPr>
          <a:xfrm>
            <a:off x="640080" y="4738760"/>
            <a:ext cx="3117120" cy="69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Public, standard yardstick</a:t>
            </a:r>
          </a:p>
        </p:txBody>
      </p:sp>
      <p:sp>
        <p:nvSpPr>
          <p:cNvPr id="25" name="TextBox 24"/>
          <p:cNvSpPr txBox="1"/>
          <p:nvPr/>
        </p:nvSpPr>
        <p:spPr>
          <a:xfrm>
            <a:off x="3940080" y="4738760"/>
            <a:ext cx="371712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The M5 competition, WRMSSE metric</a:t>
            </a:r>
          </a:p>
        </p:txBody>
      </p:sp>
      <p:sp>
        <p:nvSpPr>
          <p:cNvPr id="26" name="TextBox 25"/>
          <p:cNvSpPr txBox="1"/>
          <p:nvPr/>
        </p:nvSpPr>
        <p:spPr>
          <a:xfrm>
            <a:off x="7840080" y="4738760"/>
            <a:ext cx="3711840" cy="69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Foundation models may have seen M5 in pretraining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743200" cy="1188720"/>
          </a:xfrm>
          <a:prstGeom prst="rect">
            <a:avLst/>
          </a:prstGeom>
          <a:noFill/>
        </p:spPr>
        <p:txBody>
          <a:bodyPr wrap="square" lIns="0" tIns="0" rIns="0" bIns="0" anchor="t">
            <a:noAutofit/>
          </a:bodyPr>
          <a:lstStyle/>
          <a:p>
            <a:pPr algn="l"/>
            <a:r>
              <a:rPr sz="7200" b="1" i="0">
                <a:solidFill>
                  <a:srgbClr val="E0662B"/>
                </a:solidFill>
                <a:latin typeface="Cambria"/>
                <a:ea typeface="Cambria"/>
                <a:cs typeface="Cambria"/>
              </a:rPr>
              <a:t>2</a:t>
            </a:r>
          </a:p>
        </p:txBody>
      </p:sp>
      <p:sp>
        <p:nvSpPr>
          <p:cNvPr id="3" name="TextBox 2"/>
          <p:cNvSpPr txBox="1"/>
          <p:nvPr/>
        </p:nvSpPr>
        <p:spPr>
          <a:xfrm>
            <a:off x="749808" y="2468880"/>
            <a:ext cx="3657600" cy="292608"/>
          </a:xfrm>
          <a:prstGeom prst="rect">
            <a:avLst/>
          </a:prstGeom>
          <a:noFill/>
        </p:spPr>
        <p:txBody>
          <a:bodyPr wrap="square" lIns="0" tIns="0" rIns="0" bIns="0" anchor="t">
            <a:noAutofit/>
          </a:bodyPr>
          <a:lstStyle/>
          <a:p>
            <a:pPr algn="l"/>
            <a:r>
              <a:rPr sz="1400" b="0" i="0">
                <a:solidFill>
                  <a:srgbClr val="F3D9C6"/>
                </a:solidFill>
                <a:latin typeface="Calibri"/>
                <a:ea typeface="Calibri"/>
                <a:cs typeface="Calibri"/>
              </a:rPr>
              <a:t>STAGE 2 · PREPROCESSING</a:t>
            </a:r>
          </a:p>
        </p:txBody>
      </p:sp>
      <p:sp>
        <p:nvSpPr>
          <p:cNvPr id="4" name="TextBox 3"/>
          <p:cNvSpPr txBox="1"/>
          <p:nvPr/>
        </p:nvSpPr>
        <p:spPr>
          <a:xfrm>
            <a:off x="731520" y="2761488"/>
            <a:ext cx="10607040" cy="914400"/>
          </a:xfrm>
          <a:prstGeom prst="rect">
            <a:avLst/>
          </a:prstGeom>
          <a:noFill/>
        </p:spPr>
        <p:txBody>
          <a:bodyPr wrap="square" lIns="0" tIns="0" rIns="0" bIns="0" anchor="t">
            <a:noAutofit/>
          </a:bodyPr>
          <a:lstStyle/>
          <a:p>
            <a:pPr algn="l"/>
            <a:r>
              <a:rPr sz="3700" b="1" i="0">
                <a:solidFill>
                  <a:srgbClr val="FFFFFF"/>
                </a:solidFill>
                <a:latin typeface="Cambria"/>
                <a:ea typeface="Cambria"/>
                <a:cs typeface="Cambria"/>
              </a:rPr>
              <a:t>Data preprocessing</a:t>
            </a:r>
          </a:p>
        </p:txBody>
      </p:sp>
      <p:sp>
        <p:nvSpPr>
          <p:cNvPr id="5" name="TextBox 4"/>
          <p:cNvSpPr txBox="1"/>
          <p:nvPr/>
        </p:nvSpPr>
        <p:spPr>
          <a:xfrm>
            <a:off x="731520" y="3749040"/>
            <a:ext cx="9875520" cy="914400"/>
          </a:xfrm>
          <a:prstGeom prst="rect">
            <a:avLst/>
          </a:prstGeom>
          <a:noFill/>
        </p:spPr>
        <p:txBody>
          <a:bodyPr wrap="square" lIns="0" tIns="0" rIns="0" bIns="0" anchor="t">
            <a:noAutofit/>
          </a:bodyPr>
          <a:lstStyle/>
          <a:p>
            <a:pPr algn="l"/>
            <a:r>
              <a:rPr sz="1800" b="0" i="0">
                <a:solidFill>
                  <a:srgbClr val="D8DCE6"/>
                </a:solidFill>
                <a:latin typeface="Calibri"/>
                <a:ea typeface="Calibri"/>
                <a:cs typeface="Calibri"/>
              </a:rPr>
              <a:t>How do we turn three raw tables into model-ready inputs without leaking the future?</a:t>
            </a:r>
          </a:p>
        </p:txBody>
      </p:sp>
      <p:sp>
        <p:nvSpPr>
          <p:cNvPr id="6" name="TextBox 5"/>
          <p:cNvSpPr txBox="1"/>
          <p:nvPr/>
        </p:nvSpPr>
        <p:spPr>
          <a:xfrm>
            <a:off x="731520" y="5989320"/>
            <a:ext cx="9144000" cy="292608"/>
          </a:xfrm>
          <a:prstGeom prst="rect">
            <a:avLst/>
          </a:prstGeom>
          <a:noFill/>
        </p:spPr>
        <p:txBody>
          <a:bodyPr wrap="square" lIns="0" tIns="0" rIns="0" bIns="0" anchor="t">
            <a:noAutofit/>
          </a:bodyPr>
          <a:lstStyle/>
          <a:p>
            <a:pPr algn="l"/>
            <a:r>
              <a:rPr sz="1250" b="0" i="0">
                <a:solidFill>
                  <a:srgbClr val="9AA2B4"/>
                </a:solidFill>
                <a:latin typeface="Calibri"/>
                <a:ea typeface="Calibri"/>
                <a:cs typeface="Calibri"/>
              </a:rPr>
              <a:t>7 steps  ·  framing and split  ·  53 features  ·  preparing for C³-OUT</a:t>
            </a:r>
          </a:p>
        </p:txBody>
      </p:sp>
      <p:sp>
        <p:nvSpPr>
          <p:cNvPr id="7" name="TextBox 6"/>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9AA2B4"/>
                </a:solidFill>
                <a:latin typeface="Calibri"/>
                <a:ea typeface="Calibri"/>
                <a:cs typeface="Calibri"/>
              </a:rPr>
              <a:t>DFIOS · SE_18 · FPT University Da Nang · SET490</a:t>
            </a:r>
          </a:p>
        </p:txBody>
      </p:sp>
      <p:sp>
        <p:nvSpPr>
          <p:cNvPr id="8" name="TextBox 7"/>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9AA2B4"/>
                </a:solidFill>
                <a:latin typeface="Calibri"/>
                <a:ea typeface="Calibri"/>
                <a:cs typeface="Calibri"/>
              </a:rPr>
              <a:t>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2 · PREPROCESSING</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Seven steps from raw data to a training table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14</a:t>
            </a:r>
          </a:p>
        </p:txBody>
      </p:sp>
      <p:sp>
        <p:nvSpPr>
          <p:cNvPr id="6" name="Rectangle 5"/>
          <p:cNvSpPr/>
          <p:nvPr/>
        </p:nvSpPr>
        <p:spPr>
          <a:xfrm>
            <a:off x="548640" y="1568760"/>
            <a:ext cx="2620000" cy="200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568760"/>
            <a:ext cx="2620000" cy="54864"/>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78640" y="16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1</a:t>
            </a:r>
          </a:p>
        </p:txBody>
      </p:sp>
      <p:sp>
        <p:nvSpPr>
          <p:cNvPr id="9" name="TextBox 8"/>
          <p:cNvSpPr txBox="1"/>
          <p:nvPr/>
        </p:nvSpPr>
        <p:spPr>
          <a:xfrm>
            <a:off x="678640" y="22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Wide to long</a:t>
            </a:r>
          </a:p>
        </p:txBody>
      </p:sp>
      <p:sp>
        <p:nvSpPr>
          <p:cNvPr id="10" name="TextBox 9"/>
          <p:cNvSpPr txBox="1"/>
          <p:nvPr/>
        </p:nvSpPr>
        <p:spPr>
          <a:xfrm>
            <a:off x="678640" y="25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Each d_x column becomes a row: series × day</a:t>
            </a:r>
          </a:p>
        </p:txBody>
      </p:sp>
      <p:sp>
        <p:nvSpPr>
          <p:cNvPr id="11" name="Rectangle 10"/>
          <p:cNvSpPr/>
          <p:nvPr/>
        </p:nvSpPr>
        <p:spPr>
          <a:xfrm>
            <a:off x="3373640" y="1568760"/>
            <a:ext cx="2620000" cy="2000000"/>
          </a:xfrm>
          <a:prstGeom prst="rect">
            <a:avLst/>
          </a:prstGeom>
          <a:solidFill>
            <a:srgbClr val="F1EDE4"/>
          </a:solidFill>
          <a:ln>
            <a:noFill/>
          </a:ln>
          <a:effectLst/>
        </p:spPr>
        <p:txBody>
          <a:bodyPr rtlCol="0" anchor="ctr"/>
          <a:lstStyle/>
          <a:p>
            <a:pPr algn="ctr"/>
            <a:endParaRPr/>
          </a:p>
        </p:txBody>
      </p:sp>
      <p:sp>
        <p:nvSpPr>
          <p:cNvPr id="12" name="Rectangle 11"/>
          <p:cNvSpPr/>
          <p:nvPr/>
        </p:nvSpPr>
        <p:spPr>
          <a:xfrm>
            <a:off x="3373640" y="1568760"/>
            <a:ext cx="2620000" cy="54864"/>
          </a:xfrm>
          <a:prstGeom prst="rect">
            <a:avLst/>
          </a:prstGeom>
          <a:solidFill>
            <a:srgbClr val="E0662B"/>
          </a:solidFill>
          <a:ln>
            <a:noFill/>
          </a:ln>
          <a:effectLst/>
        </p:spPr>
        <p:txBody>
          <a:bodyPr rtlCol="0" anchor="ctr"/>
          <a:lstStyle/>
          <a:p>
            <a:pPr algn="ctr"/>
            <a:endParaRPr/>
          </a:p>
        </p:txBody>
      </p:sp>
      <p:sp>
        <p:nvSpPr>
          <p:cNvPr id="13" name="TextBox 12"/>
          <p:cNvSpPr txBox="1"/>
          <p:nvPr/>
        </p:nvSpPr>
        <p:spPr>
          <a:xfrm>
            <a:off x="3503640" y="16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2</a:t>
            </a:r>
          </a:p>
        </p:txBody>
      </p:sp>
      <p:sp>
        <p:nvSpPr>
          <p:cNvPr id="14" name="TextBox 13"/>
          <p:cNvSpPr txBox="1"/>
          <p:nvPr/>
        </p:nvSpPr>
        <p:spPr>
          <a:xfrm>
            <a:off x="3503640" y="22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Encode the calendar</a:t>
            </a:r>
          </a:p>
        </p:txBody>
      </p:sp>
      <p:sp>
        <p:nvSpPr>
          <p:cNvPr id="15" name="TextBox 14"/>
          <p:cNvSpPr txBox="1"/>
          <p:nvPr/>
        </p:nvSpPr>
        <p:spPr>
          <a:xfrm>
            <a:off x="3503640" y="25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Events become codes; “none” must be code 0; 162 event days</a:t>
            </a:r>
          </a:p>
        </p:txBody>
      </p:sp>
      <p:sp>
        <p:nvSpPr>
          <p:cNvPr id="16" name="Rectangle 15"/>
          <p:cNvSpPr/>
          <p:nvPr/>
        </p:nvSpPr>
        <p:spPr>
          <a:xfrm>
            <a:off x="6198640" y="1568760"/>
            <a:ext cx="2620000" cy="2000000"/>
          </a:xfrm>
          <a:prstGeom prst="rect">
            <a:avLst/>
          </a:prstGeom>
          <a:solidFill>
            <a:srgbClr val="F1EDE4"/>
          </a:solidFill>
          <a:ln>
            <a:noFill/>
          </a:ln>
          <a:effectLst/>
        </p:spPr>
        <p:txBody>
          <a:bodyPr rtlCol="0" anchor="ctr"/>
          <a:lstStyle/>
          <a:p>
            <a:pPr algn="ctr"/>
            <a:endParaRPr/>
          </a:p>
        </p:txBody>
      </p:sp>
      <p:sp>
        <p:nvSpPr>
          <p:cNvPr id="17" name="Rectangle 16"/>
          <p:cNvSpPr/>
          <p:nvPr/>
        </p:nvSpPr>
        <p:spPr>
          <a:xfrm>
            <a:off x="6198640" y="1568760"/>
            <a:ext cx="2620000" cy="54864"/>
          </a:xfrm>
          <a:prstGeom prst="rect">
            <a:avLst/>
          </a:prstGeom>
          <a:solidFill>
            <a:srgbClr val="E0662B"/>
          </a:solidFill>
          <a:ln>
            <a:noFill/>
          </a:ln>
          <a:effectLst/>
        </p:spPr>
        <p:txBody>
          <a:bodyPr rtlCol="0" anchor="ctr"/>
          <a:lstStyle/>
          <a:p>
            <a:pPr algn="ctr"/>
            <a:endParaRPr/>
          </a:p>
        </p:txBody>
      </p:sp>
      <p:sp>
        <p:nvSpPr>
          <p:cNvPr id="18" name="TextBox 17"/>
          <p:cNvSpPr txBox="1"/>
          <p:nvPr/>
        </p:nvSpPr>
        <p:spPr>
          <a:xfrm>
            <a:off x="6328640" y="16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3</a:t>
            </a:r>
          </a:p>
        </p:txBody>
      </p:sp>
      <p:sp>
        <p:nvSpPr>
          <p:cNvPr id="19" name="TextBox 18"/>
          <p:cNvSpPr txBox="1"/>
          <p:nvPr/>
        </p:nvSpPr>
        <p:spPr>
          <a:xfrm>
            <a:off x="6328640" y="22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SNAP matrix</a:t>
            </a:r>
          </a:p>
        </p:txBody>
      </p:sp>
      <p:sp>
        <p:nvSpPr>
          <p:cNvPr id="20" name="TextBox 19"/>
          <p:cNvSpPr txBox="1"/>
          <p:nvPr/>
        </p:nvSpPr>
        <p:spPr>
          <a:xfrm>
            <a:off x="6328640" y="25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One SNAP flag per state (CA, TX, WI), joined by the store’s state</a:t>
            </a:r>
          </a:p>
        </p:txBody>
      </p:sp>
      <p:sp>
        <p:nvSpPr>
          <p:cNvPr id="21" name="Rectangle 20"/>
          <p:cNvSpPr/>
          <p:nvPr/>
        </p:nvSpPr>
        <p:spPr>
          <a:xfrm>
            <a:off x="9023640" y="1568760"/>
            <a:ext cx="2620000" cy="2000000"/>
          </a:xfrm>
          <a:prstGeom prst="rect">
            <a:avLst/>
          </a:prstGeom>
          <a:solidFill>
            <a:srgbClr val="F1EDE4"/>
          </a:solidFill>
          <a:ln>
            <a:noFill/>
          </a:ln>
          <a:effectLst/>
        </p:spPr>
        <p:txBody>
          <a:bodyPr rtlCol="0" anchor="ctr"/>
          <a:lstStyle/>
          <a:p>
            <a:pPr algn="ctr"/>
            <a:endParaRPr/>
          </a:p>
        </p:txBody>
      </p:sp>
      <p:sp>
        <p:nvSpPr>
          <p:cNvPr id="22" name="Rectangle 21"/>
          <p:cNvSpPr/>
          <p:nvPr/>
        </p:nvSpPr>
        <p:spPr>
          <a:xfrm>
            <a:off x="9023640" y="1568760"/>
            <a:ext cx="2620000" cy="54864"/>
          </a:xfrm>
          <a:prstGeom prst="rect">
            <a:avLst/>
          </a:prstGeom>
          <a:solidFill>
            <a:srgbClr val="E0662B"/>
          </a:solidFill>
          <a:ln>
            <a:noFill/>
          </a:ln>
          <a:effectLst/>
        </p:spPr>
        <p:txBody>
          <a:bodyPr rtlCol="0" anchor="ctr"/>
          <a:lstStyle/>
          <a:p>
            <a:pPr algn="ctr"/>
            <a:endParaRPr/>
          </a:p>
        </p:txBody>
      </p:sp>
      <p:sp>
        <p:nvSpPr>
          <p:cNvPr id="23" name="TextBox 22"/>
          <p:cNvSpPr txBox="1"/>
          <p:nvPr/>
        </p:nvSpPr>
        <p:spPr>
          <a:xfrm>
            <a:off x="9153640" y="16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4</a:t>
            </a:r>
          </a:p>
        </p:txBody>
      </p:sp>
      <p:sp>
        <p:nvSpPr>
          <p:cNvPr id="24" name="TextBox 23"/>
          <p:cNvSpPr txBox="1"/>
          <p:nvPr/>
        </p:nvSpPr>
        <p:spPr>
          <a:xfrm>
            <a:off x="9153640" y="22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Price matrix</a:t>
            </a:r>
          </a:p>
        </p:txBody>
      </p:sp>
      <p:sp>
        <p:nvSpPr>
          <p:cNvPr id="25" name="TextBox 24"/>
          <p:cNvSpPr txBox="1"/>
          <p:nvPr/>
        </p:nvSpPr>
        <p:spPr>
          <a:xfrm>
            <a:off x="9153640" y="25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Price per week; NaN means not sold that week</a:t>
            </a:r>
          </a:p>
        </p:txBody>
      </p:sp>
      <p:sp>
        <p:nvSpPr>
          <p:cNvPr id="26" name="Rectangle 25"/>
          <p:cNvSpPr/>
          <p:nvPr/>
        </p:nvSpPr>
        <p:spPr>
          <a:xfrm>
            <a:off x="548640" y="3768760"/>
            <a:ext cx="2620000" cy="2000000"/>
          </a:xfrm>
          <a:prstGeom prst="rect">
            <a:avLst/>
          </a:prstGeom>
          <a:solidFill>
            <a:srgbClr val="F1EDE4"/>
          </a:solidFill>
          <a:ln>
            <a:noFill/>
          </a:ln>
          <a:effectLst/>
        </p:spPr>
        <p:txBody>
          <a:bodyPr rtlCol="0" anchor="ctr"/>
          <a:lstStyle/>
          <a:p>
            <a:pPr algn="ctr"/>
            <a:endParaRPr/>
          </a:p>
        </p:txBody>
      </p:sp>
      <p:sp>
        <p:nvSpPr>
          <p:cNvPr id="27" name="Rectangle 26"/>
          <p:cNvSpPr/>
          <p:nvPr/>
        </p:nvSpPr>
        <p:spPr>
          <a:xfrm>
            <a:off x="548640" y="3768760"/>
            <a:ext cx="2620000" cy="54864"/>
          </a:xfrm>
          <a:prstGeom prst="rect">
            <a:avLst/>
          </a:prstGeom>
          <a:solidFill>
            <a:srgbClr val="E0662B"/>
          </a:solidFill>
          <a:ln>
            <a:noFill/>
          </a:ln>
          <a:effectLst/>
        </p:spPr>
        <p:txBody>
          <a:bodyPr rtlCol="0" anchor="ctr"/>
          <a:lstStyle/>
          <a:p>
            <a:pPr algn="ctr"/>
            <a:endParaRPr/>
          </a:p>
        </p:txBody>
      </p:sp>
      <p:sp>
        <p:nvSpPr>
          <p:cNvPr id="28" name="TextBox 27"/>
          <p:cNvSpPr txBox="1"/>
          <p:nvPr/>
        </p:nvSpPr>
        <p:spPr>
          <a:xfrm>
            <a:off x="678640" y="38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5</a:t>
            </a:r>
          </a:p>
        </p:txBody>
      </p:sp>
      <p:sp>
        <p:nvSpPr>
          <p:cNvPr id="29" name="TextBox 28"/>
          <p:cNvSpPr txBox="1"/>
          <p:nvPr/>
        </p:nvSpPr>
        <p:spPr>
          <a:xfrm>
            <a:off x="678640" y="44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First-sale date</a:t>
            </a:r>
          </a:p>
        </p:txBody>
      </p:sp>
      <p:sp>
        <p:nvSpPr>
          <p:cNvPr id="30" name="TextBox 29"/>
          <p:cNvSpPr txBox="1"/>
          <p:nvPr/>
        </p:nvSpPr>
        <p:spPr>
          <a:xfrm>
            <a:off x="678640" y="47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Mask rows before launch; drop SKU-days not yet on sale when training</a:t>
            </a:r>
          </a:p>
        </p:txBody>
      </p:sp>
      <p:sp>
        <p:nvSpPr>
          <p:cNvPr id="31" name="Rectangle 30"/>
          <p:cNvSpPr/>
          <p:nvPr/>
        </p:nvSpPr>
        <p:spPr>
          <a:xfrm>
            <a:off x="3373640" y="3768760"/>
            <a:ext cx="2620000" cy="2000000"/>
          </a:xfrm>
          <a:prstGeom prst="rect">
            <a:avLst/>
          </a:prstGeom>
          <a:solidFill>
            <a:srgbClr val="F1EDE4"/>
          </a:solidFill>
          <a:ln>
            <a:noFill/>
          </a:ln>
          <a:effectLst/>
        </p:spPr>
        <p:txBody>
          <a:bodyPr rtlCol="0" anchor="ctr"/>
          <a:lstStyle/>
          <a:p>
            <a:pPr algn="ctr"/>
            <a:endParaRPr/>
          </a:p>
        </p:txBody>
      </p:sp>
      <p:sp>
        <p:nvSpPr>
          <p:cNvPr id="32" name="Rectangle 31"/>
          <p:cNvSpPr/>
          <p:nvPr/>
        </p:nvSpPr>
        <p:spPr>
          <a:xfrm>
            <a:off x="3373640" y="3768760"/>
            <a:ext cx="2620000" cy="54864"/>
          </a:xfrm>
          <a:prstGeom prst="rect">
            <a:avLst/>
          </a:prstGeom>
          <a:solidFill>
            <a:srgbClr val="E0662B"/>
          </a:solidFill>
          <a:ln>
            <a:noFill/>
          </a:ln>
          <a:effectLst/>
        </p:spPr>
        <p:txBody>
          <a:bodyPr rtlCol="0" anchor="ctr"/>
          <a:lstStyle/>
          <a:p>
            <a:pPr algn="ctr"/>
            <a:endParaRPr/>
          </a:p>
        </p:txBody>
      </p:sp>
      <p:sp>
        <p:nvSpPr>
          <p:cNvPr id="33" name="TextBox 32"/>
          <p:cNvSpPr txBox="1"/>
          <p:nvPr/>
        </p:nvSpPr>
        <p:spPr>
          <a:xfrm>
            <a:off x="3503640" y="38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6</a:t>
            </a:r>
          </a:p>
        </p:txBody>
      </p:sp>
      <p:sp>
        <p:nvSpPr>
          <p:cNvPr id="34" name="TextBox 33"/>
          <p:cNvSpPr txBox="1"/>
          <p:nvPr/>
        </p:nvSpPr>
        <p:spPr>
          <a:xfrm>
            <a:off x="3503640" y="44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Build features</a:t>
            </a:r>
          </a:p>
        </p:txBody>
      </p:sp>
      <p:sp>
        <p:nvSpPr>
          <p:cNvPr id="35" name="TextBox 34"/>
          <p:cNvSpPr txBox="1"/>
          <p:nvPr/>
        </p:nvSpPr>
        <p:spPr>
          <a:xfrm>
            <a:off x="3503640" y="47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Lags, rolling stats, price, calendar, horizon; only data up to origin T</a:t>
            </a:r>
          </a:p>
        </p:txBody>
      </p:sp>
      <p:sp>
        <p:nvSpPr>
          <p:cNvPr id="36" name="Rectangle 35"/>
          <p:cNvSpPr/>
          <p:nvPr/>
        </p:nvSpPr>
        <p:spPr>
          <a:xfrm>
            <a:off x="6198640" y="3768760"/>
            <a:ext cx="2620000" cy="2000000"/>
          </a:xfrm>
          <a:prstGeom prst="rect">
            <a:avLst/>
          </a:prstGeom>
          <a:solidFill>
            <a:srgbClr val="F1EDE4"/>
          </a:solidFill>
          <a:ln>
            <a:noFill/>
          </a:ln>
          <a:effectLst/>
        </p:spPr>
        <p:txBody>
          <a:bodyPr rtlCol="0" anchor="ctr"/>
          <a:lstStyle/>
          <a:p>
            <a:pPr algn="ctr"/>
            <a:endParaRPr/>
          </a:p>
        </p:txBody>
      </p:sp>
      <p:sp>
        <p:nvSpPr>
          <p:cNvPr id="37" name="Rectangle 36"/>
          <p:cNvSpPr/>
          <p:nvPr/>
        </p:nvSpPr>
        <p:spPr>
          <a:xfrm>
            <a:off x="6198640" y="3768760"/>
            <a:ext cx="2620000" cy="54864"/>
          </a:xfrm>
          <a:prstGeom prst="rect">
            <a:avLst/>
          </a:prstGeom>
          <a:solidFill>
            <a:srgbClr val="E0662B"/>
          </a:solidFill>
          <a:ln>
            <a:noFill/>
          </a:ln>
          <a:effectLst/>
        </p:spPr>
        <p:txBody>
          <a:bodyPr rtlCol="0" anchor="ctr"/>
          <a:lstStyle/>
          <a:p>
            <a:pPr algn="ctr"/>
            <a:endParaRPr/>
          </a:p>
        </p:txBody>
      </p:sp>
      <p:sp>
        <p:nvSpPr>
          <p:cNvPr id="38" name="TextBox 37"/>
          <p:cNvSpPr txBox="1"/>
          <p:nvPr/>
        </p:nvSpPr>
        <p:spPr>
          <a:xfrm>
            <a:off x="6328640" y="3878760"/>
            <a:ext cx="700000" cy="500000"/>
          </a:xfrm>
          <a:prstGeom prst="rect">
            <a:avLst/>
          </a:prstGeom>
          <a:noFill/>
        </p:spPr>
        <p:txBody>
          <a:bodyPr wrap="square" lIns="0" tIns="0" rIns="0" bIns="0" anchor="t">
            <a:noAutofit/>
          </a:bodyPr>
          <a:lstStyle/>
          <a:p>
            <a:pPr algn="l"/>
            <a:r>
              <a:rPr sz="2800" b="1" i="0">
                <a:solidFill>
                  <a:srgbClr val="E0662B"/>
                </a:solidFill>
                <a:latin typeface="Cambria"/>
                <a:ea typeface="Cambria"/>
                <a:cs typeface="Cambria"/>
              </a:rPr>
              <a:t>7</a:t>
            </a:r>
          </a:p>
        </p:txBody>
      </p:sp>
      <p:sp>
        <p:nvSpPr>
          <p:cNvPr id="39" name="TextBox 38"/>
          <p:cNvSpPr txBox="1"/>
          <p:nvPr/>
        </p:nvSpPr>
        <p:spPr>
          <a:xfrm>
            <a:off x="6328640" y="4408760"/>
            <a:ext cx="2360000" cy="38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Time-based split</a:t>
            </a:r>
          </a:p>
        </p:txBody>
      </p:sp>
      <p:sp>
        <p:nvSpPr>
          <p:cNvPr id="40" name="TextBox 39"/>
          <p:cNvSpPr txBox="1"/>
          <p:nvPr/>
        </p:nvSpPr>
        <p:spPr>
          <a:xfrm>
            <a:off x="6328640" y="4798760"/>
            <a:ext cx="2360000" cy="9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Train, validation, test by origin; never shuffled</a:t>
            </a:r>
          </a:p>
        </p:txBody>
      </p:sp>
      <p:sp>
        <p:nvSpPr>
          <p:cNvPr id="41" name="Rectangle 40"/>
          <p:cNvSpPr/>
          <p:nvPr/>
        </p:nvSpPr>
        <p:spPr>
          <a:xfrm>
            <a:off x="9023640" y="3768760"/>
            <a:ext cx="2620000" cy="2000000"/>
          </a:xfrm>
          <a:prstGeom prst="rect">
            <a:avLst/>
          </a:prstGeom>
          <a:solidFill>
            <a:srgbClr val="1B2A4A"/>
          </a:solidFill>
          <a:ln>
            <a:noFill/>
          </a:ln>
          <a:effectLst/>
        </p:spPr>
        <p:txBody>
          <a:bodyPr rtlCol="0" anchor="ctr"/>
          <a:lstStyle/>
          <a:p>
            <a:pPr algn="ctr"/>
            <a:endParaRPr/>
          </a:p>
        </p:txBody>
      </p:sp>
      <p:sp>
        <p:nvSpPr>
          <p:cNvPr id="42" name="TextBox 41"/>
          <p:cNvSpPr txBox="1"/>
          <p:nvPr/>
        </p:nvSpPr>
        <p:spPr>
          <a:xfrm>
            <a:off x="9153640" y="3918760"/>
            <a:ext cx="2360000" cy="1700000"/>
          </a:xfrm>
          <a:prstGeom prst="rect">
            <a:avLst/>
          </a:prstGeom>
          <a:noFill/>
        </p:spPr>
        <p:txBody>
          <a:bodyPr wrap="square" lIns="0" tIns="0" rIns="0" bIns="0" anchor="t">
            <a:noAutofit/>
          </a:bodyPr>
          <a:lstStyle/>
          <a:p>
            <a:pPr algn="l"/>
            <a:r>
              <a:rPr sz="1500" b="1" i="0">
                <a:solidFill>
                  <a:srgbClr val="F3D9C6"/>
                </a:solidFill>
                <a:latin typeface="Cambria"/>
                <a:ea typeface="Cambria"/>
                <a:cs typeface="Cambria"/>
              </a:rPr>
              <a:t>The governing rule</a:t>
            </a:r>
          </a:p>
          <a:p>
            <a:pPr algn="l">
              <a:spcBef>
                <a:spcPts val="400"/>
              </a:spcBef>
            </a:pPr>
            <a:r>
              <a:rPr sz="1550" b="0" i="0">
                <a:solidFill>
                  <a:srgbClr val="FFFFFF"/>
                </a:solidFill>
                <a:latin typeface="Calibri"/>
                <a:ea typeface="Calibri"/>
                <a:cs typeface="Calibri"/>
              </a:rPr>
              <a:t>No time leakage: every feature at origin T uses data up to day T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2 · PREPROCESSING</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Each training sample is (series, origin, horizon); the split follows time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15</a:t>
            </a:r>
          </a:p>
        </p:txBody>
      </p:sp>
      <p:sp>
        <p:nvSpPr>
          <p:cNvPr id="6" name="Rectangle 5"/>
          <p:cNvSpPr/>
          <p:nvPr/>
        </p:nvSpPr>
        <p:spPr>
          <a:xfrm>
            <a:off x="548640" y="2008760"/>
            <a:ext cx="11094720" cy="420000"/>
          </a:xfrm>
          <a:prstGeom prst="rect">
            <a:avLst/>
          </a:prstGeom>
          <a:solidFill>
            <a:srgbClr val="E3DED3"/>
          </a:solidFill>
          <a:ln>
            <a:noFill/>
          </a:ln>
          <a:effectLst/>
        </p:spPr>
        <p:txBody>
          <a:bodyPr rtlCol="0" anchor="ctr"/>
          <a:lstStyle/>
          <a:p>
            <a:pPr algn="ctr"/>
            <a:endParaRPr/>
          </a:p>
        </p:txBody>
      </p:sp>
      <p:sp>
        <p:nvSpPr>
          <p:cNvPr id="7" name="Rectangle 6"/>
          <p:cNvSpPr/>
          <p:nvPr/>
        </p:nvSpPr>
        <p:spPr>
          <a:xfrm>
            <a:off x="554355" y="2008760"/>
            <a:ext cx="10768910" cy="420000"/>
          </a:xfrm>
          <a:prstGeom prst="rect">
            <a:avLst/>
          </a:prstGeom>
          <a:solidFill>
            <a:srgbClr val="1B2A4A"/>
          </a:solidFill>
          <a:ln>
            <a:noFill/>
          </a:ln>
          <a:effectLst/>
        </p:spPr>
        <p:txBody>
          <a:bodyPr rtlCol="0" anchor="ctr"/>
          <a:lstStyle/>
          <a:p>
            <a:pPr algn="ctr"/>
            <a:endParaRPr/>
          </a:p>
        </p:txBody>
      </p:sp>
      <p:sp>
        <p:nvSpPr>
          <p:cNvPr id="8" name="Rectangle 7"/>
          <p:cNvSpPr/>
          <p:nvPr/>
        </p:nvSpPr>
        <p:spPr>
          <a:xfrm>
            <a:off x="11323265" y="2008760"/>
            <a:ext cx="160047" cy="420000"/>
          </a:xfrm>
          <a:prstGeom prst="rect">
            <a:avLst/>
          </a:prstGeom>
          <a:solidFill>
            <a:srgbClr val="9AA2B4"/>
          </a:solidFill>
          <a:ln>
            <a:noFill/>
          </a:ln>
          <a:effectLst/>
        </p:spPr>
        <p:txBody>
          <a:bodyPr rtlCol="0" anchor="ctr"/>
          <a:lstStyle/>
          <a:p>
            <a:pPr algn="ctr"/>
            <a:endParaRPr/>
          </a:p>
        </p:txBody>
      </p:sp>
      <p:sp>
        <p:nvSpPr>
          <p:cNvPr id="9" name="Rectangle 8"/>
          <p:cNvSpPr/>
          <p:nvPr/>
        </p:nvSpPr>
        <p:spPr>
          <a:xfrm>
            <a:off x="11483312" y="2008760"/>
            <a:ext cx="160048" cy="420000"/>
          </a:xfrm>
          <a:prstGeom prst="rect">
            <a:avLst/>
          </a:prstGeom>
          <a:solidFill>
            <a:srgbClr val="E0662B"/>
          </a:solidFill>
          <a:ln>
            <a:noFill/>
          </a:ln>
          <a:effectLst/>
        </p:spPr>
        <p:txBody>
          <a:bodyPr rtlCol="0" anchor="ctr"/>
          <a:lstStyle/>
          <a:p>
            <a:pPr algn="ctr"/>
            <a:endParaRPr/>
          </a:p>
        </p:txBody>
      </p:sp>
      <p:sp>
        <p:nvSpPr>
          <p:cNvPr id="10" name="TextBox 9"/>
          <p:cNvSpPr txBox="1"/>
          <p:nvPr/>
        </p:nvSpPr>
        <p:spPr>
          <a:xfrm>
            <a:off x="648640" y="2008760"/>
            <a:ext cx="500000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40 training origins, stride 21 days</a:t>
            </a:r>
          </a:p>
        </p:txBody>
      </p:sp>
      <p:sp>
        <p:nvSpPr>
          <p:cNvPr id="11" name="TextBox 10"/>
          <p:cNvSpPr txBox="1"/>
          <p:nvPr/>
        </p:nvSpPr>
        <p:spPr>
          <a:xfrm>
            <a:off x="548640" y="2478760"/>
            <a:ext cx="1200000" cy="30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d_1</a:t>
            </a:r>
          </a:p>
        </p:txBody>
      </p:sp>
      <p:sp>
        <p:nvSpPr>
          <p:cNvPr id="12" name="TextBox 11"/>
          <p:cNvSpPr txBox="1"/>
          <p:nvPr/>
        </p:nvSpPr>
        <p:spPr>
          <a:xfrm>
            <a:off x="10443360" y="2478760"/>
            <a:ext cx="1200000" cy="300000"/>
          </a:xfrm>
          <a:prstGeom prst="rect">
            <a:avLst/>
          </a:prstGeom>
          <a:noFill/>
        </p:spPr>
        <p:txBody>
          <a:bodyPr wrap="square" lIns="0" tIns="0" rIns="0" bIns="0" anchor="t">
            <a:noAutofit/>
          </a:bodyPr>
          <a:lstStyle/>
          <a:p>
            <a:pPr algn="r"/>
            <a:r>
              <a:rPr sz="1300" b="0" i="0">
                <a:solidFill>
                  <a:srgbClr val="50596C"/>
                </a:solidFill>
                <a:latin typeface="Calibri"/>
                <a:ea typeface="Calibri"/>
                <a:cs typeface="Calibri"/>
              </a:rPr>
              <a:t>d_1941</a:t>
            </a:r>
          </a:p>
        </p:txBody>
      </p:sp>
      <p:sp>
        <p:nvSpPr>
          <p:cNvPr id="13" name="TextBox 12"/>
          <p:cNvSpPr txBox="1"/>
          <p:nvPr/>
        </p:nvSpPr>
        <p:spPr>
          <a:xfrm>
            <a:off x="5143360" y="2808760"/>
            <a:ext cx="6500000" cy="300000"/>
          </a:xfrm>
          <a:prstGeom prst="rect">
            <a:avLst/>
          </a:prstGeom>
          <a:noFill/>
        </p:spPr>
        <p:txBody>
          <a:bodyPr wrap="square" lIns="0" tIns="0" rIns="0" bIns="0" anchor="t">
            <a:noAutofit/>
          </a:bodyPr>
          <a:lstStyle/>
          <a:p>
            <a:pPr algn="r"/>
            <a:r>
              <a:rPr sz="1400" b="0" i="0">
                <a:solidFill>
                  <a:srgbClr val="50596C"/>
                </a:solidFill>
                <a:latin typeface="Calibri"/>
                <a:ea typeface="Calibri"/>
                <a:cs typeface="Calibri"/>
              </a:rPr>
              <a:t>validation: origin d_1885, forecasts d_1886 to d_1913</a:t>
            </a:r>
          </a:p>
        </p:txBody>
      </p:sp>
      <p:sp>
        <p:nvSpPr>
          <p:cNvPr id="14" name="TextBox 13"/>
          <p:cNvSpPr txBox="1"/>
          <p:nvPr/>
        </p:nvSpPr>
        <p:spPr>
          <a:xfrm>
            <a:off x="5143360" y="3108760"/>
            <a:ext cx="6500000" cy="300000"/>
          </a:xfrm>
          <a:prstGeom prst="rect">
            <a:avLst/>
          </a:prstGeom>
          <a:noFill/>
        </p:spPr>
        <p:txBody>
          <a:bodyPr wrap="square" lIns="0" tIns="0" rIns="0" bIns="0" anchor="t">
            <a:noAutofit/>
          </a:bodyPr>
          <a:lstStyle/>
          <a:p>
            <a:pPr algn="r"/>
            <a:r>
              <a:rPr sz="1400" b="1" i="0">
                <a:solidFill>
                  <a:srgbClr val="E0662B"/>
                </a:solidFill>
                <a:latin typeface="Calibri"/>
                <a:ea typeface="Calibri"/>
                <a:cs typeface="Calibri"/>
              </a:rPr>
              <a:t>test: origin d_1913, forecasts d_1914 to d_1941</a:t>
            </a:r>
          </a:p>
        </p:txBody>
      </p:sp>
      <p:sp>
        <p:nvSpPr>
          <p:cNvPr id="15" name="Rectangle 14"/>
          <p:cNvSpPr/>
          <p:nvPr/>
        </p:nvSpPr>
        <p:spPr>
          <a:xfrm>
            <a:off x="548640" y="3558760"/>
            <a:ext cx="11094720" cy="360000"/>
          </a:xfrm>
          <a:prstGeom prst="rect">
            <a:avLst/>
          </a:prstGeom>
          <a:solidFill>
            <a:srgbClr val="1B2A4A"/>
          </a:solidFill>
          <a:ln>
            <a:noFill/>
          </a:ln>
          <a:effectLst/>
        </p:spPr>
        <p:txBody>
          <a:bodyPr rtlCol="0" anchor="ctr"/>
          <a:lstStyle/>
          <a:p>
            <a:pPr algn="ctr"/>
            <a:endParaRPr/>
          </a:p>
        </p:txBody>
      </p:sp>
      <p:sp>
        <p:nvSpPr>
          <p:cNvPr id="16" name="TextBox 15"/>
          <p:cNvSpPr txBox="1"/>
          <p:nvPr/>
        </p:nvSpPr>
        <p:spPr>
          <a:xfrm>
            <a:off x="640080" y="3558760"/>
            <a:ext cx="2217120" cy="36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Item</a:t>
            </a:r>
          </a:p>
        </p:txBody>
      </p:sp>
      <p:sp>
        <p:nvSpPr>
          <p:cNvPr id="17" name="TextBox 16"/>
          <p:cNvSpPr txBox="1"/>
          <p:nvPr/>
        </p:nvSpPr>
        <p:spPr>
          <a:xfrm>
            <a:off x="3040080" y="3558760"/>
            <a:ext cx="8511840" cy="36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Value</a:t>
            </a:r>
          </a:p>
        </p:txBody>
      </p:sp>
      <p:sp>
        <p:nvSpPr>
          <p:cNvPr id="18" name="TextBox 17"/>
          <p:cNvSpPr txBox="1"/>
          <p:nvPr/>
        </p:nvSpPr>
        <p:spPr>
          <a:xfrm>
            <a:off x="640080" y="3918760"/>
            <a:ext cx="2217120" cy="44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Formulation</a:t>
            </a:r>
          </a:p>
        </p:txBody>
      </p:sp>
      <p:sp>
        <p:nvSpPr>
          <p:cNvPr id="19" name="TextBox 18"/>
          <p:cNvSpPr txBox="1"/>
          <p:nvPr/>
        </p:nvSpPr>
        <p:spPr>
          <a:xfrm>
            <a:off x="3040080" y="3918760"/>
            <a:ext cx="8511840" cy="44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Direct multi-horizon: sample = (series s, origin T, horizon h ∈ [1, 28])</a:t>
            </a:r>
          </a:p>
        </p:txBody>
      </p:sp>
      <p:sp>
        <p:nvSpPr>
          <p:cNvPr id="20" name="Rectangle 19"/>
          <p:cNvSpPr/>
          <p:nvPr/>
        </p:nvSpPr>
        <p:spPr>
          <a:xfrm>
            <a:off x="548640" y="4358760"/>
            <a:ext cx="11094720" cy="440000"/>
          </a:xfrm>
          <a:prstGeom prst="rect">
            <a:avLst/>
          </a:prstGeom>
          <a:solidFill>
            <a:srgbClr val="E3DED3"/>
          </a:solidFill>
          <a:ln>
            <a:noFill/>
          </a:ln>
          <a:effectLst/>
        </p:spPr>
        <p:txBody>
          <a:bodyPr rtlCol="0" anchor="ctr"/>
          <a:lstStyle/>
          <a:p>
            <a:pPr algn="ctr"/>
            <a:endParaRPr/>
          </a:p>
        </p:txBody>
      </p:sp>
      <p:sp>
        <p:nvSpPr>
          <p:cNvPr id="21" name="TextBox 20"/>
          <p:cNvSpPr txBox="1"/>
          <p:nvPr/>
        </p:nvSpPr>
        <p:spPr>
          <a:xfrm>
            <a:off x="640080" y="4358760"/>
            <a:ext cx="2217120" cy="44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Training rows</a:t>
            </a:r>
          </a:p>
        </p:txBody>
      </p:sp>
      <p:sp>
        <p:nvSpPr>
          <p:cNvPr id="22" name="TextBox 21"/>
          <p:cNvSpPr txBox="1"/>
          <p:nvPr/>
        </p:nvSpPr>
        <p:spPr>
          <a:xfrm>
            <a:off x="3040080" y="4358760"/>
            <a:ext cx="8511840" cy="44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32,614,120 rows × 53 features</a:t>
            </a:r>
          </a:p>
        </p:txBody>
      </p:sp>
      <p:sp>
        <p:nvSpPr>
          <p:cNvPr id="23" name="TextBox 22"/>
          <p:cNvSpPr txBox="1"/>
          <p:nvPr/>
        </p:nvSpPr>
        <p:spPr>
          <a:xfrm>
            <a:off x="640080" y="4798760"/>
            <a:ext cx="2217120" cy="54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Check</a:t>
            </a:r>
          </a:p>
        </p:txBody>
      </p:sp>
      <p:sp>
        <p:nvSpPr>
          <p:cNvPr id="24" name="TextBox 23"/>
          <p:cNvSpPr txBox="1"/>
          <p:nvPr/>
        </p:nvSpPr>
        <p:spPr>
          <a:xfrm>
            <a:off x="3040080" y="4798760"/>
            <a:ext cx="8511840" cy="54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40 origins × 30,490 series × 28 horizons = 34.1M; 32.6M remain after dropping not-yet-on-sale days</a:t>
            </a:r>
          </a:p>
        </p:txBody>
      </p:sp>
      <p:sp>
        <p:nvSpPr>
          <p:cNvPr id="25" name="Rectangle 24"/>
          <p:cNvSpPr/>
          <p:nvPr/>
        </p:nvSpPr>
        <p:spPr>
          <a:xfrm>
            <a:off x="548640" y="5338760"/>
            <a:ext cx="11094720" cy="440000"/>
          </a:xfrm>
          <a:prstGeom prst="rect">
            <a:avLst/>
          </a:prstGeom>
          <a:solidFill>
            <a:srgbClr val="E3DED3"/>
          </a:solidFill>
          <a:ln>
            <a:noFill/>
          </a:ln>
          <a:effectLst/>
        </p:spPr>
        <p:txBody>
          <a:bodyPr rtlCol="0" anchor="ctr"/>
          <a:lstStyle/>
          <a:p>
            <a:pPr algn="ctr"/>
            <a:endParaRPr/>
          </a:p>
        </p:txBody>
      </p:sp>
      <p:sp>
        <p:nvSpPr>
          <p:cNvPr id="26" name="TextBox 25"/>
          <p:cNvSpPr txBox="1"/>
          <p:nvPr/>
        </p:nvSpPr>
        <p:spPr>
          <a:xfrm>
            <a:off x="640080" y="5338760"/>
            <a:ext cx="2217120" cy="44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Training run</a:t>
            </a:r>
          </a:p>
        </p:txBody>
      </p:sp>
      <p:sp>
        <p:nvSpPr>
          <p:cNvPr id="27" name="TextBox 26"/>
          <p:cNvSpPr txBox="1"/>
          <p:nvPr/>
        </p:nvSpPr>
        <p:spPr>
          <a:xfrm>
            <a:off x="3040080" y="5338760"/>
            <a:ext cx="8511840" cy="44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2 × T4 GPU, 3 h 48 min 59 s in total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2 · PREPROCESSING</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53 features in three groups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16</a:t>
            </a:r>
          </a:p>
        </p:txBody>
      </p:sp>
      <p:sp>
        <p:nvSpPr>
          <p:cNvPr id="6" name="Rectangle 5"/>
          <p:cNvSpPr/>
          <p:nvPr/>
        </p:nvSpPr>
        <p:spPr>
          <a:xfrm>
            <a:off x="548640" y="1508760"/>
            <a:ext cx="3560000" cy="425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508760"/>
            <a:ext cx="3560000" cy="54864"/>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98640" y="1628760"/>
            <a:ext cx="1200000" cy="7000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31</a:t>
            </a:r>
          </a:p>
        </p:txBody>
      </p:sp>
      <p:sp>
        <p:nvSpPr>
          <p:cNvPr id="9" name="TextBox 8"/>
          <p:cNvSpPr txBox="1"/>
          <p:nvPr/>
        </p:nvSpPr>
        <p:spPr>
          <a:xfrm>
            <a:off x="1798640" y="1768760"/>
            <a:ext cx="2160000" cy="500000"/>
          </a:xfrm>
          <a:prstGeom prst="rect">
            <a:avLst/>
          </a:prstGeom>
          <a:noFill/>
        </p:spPr>
        <p:txBody>
          <a:bodyPr wrap="square" lIns="0" tIns="0" rIns="0" bIns="0" anchor="ctr">
            <a:noAutofit/>
          </a:bodyPr>
          <a:lstStyle/>
          <a:p>
            <a:pPr algn="l"/>
            <a:r>
              <a:rPr sz="1650" b="1" i="0">
                <a:solidFill>
                  <a:srgbClr val="1B2A4A"/>
                </a:solidFill>
                <a:latin typeface="Cambria"/>
                <a:ea typeface="Cambria"/>
                <a:cs typeface="Cambria"/>
              </a:rPr>
              <a:t>Static features at the origin</a:t>
            </a:r>
          </a:p>
        </p:txBody>
      </p:sp>
      <p:sp>
        <p:nvSpPr>
          <p:cNvPr id="10" name="TextBox 9"/>
          <p:cNvSpPr txBox="1"/>
          <p:nvPr/>
        </p:nvSpPr>
        <p:spPr>
          <a:xfrm>
            <a:off x="698640" y="2508760"/>
            <a:ext cx="3260000" cy="3150000"/>
          </a:xfrm>
          <a:prstGeom prst="rect">
            <a:avLst/>
          </a:prstGeom>
          <a:noFill/>
        </p:spPr>
        <p:txBody>
          <a:bodyPr wrap="square" lIns="0" tIns="0" rIns="0" bIns="0" anchor="t">
            <a:noAutofit/>
          </a:bodyPr>
          <a:lstStyle/>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Lags 1–7, 14, 21, 28</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Rolling mean 7/14/28/56/180; std 7/28/56; max 28</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Zero ratio (28, 90); days since last sale; non-zero mean (28)</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Same-period last-year mean; trend 28/180</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5 price features; days since release</a:t>
            </a:r>
          </a:p>
        </p:txBody>
      </p:sp>
      <p:sp>
        <p:nvSpPr>
          <p:cNvPr id="11" name="Rectangle 10"/>
          <p:cNvSpPr/>
          <p:nvPr/>
        </p:nvSpPr>
        <p:spPr>
          <a:xfrm>
            <a:off x="4268640" y="1508760"/>
            <a:ext cx="3560000" cy="4250000"/>
          </a:xfrm>
          <a:prstGeom prst="rect">
            <a:avLst/>
          </a:prstGeom>
          <a:solidFill>
            <a:srgbClr val="F1EDE4"/>
          </a:solidFill>
          <a:ln>
            <a:noFill/>
          </a:ln>
          <a:effectLst/>
        </p:spPr>
        <p:txBody>
          <a:bodyPr rtlCol="0" anchor="ctr"/>
          <a:lstStyle/>
          <a:p>
            <a:pPr algn="ctr"/>
            <a:endParaRPr/>
          </a:p>
        </p:txBody>
      </p:sp>
      <p:sp>
        <p:nvSpPr>
          <p:cNvPr id="12" name="Rectangle 11"/>
          <p:cNvSpPr/>
          <p:nvPr/>
        </p:nvSpPr>
        <p:spPr>
          <a:xfrm>
            <a:off x="4268640" y="1508760"/>
            <a:ext cx="3560000" cy="54864"/>
          </a:xfrm>
          <a:prstGeom prst="rect">
            <a:avLst/>
          </a:prstGeom>
          <a:solidFill>
            <a:srgbClr val="E0662B"/>
          </a:solidFill>
          <a:ln>
            <a:noFill/>
          </a:ln>
          <a:effectLst/>
        </p:spPr>
        <p:txBody>
          <a:bodyPr rtlCol="0" anchor="ctr"/>
          <a:lstStyle/>
          <a:p>
            <a:pPr algn="ctr"/>
            <a:endParaRPr/>
          </a:p>
        </p:txBody>
      </p:sp>
      <p:sp>
        <p:nvSpPr>
          <p:cNvPr id="13" name="TextBox 12"/>
          <p:cNvSpPr txBox="1"/>
          <p:nvPr/>
        </p:nvSpPr>
        <p:spPr>
          <a:xfrm>
            <a:off x="4418640" y="1628760"/>
            <a:ext cx="1200000" cy="7000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17</a:t>
            </a:r>
          </a:p>
        </p:txBody>
      </p:sp>
      <p:sp>
        <p:nvSpPr>
          <p:cNvPr id="14" name="TextBox 13"/>
          <p:cNvSpPr txBox="1"/>
          <p:nvPr/>
        </p:nvSpPr>
        <p:spPr>
          <a:xfrm>
            <a:off x="5518640" y="1768760"/>
            <a:ext cx="2160000" cy="500000"/>
          </a:xfrm>
          <a:prstGeom prst="rect">
            <a:avLst/>
          </a:prstGeom>
          <a:noFill/>
        </p:spPr>
        <p:txBody>
          <a:bodyPr wrap="square" lIns="0" tIns="0" rIns="0" bIns="0" anchor="ctr">
            <a:noAutofit/>
          </a:bodyPr>
          <a:lstStyle/>
          <a:p>
            <a:pPr algn="l"/>
            <a:r>
              <a:rPr sz="1650" b="1" i="0">
                <a:solidFill>
                  <a:srgbClr val="1B2A4A"/>
                </a:solidFill>
                <a:latin typeface="Cambria"/>
                <a:ea typeface="Cambria"/>
                <a:cs typeface="Cambria"/>
              </a:rPr>
              <a:t>Horizon features</a:t>
            </a:r>
          </a:p>
        </p:txBody>
      </p:sp>
      <p:sp>
        <p:nvSpPr>
          <p:cNvPr id="15" name="TextBox 14"/>
          <p:cNvSpPr txBox="1"/>
          <p:nvPr/>
        </p:nvSpPr>
        <p:spPr>
          <a:xfrm>
            <a:off x="4418640" y="2508760"/>
            <a:ext cx="3260000" cy="3150000"/>
          </a:xfrm>
          <a:prstGeom prst="rect">
            <a:avLst/>
          </a:prstGeom>
          <a:noFill/>
        </p:spPr>
        <p:txBody>
          <a:bodyPr wrap="square" lIns="0" tIns="0" rIns="0" bIns="0" anchor="t">
            <a:noAutofit/>
          </a:bodyPr>
          <a:lstStyle/>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h; same-weekday mean over 8 weeks</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Target-day price (absolute, relative)</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Weekday, month, day, week of year</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SNAP flag and consecutive SNAP days</a:t>
            </a:r>
          </a:p>
          <a:p>
            <a:pPr marL="228600" indent="-228600" algn="l">
              <a:spcBef>
                <a:spcPts val="500"/>
              </a:spcBef>
              <a:buClr>
                <a:srgbClr val="E0662B"/>
              </a:buClr>
              <a:buFont typeface="Arial"/>
              <a:buChar char="•"/>
            </a:pPr>
            <a:r>
              <a:rPr sz="1500" b="0" i="0" dirty="0">
                <a:solidFill>
                  <a:srgbClr val="1B2A4A"/>
                </a:solidFill>
                <a:latin typeface="Calibri"/>
                <a:ea typeface="Calibri"/>
                <a:cs typeface="Calibri"/>
              </a:rPr>
              <a:t>Events (names, types, 2 events), days to/from event</a:t>
            </a:r>
          </a:p>
        </p:txBody>
      </p:sp>
      <p:sp>
        <p:nvSpPr>
          <p:cNvPr id="16" name="Rectangle 15"/>
          <p:cNvSpPr/>
          <p:nvPr/>
        </p:nvSpPr>
        <p:spPr>
          <a:xfrm>
            <a:off x="7988640" y="1508760"/>
            <a:ext cx="3560000" cy="4250000"/>
          </a:xfrm>
          <a:prstGeom prst="rect">
            <a:avLst/>
          </a:prstGeom>
          <a:solidFill>
            <a:srgbClr val="F1EDE4"/>
          </a:solidFill>
          <a:ln>
            <a:noFill/>
          </a:ln>
          <a:effectLst/>
        </p:spPr>
        <p:txBody>
          <a:bodyPr rtlCol="0" anchor="ctr"/>
          <a:lstStyle/>
          <a:p>
            <a:pPr algn="ctr"/>
            <a:endParaRPr/>
          </a:p>
        </p:txBody>
      </p:sp>
      <p:sp>
        <p:nvSpPr>
          <p:cNvPr id="17" name="Rectangle 16"/>
          <p:cNvSpPr/>
          <p:nvPr/>
        </p:nvSpPr>
        <p:spPr>
          <a:xfrm>
            <a:off x="7988640" y="1508760"/>
            <a:ext cx="3560000" cy="54864"/>
          </a:xfrm>
          <a:prstGeom prst="rect">
            <a:avLst/>
          </a:prstGeom>
          <a:solidFill>
            <a:srgbClr val="E0662B"/>
          </a:solidFill>
          <a:ln>
            <a:noFill/>
          </a:ln>
          <a:effectLst/>
        </p:spPr>
        <p:txBody>
          <a:bodyPr rtlCol="0" anchor="ctr"/>
          <a:lstStyle/>
          <a:p>
            <a:pPr algn="ctr"/>
            <a:endParaRPr/>
          </a:p>
        </p:txBody>
      </p:sp>
      <p:sp>
        <p:nvSpPr>
          <p:cNvPr id="18" name="TextBox 17"/>
          <p:cNvSpPr txBox="1"/>
          <p:nvPr/>
        </p:nvSpPr>
        <p:spPr>
          <a:xfrm>
            <a:off x="8138640" y="1628760"/>
            <a:ext cx="1200000" cy="7000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5</a:t>
            </a:r>
          </a:p>
        </p:txBody>
      </p:sp>
      <p:sp>
        <p:nvSpPr>
          <p:cNvPr id="19" name="TextBox 18"/>
          <p:cNvSpPr txBox="1"/>
          <p:nvPr/>
        </p:nvSpPr>
        <p:spPr>
          <a:xfrm>
            <a:off x="9238640" y="1768760"/>
            <a:ext cx="2160000" cy="500000"/>
          </a:xfrm>
          <a:prstGeom prst="rect">
            <a:avLst/>
          </a:prstGeom>
          <a:noFill/>
        </p:spPr>
        <p:txBody>
          <a:bodyPr wrap="square" lIns="0" tIns="0" rIns="0" bIns="0" anchor="ctr">
            <a:noAutofit/>
          </a:bodyPr>
          <a:lstStyle/>
          <a:p>
            <a:pPr algn="l"/>
            <a:r>
              <a:rPr sz="1650" b="1" i="0">
                <a:solidFill>
                  <a:srgbClr val="1B2A4A"/>
                </a:solidFill>
                <a:latin typeface="Cambria"/>
                <a:ea typeface="Cambria"/>
                <a:cs typeface="Cambria"/>
              </a:rPr>
              <a:t>Identifiers</a:t>
            </a:r>
          </a:p>
        </p:txBody>
      </p:sp>
      <p:sp>
        <p:nvSpPr>
          <p:cNvPr id="20" name="TextBox 19"/>
          <p:cNvSpPr txBox="1"/>
          <p:nvPr/>
        </p:nvSpPr>
        <p:spPr>
          <a:xfrm>
            <a:off x="8138640" y="2508760"/>
            <a:ext cx="3260000" cy="3150000"/>
          </a:xfrm>
          <a:prstGeom prst="rect">
            <a:avLst/>
          </a:prstGeom>
          <a:noFill/>
        </p:spPr>
        <p:txBody>
          <a:bodyPr wrap="square" lIns="0" tIns="0" rIns="0" bIns="0" anchor="t">
            <a:noAutofit/>
          </a:bodyPr>
          <a:lstStyle/>
          <a:p>
            <a:pPr marL="228600" indent="-228600" algn="l">
              <a:spcBef>
                <a:spcPts val="500"/>
              </a:spcBef>
              <a:buClr>
                <a:srgbClr val="E0662B"/>
              </a:buClr>
              <a:buFont typeface="Arial"/>
              <a:buChar char="•"/>
            </a:pPr>
            <a:r>
              <a:rPr sz="1500" b="0" i="0">
                <a:solidFill>
                  <a:srgbClr val="1B2A4A"/>
                </a:solidFill>
                <a:latin typeface="Calibri"/>
                <a:ea typeface="Calibri"/>
                <a:cs typeface="Calibri"/>
              </a:rPr>
              <a:t>item_id</a:t>
            </a:r>
          </a:p>
          <a:p>
            <a:pPr marL="228600" indent="-228600" algn="l">
              <a:spcBef>
                <a:spcPts val="500"/>
              </a:spcBef>
              <a:buClr>
                <a:srgbClr val="E0662B"/>
              </a:buClr>
              <a:buFont typeface="Arial"/>
              <a:buChar char="•"/>
            </a:pPr>
            <a:r>
              <a:rPr sz="1500" b="0" i="0">
                <a:solidFill>
                  <a:srgbClr val="1B2A4A"/>
                </a:solidFill>
                <a:latin typeface="Calibri"/>
                <a:ea typeface="Calibri"/>
                <a:cs typeface="Calibri"/>
              </a:rPr>
              <a:t>dept_id</a:t>
            </a:r>
          </a:p>
          <a:p>
            <a:pPr marL="228600" indent="-228600" algn="l">
              <a:spcBef>
                <a:spcPts val="500"/>
              </a:spcBef>
              <a:buClr>
                <a:srgbClr val="E0662B"/>
              </a:buClr>
              <a:buFont typeface="Arial"/>
              <a:buChar char="•"/>
            </a:pPr>
            <a:r>
              <a:rPr sz="1500" b="0" i="0">
                <a:solidFill>
                  <a:srgbClr val="1B2A4A"/>
                </a:solidFill>
                <a:latin typeface="Calibri"/>
                <a:ea typeface="Calibri"/>
                <a:cs typeface="Calibri"/>
              </a:rPr>
              <a:t>cat_id</a:t>
            </a:r>
          </a:p>
          <a:p>
            <a:pPr marL="228600" indent="-228600" algn="l">
              <a:spcBef>
                <a:spcPts val="500"/>
              </a:spcBef>
              <a:buClr>
                <a:srgbClr val="E0662B"/>
              </a:buClr>
              <a:buFont typeface="Arial"/>
              <a:buChar char="•"/>
            </a:pPr>
            <a:r>
              <a:rPr sz="1500" b="0" i="0">
                <a:solidFill>
                  <a:srgbClr val="1B2A4A"/>
                </a:solidFill>
                <a:latin typeface="Calibri"/>
                <a:ea typeface="Calibri"/>
                <a:cs typeface="Calibri"/>
              </a:rPr>
              <a:t>store_id</a:t>
            </a:r>
          </a:p>
          <a:p>
            <a:pPr marL="228600" indent="-228600" algn="l">
              <a:spcBef>
                <a:spcPts val="500"/>
              </a:spcBef>
              <a:buClr>
                <a:srgbClr val="E0662B"/>
              </a:buClr>
              <a:buFont typeface="Arial"/>
              <a:buChar char="•"/>
            </a:pPr>
            <a:r>
              <a:rPr sz="1500" b="0" i="0">
                <a:solidFill>
                  <a:srgbClr val="1B2A4A"/>
                </a:solidFill>
                <a:latin typeface="Calibri"/>
                <a:ea typeface="Calibri"/>
                <a:cs typeface="Calibri"/>
              </a:rPr>
              <a:t>state_id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2 · PREPROCESSING</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C³-OUT’s own preparation: ABC×XYZ groups and window forecasts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17</a:t>
            </a:r>
          </a:p>
        </p:txBody>
      </p:sp>
      <p:sp>
        <p:nvSpPr>
          <p:cNvPr id="6" name="TextBox 5"/>
          <p:cNvSpPr txBox="1"/>
          <p:nvPr/>
        </p:nvSpPr>
        <p:spPr>
          <a:xfrm>
            <a:off x="548640" y="1508760"/>
            <a:ext cx="5000000" cy="30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Series in the 9 groups (M5, 3 stores)</a:t>
            </a:r>
          </a:p>
        </p:txBody>
      </p:sp>
      <p:sp>
        <p:nvSpPr>
          <p:cNvPr id="7" name="TextBox 6"/>
          <p:cNvSpPr txBox="1"/>
          <p:nvPr/>
        </p:nvSpPr>
        <p:spPr>
          <a:xfrm>
            <a:off x="998640" y="1928760"/>
            <a:ext cx="1450000" cy="300000"/>
          </a:xfrm>
          <a:prstGeom prst="rect">
            <a:avLst/>
          </a:prstGeom>
          <a:noFill/>
        </p:spPr>
        <p:txBody>
          <a:bodyPr wrap="square" lIns="0" tIns="0" rIns="0" bIns="0" anchor="t">
            <a:noAutofit/>
          </a:bodyPr>
          <a:lstStyle/>
          <a:p>
            <a:pPr algn="ctr"/>
            <a:r>
              <a:rPr sz="1550" b="1" i="0">
                <a:solidFill>
                  <a:srgbClr val="50596C"/>
                </a:solidFill>
                <a:latin typeface="Calibri"/>
                <a:ea typeface="Calibri"/>
                <a:cs typeface="Calibri"/>
              </a:rPr>
              <a:t>X</a:t>
            </a:r>
          </a:p>
        </p:txBody>
      </p:sp>
      <p:sp>
        <p:nvSpPr>
          <p:cNvPr id="8" name="TextBox 7"/>
          <p:cNvSpPr txBox="1"/>
          <p:nvPr/>
        </p:nvSpPr>
        <p:spPr>
          <a:xfrm>
            <a:off x="2508640" y="1928760"/>
            <a:ext cx="1450000" cy="300000"/>
          </a:xfrm>
          <a:prstGeom prst="rect">
            <a:avLst/>
          </a:prstGeom>
          <a:noFill/>
        </p:spPr>
        <p:txBody>
          <a:bodyPr wrap="square" lIns="0" tIns="0" rIns="0" bIns="0" anchor="t">
            <a:noAutofit/>
          </a:bodyPr>
          <a:lstStyle/>
          <a:p>
            <a:pPr algn="ctr"/>
            <a:r>
              <a:rPr sz="1550" b="1" i="0">
                <a:solidFill>
                  <a:srgbClr val="50596C"/>
                </a:solidFill>
                <a:latin typeface="Calibri"/>
                <a:ea typeface="Calibri"/>
                <a:cs typeface="Calibri"/>
              </a:rPr>
              <a:t>Y</a:t>
            </a:r>
          </a:p>
        </p:txBody>
      </p:sp>
      <p:sp>
        <p:nvSpPr>
          <p:cNvPr id="9" name="TextBox 8"/>
          <p:cNvSpPr txBox="1"/>
          <p:nvPr/>
        </p:nvSpPr>
        <p:spPr>
          <a:xfrm>
            <a:off x="4018640" y="1928760"/>
            <a:ext cx="1450000" cy="300000"/>
          </a:xfrm>
          <a:prstGeom prst="rect">
            <a:avLst/>
          </a:prstGeom>
          <a:noFill/>
        </p:spPr>
        <p:txBody>
          <a:bodyPr wrap="square" lIns="0" tIns="0" rIns="0" bIns="0" anchor="t">
            <a:noAutofit/>
          </a:bodyPr>
          <a:lstStyle/>
          <a:p>
            <a:pPr algn="ctr"/>
            <a:r>
              <a:rPr sz="1550" b="1" i="0">
                <a:solidFill>
                  <a:srgbClr val="50596C"/>
                </a:solidFill>
                <a:latin typeface="Calibri"/>
                <a:ea typeface="Calibri"/>
                <a:cs typeface="Calibri"/>
              </a:rPr>
              <a:t>Z</a:t>
            </a:r>
          </a:p>
        </p:txBody>
      </p:sp>
      <p:sp>
        <p:nvSpPr>
          <p:cNvPr id="10" name="TextBox 9"/>
          <p:cNvSpPr txBox="1"/>
          <p:nvPr/>
        </p:nvSpPr>
        <p:spPr>
          <a:xfrm>
            <a:off x="548640" y="2308760"/>
            <a:ext cx="400000" cy="900000"/>
          </a:xfrm>
          <a:prstGeom prst="rect">
            <a:avLst/>
          </a:prstGeom>
          <a:noFill/>
        </p:spPr>
        <p:txBody>
          <a:bodyPr wrap="square" lIns="0" tIns="0" rIns="0" bIns="0" anchor="ctr">
            <a:noAutofit/>
          </a:bodyPr>
          <a:lstStyle/>
          <a:p>
            <a:pPr algn="ctr"/>
            <a:r>
              <a:rPr sz="1550" b="1" i="0">
                <a:solidFill>
                  <a:srgbClr val="50596C"/>
                </a:solidFill>
                <a:latin typeface="Calibri"/>
                <a:ea typeface="Calibri"/>
                <a:cs typeface="Calibri"/>
              </a:rPr>
              <a:t>A</a:t>
            </a:r>
          </a:p>
        </p:txBody>
      </p:sp>
      <p:sp>
        <p:nvSpPr>
          <p:cNvPr id="11" name="TextBox 10"/>
          <p:cNvSpPr txBox="1"/>
          <p:nvPr/>
        </p:nvSpPr>
        <p:spPr>
          <a:xfrm>
            <a:off x="548640" y="3268760"/>
            <a:ext cx="400000" cy="900000"/>
          </a:xfrm>
          <a:prstGeom prst="rect">
            <a:avLst/>
          </a:prstGeom>
          <a:noFill/>
        </p:spPr>
        <p:txBody>
          <a:bodyPr wrap="square" lIns="0" tIns="0" rIns="0" bIns="0" anchor="ctr">
            <a:noAutofit/>
          </a:bodyPr>
          <a:lstStyle/>
          <a:p>
            <a:pPr algn="ctr"/>
            <a:r>
              <a:rPr sz="1550" b="1" i="0">
                <a:solidFill>
                  <a:srgbClr val="50596C"/>
                </a:solidFill>
                <a:latin typeface="Calibri"/>
                <a:ea typeface="Calibri"/>
                <a:cs typeface="Calibri"/>
              </a:rPr>
              <a:t>B</a:t>
            </a:r>
          </a:p>
        </p:txBody>
      </p:sp>
      <p:sp>
        <p:nvSpPr>
          <p:cNvPr id="12" name="TextBox 11"/>
          <p:cNvSpPr txBox="1"/>
          <p:nvPr/>
        </p:nvSpPr>
        <p:spPr>
          <a:xfrm>
            <a:off x="548640" y="4228760"/>
            <a:ext cx="400000" cy="900000"/>
          </a:xfrm>
          <a:prstGeom prst="rect">
            <a:avLst/>
          </a:prstGeom>
          <a:noFill/>
        </p:spPr>
        <p:txBody>
          <a:bodyPr wrap="square" lIns="0" tIns="0" rIns="0" bIns="0" anchor="ctr">
            <a:noAutofit/>
          </a:bodyPr>
          <a:lstStyle/>
          <a:p>
            <a:pPr algn="ctr"/>
            <a:r>
              <a:rPr sz="1550" b="1" i="0">
                <a:solidFill>
                  <a:srgbClr val="50596C"/>
                </a:solidFill>
                <a:latin typeface="Calibri"/>
                <a:ea typeface="Calibri"/>
                <a:cs typeface="Calibri"/>
              </a:rPr>
              <a:t>C</a:t>
            </a:r>
          </a:p>
        </p:txBody>
      </p:sp>
      <p:sp>
        <p:nvSpPr>
          <p:cNvPr id="13" name="Rectangle 12"/>
          <p:cNvSpPr/>
          <p:nvPr/>
        </p:nvSpPr>
        <p:spPr>
          <a:xfrm>
            <a:off x="998640" y="2308760"/>
            <a:ext cx="1450000" cy="900000"/>
          </a:xfrm>
          <a:prstGeom prst="rect">
            <a:avLst/>
          </a:prstGeom>
          <a:solidFill>
            <a:srgbClr val="F1EDE4"/>
          </a:solidFill>
          <a:ln>
            <a:noFill/>
          </a:ln>
          <a:effectLst/>
        </p:spPr>
        <p:txBody>
          <a:bodyPr rtlCol="0" anchor="ctr"/>
          <a:lstStyle/>
          <a:p>
            <a:pPr algn="ctr"/>
            <a:endParaRPr/>
          </a:p>
        </p:txBody>
      </p:sp>
      <p:sp>
        <p:nvSpPr>
          <p:cNvPr id="14" name="TextBox 13"/>
          <p:cNvSpPr txBox="1"/>
          <p:nvPr/>
        </p:nvSpPr>
        <p:spPr>
          <a:xfrm>
            <a:off x="998640" y="239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AX</a:t>
            </a:r>
          </a:p>
        </p:txBody>
      </p:sp>
      <p:sp>
        <p:nvSpPr>
          <p:cNvPr id="15" name="TextBox 14"/>
          <p:cNvSpPr txBox="1"/>
          <p:nvPr/>
        </p:nvSpPr>
        <p:spPr>
          <a:xfrm>
            <a:off x="998640" y="268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1,337</a:t>
            </a:r>
          </a:p>
        </p:txBody>
      </p:sp>
      <p:sp>
        <p:nvSpPr>
          <p:cNvPr id="16" name="Rectangle 15"/>
          <p:cNvSpPr/>
          <p:nvPr/>
        </p:nvSpPr>
        <p:spPr>
          <a:xfrm>
            <a:off x="2508640" y="2308760"/>
            <a:ext cx="1450000" cy="900000"/>
          </a:xfrm>
          <a:prstGeom prst="rect">
            <a:avLst/>
          </a:prstGeom>
          <a:solidFill>
            <a:srgbClr val="F1EDE4"/>
          </a:solidFill>
          <a:ln>
            <a:noFill/>
          </a:ln>
          <a:effectLst/>
        </p:spPr>
        <p:txBody>
          <a:bodyPr rtlCol="0" anchor="ctr"/>
          <a:lstStyle/>
          <a:p>
            <a:pPr algn="ctr"/>
            <a:endParaRPr/>
          </a:p>
        </p:txBody>
      </p:sp>
      <p:sp>
        <p:nvSpPr>
          <p:cNvPr id="17" name="TextBox 16"/>
          <p:cNvSpPr txBox="1"/>
          <p:nvPr/>
        </p:nvSpPr>
        <p:spPr>
          <a:xfrm>
            <a:off x="2508640" y="239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AY</a:t>
            </a:r>
          </a:p>
        </p:txBody>
      </p:sp>
      <p:sp>
        <p:nvSpPr>
          <p:cNvPr id="18" name="TextBox 17"/>
          <p:cNvSpPr txBox="1"/>
          <p:nvPr/>
        </p:nvSpPr>
        <p:spPr>
          <a:xfrm>
            <a:off x="2508640" y="268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1,739</a:t>
            </a:r>
          </a:p>
        </p:txBody>
      </p:sp>
      <p:sp>
        <p:nvSpPr>
          <p:cNvPr id="19" name="Rectangle 18"/>
          <p:cNvSpPr/>
          <p:nvPr/>
        </p:nvSpPr>
        <p:spPr>
          <a:xfrm>
            <a:off x="4018640" y="2308760"/>
            <a:ext cx="1450000" cy="900000"/>
          </a:xfrm>
          <a:prstGeom prst="rect">
            <a:avLst/>
          </a:prstGeom>
          <a:solidFill>
            <a:srgbClr val="F1EDE4"/>
          </a:solidFill>
          <a:ln>
            <a:noFill/>
          </a:ln>
          <a:effectLst/>
        </p:spPr>
        <p:txBody>
          <a:bodyPr rtlCol="0" anchor="ctr"/>
          <a:lstStyle/>
          <a:p>
            <a:pPr algn="ctr"/>
            <a:endParaRPr/>
          </a:p>
        </p:txBody>
      </p:sp>
      <p:sp>
        <p:nvSpPr>
          <p:cNvPr id="20" name="TextBox 19"/>
          <p:cNvSpPr txBox="1"/>
          <p:nvPr/>
        </p:nvSpPr>
        <p:spPr>
          <a:xfrm>
            <a:off x="4018640" y="239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AZ</a:t>
            </a:r>
          </a:p>
        </p:txBody>
      </p:sp>
      <p:sp>
        <p:nvSpPr>
          <p:cNvPr id="21" name="TextBox 20"/>
          <p:cNvSpPr txBox="1"/>
          <p:nvPr/>
        </p:nvSpPr>
        <p:spPr>
          <a:xfrm>
            <a:off x="4018640" y="268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360</a:t>
            </a:r>
          </a:p>
        </p:txBody>
      </p:sp>
      <p:sp>
        <p:nvSpPr>
          <p:cNvPr id="22" name="Rectangle 21"/>
          <p:cNvSpPr/>
          <p:nvPr/>
        </p:nvSpPr>
        <p:spPr>
          <a:xfrm>
            <a:off x="998640" y="3268760"/>
            <a:ext cx="1450000" cy="900000"/>
          </a:xfrm>
          <a:prstGeom prst="rect">
            <a:avLst/>
          </a:prstGeom>
          <a:solidFill>
            <a:srgbClr val="F1EDE4"/>
          </a:solidFill>
          <a:ln>
            <a:noFill/>
          </a:ln>
          <a:effectLst/>
        </p:spPr>
        <p:txBody>
          <a:bodyPr rtlCol="0" anchor="ctr"/>
          <a:lstStyle/>
          <a:p>
            <a:pPr algn="ctr"/>
            <a:endParaRPr/>
          </a:p>
        </p:txBody>
      </p:sp>
      <p:sp>
        <p:nvSpPr>
          <p:cNvPr id="23" name="TextBox 22"/>
          <p:cNvSpPr txBox="1"/>
          <p:nvPr/>
        </p:nvSpPr>
        <p:spPr>
          <a:xfrm>
            <a:off x="998640" y="335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BX</a:t>
            </a:r>
          </a:p>
        </p:txBody>
      </p:sp>
      <p:sp>
        <p:nvSpPr>
          <p:cNvPr id="24" name="TextBox 23"/>
          <p:cNvSpPr txBox="1"/>
          <p:nvPr/>
        </p:nvSpPr>
        <p:spPr>
          <a:xfrm>
            <a:off x="998640" y="364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214</a:t>
            </a:r>
          </a:p>
        </p:txBody>
      </p:sp>
      <p:sp>
        <p:nvSpPr>
          <p:cNvPr id="25" name="Rectangle 24"/>
          <p:cNvSpPr/>
          <p:nvPr/>
        </p:nvSpPr>
        <p:spPr>
          <a:xfrm>
            <a:off x="2508640" y="3268760"/>
            <a:ext cx="1450000" cy="900000"/>
          </a:xfrm>
          <a:prstGeom prst="rect">
            <a:avLst/>
          </a:prstGeom>
          <a:solidFill>
            <a:srgbClr val="F1EDE4"/>
          </a:solidFill>
          <a:ln>
            <a:noFill/>
          </a:ln>
          <a:effectLst/>
        </p:spPr>
        <p:txBody>
          <a:bodyPr rtlCol="0" anchor="ctr"/>
          <a:lstStyle/>
          <a:p>
            <a:pPr algn="ctr"/>
            <a:endParaRPr/>
          </a:p>
        </p:txBody>
      </p:sp>
      <p:sp>
        <p:nvSpPr>
          <p:cNvPr id="26" name="TextBox 25"/>
          <p:cNvSpPr txBox="1"/>
          <p:nvPr/>
        </p:nvSpPr>
        <p:spPr>
          <a:xfrm>
            <a:off x="2508640" y="335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BY</a:t>
            </a:r>
          </a:p>
        </p:txBody>
      </p:sp>
      <p:sp>
        <p:nvSpPr>
          <p:cNvPr id="27" name="TextBox 26"/>
          <p:cNvSpPr txBox="1"/>
          <p:nvPr/>
        </p:nvSpPr>
        <p:spPr>
          <a:xfrm>
            <a:off x="2508640" y="364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1,576</a:t>
            </a:r>
          </a:p>
        </p:txBody>
      </p:sp>
      <p:sp>
        <p:nvSpPr>
          <p:cNvPr id="28" name="Rectangle 27"/>
          <p:cNvSpPr/>
          <p:nvPr/>
        </p:nvSpPr>
        <p:spPr>
          <a:xfrm>
            <a:off x="4018640" y="3268760"/>
            <a:ext cx="1450000" cy="900000"/>
          </a:xfrm>
          <a:prstGeom prst="rect">
            <a:avLst/>
          </a:prstGeom>
          <a:solidFill>
            <a:srgbClr val="F1EDE4"/>
          </a:solidFill>
          <a:ln>
            <a:noFill/>
          </a:ln>
          <a:effectLst/>
        </p:spPr>
        <p:txBody>
          <a:bodyPr rtlCol="0" anchor="ctr"/>
          <a:lstStyle/>
          <a:p>
            <a:pPr algn="ctr"/>
            <a:endParaRPr/>
          </a:p>
        </p:txBody>
      </p:sp>
      <p:sp>
        <p:nvSpPr>
          <p:cNvPr id="29" name="TextBox 28"/>
          <p:cNvSpPr txBox="1"/>
          <p:nvPr/>
        </p:nvSpPr>
        <p:spPr>
          <a:xfrm>
            <a:off x="4018640" y="335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BZ</a:t>
            </a:r>
          </a:p>
        </p:txBody>
      </p:sp>
      <p:sp>
        <p:nvSpPr>
          <p:cNvPr id="30" name="TextBox 29"/>
          <p:cNvSpPr txBox="1"/>
          <p:nvPr/>
        </p:nvSpPr>
        <p:spPr>
          <a:xfrm>
            <a:off x="4018640" y="364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837</a:t>
            </a:r>
          </a:p>
        </p:txBody>
      </p:sp>
      <p:sp>
        <p:nvSpPr>
          <p:cNvPr id="31" name="Rectangle 30"/>
          <p:cNvSpPr/>
          <p:nvPr/>
        </p:nvSpPr>
        <p:spPr>
          <a:xfrm>
            <a:off x="998640" y="4228760"/>
            <a:ext cx="1450000" cy="900000"/>
          </a:xfrm>
          <a:prstGeom prst="rect">
            <a:avLst/>
          </a:prstGeom>
          <a:solidFill>
            <a:srgbClr val="F1EDE4"/>
          </a:solidFill>
          <a:ln>
            <a:noFill/>
          </a:ln>
          <a:effectLst/>
        </p:spPr>
        <p:txBody>
          <a:bodyPr rtlCol="0" anchor="ctr"/>
          <a:lstStyle/>
          <a:p>
            <a:pPr algn="ctr"/>
            <a:endParaRPr/>
          </a:p>
        </p:txBody>
      </p:sp>
      <p:sp>
        <p:nvSpPr>
          <p:cNvPr id="32" name="TextBox 31"/>
          <p:cNvSpPr txBox="1"/>
          <p:nvPr/>
        </p:nvSpPr>
        <p:spPr>
          <a:xfrm>
            <a:off x="998640" y="431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CX</a:t>
            </a:r>
          </a:p>
        </p:txBody>
      </p:sp>
      <p:sp>
        <p:nvSpPr>
          <p:cNvPr id="33" name="TextBox 32"/>
          <p:cNvSpPr txBox="1"/>
          <p:nvPr/>
        </p:nvSpPr>
        <p:spPr>
          <a:xfrm>
            <a:off x="998640" y="460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15</a:t>
            </a:r>
          </a:p>
        </p:txBody>
      </p:sp>
      <p:sp>
        <p:nvSpPr>
          <p:cNvPr id="34" name="Rectangle 33"/>
          <p:cNvSpPr/>
          <p:nvPr/>
        </p:nvSpPr>
        <p:spPr>
          <a:xfrm>
            <a:off x="2508640" y="4228760"/>
            <a:ext cx="1450000" cy="900000"/>
          </a:xfrm>
          <a:prstGeom prst="rect">
            <a:avLst/>
          </a:prstGeom>
          <a:solidFill>
            <a:srgbClr val="F1EDE4"/>
          </a:solidFill>
          <a:ln>
            <a:noFill/>
          </a:ln>
          <a:effectLst/>
        </p:spPr>
        <p:txBody>
          <a:bodyPr rtlCol="0" anchor="ctr"/>
          <a:lstStyle/>
          <a:p>
            <a:pPr algn="ctr"/>
            <a:endParaRPr/>
          </a:p>
        </p:txBody>
      </p:sp>
      <p:sp>
        <p:nvSpPr>
          <p:cNvPr id="35" name="TextBox 34"/>
          <p:cNvSpPr txBox="1"/>
          <p:nvPr/>
        </p:nvSpPr>
        <p:spPr>
          <a:xfrm>
            <a:off x="2508640" y="4318760"/>
            <a:ext cx="1450000" cy="300000"/>
          </a:xfrm>
          <a:prstGeom prst="rect">
            <a:avLst/>
          </a:prstGeom>
          <a:noFill/>
        </p:spPr>
        <p:txBody>
          <a:bodyPr wrap="square" lIns="0" tIns="0" rIns="0" bIns="0" anchor="t">
            <a:noAutofit/>
          </a:bodyPr>
          <a:lstStyle/>
          <a:p>
            <a:pPr algn="ctr"/>
            <a:r>
              <a:rPr sz="1400" b="1" i="0">
                <a:solidFill>
                  <a:srgbClr val="50596C"/>
                </a:solidFill>
                <a:latin typeface="Calibri"/>
                <a:ea typeface="Calibri"/>
                <a:cs typeface="Calibri"/>
              </a:rPr>
              <a:t>CY</a:t>
            </a:r>
          </a:p>
        </p:txBody>
      </p:sp>
      <p:sp>
        <p:nvSpPr>
          <p:cNvPr id="36" name="TextBox 35"/>
          <p:cNvSpPr txBox="1"/>
          <p:nvPr/>
        </p:nvSpPr>
        <p:spPr>
          <a:xfrm>
            <a:off x="2508640" y="4608760"/>
            <a:ext cx="1450000" cy="450000"/>
          </a:xfrm>
          <a:prstGeom prst="rect">
            <a:avLst/>
          </a:prstGeom>
          <a:noFill/>
        </p:spPr>
        <p:txBody>
          <a:bodyPr wrap="square" lIns="0" tIns="0" rIns="0" bIns="0" anchor="t">
            <a:noAutofit/>
          </a:bodyPr>
          <a:lstStyle/>
          <a:p>
            <a:pPr algn="ctr"/>
            <a:r>
              <a:rPr sz="2200" b="1" i="0">
                <a:solidFill>
                  <a:srgbClr val="1B2A4A"/>
                </a:solidFill>
                <a:latin typeface="Cambria"/>
                <a:ea typeface="Cambria"/>
                <a:cs typeface="Cambria"/>
              </a:rPr>
              <a:t>561</a:t>
            </a:r>
          </a:p>
        </p:txBody>
      </p:sp>
      <p:sp>
        <p:nvSpPr>
          <p:cNvPr id="37" name="Rectangle 36"/>
          <p:cNvSpPr/>
          <p:nvPr/>
        </p:nvSpPr>
        <p:spPr>
          <a:xfrm>
            <a:off x="4018640" y="4228760"/>
            <a:ext cx="1450000" cy="900000"/>
          </a:xfrm>
          <a:prstGeom prst="rect">
            <a:avLst/>
          </a:prstGeom>
          <a:solidFill>
            <a:srgbClr val="E0662B"/>
          </a:solidFill>
          <a:ln>
            <a:noFill/>
          </a:ln>
          <a:effectLst/>
        </p:spPr>
        <p:txBody>
          <a:bodyPr rtlCol="0" anchor="ctr"/>
          <a:lstStyle/>
          <a:p>
            <a:pPr algn="ctr"/>
            <a:endParaRPr/>
          </a:p>
        </p:txBody>
      </p:sp>
      <p:sp>
        <p:nvSpPr>
          <p:cNvPr id="38" name="TextBox 37"/>
          <p:cNvSpPr txBox="1"/>
          <p:nvPr/>
        </p:nvSpPr>
        <p:spPr>
          <a:xfrm>
            <a:off x="4018640" y="4318760"/>
            <a:ext cx="1450000" cy="300000"/>
          </a:xfrm>
          <a:prstGeom prst="rect">
            <a:avLst/>
          </a:prstGeom>
          <a:noFill/>
        </p:spPr>
        <p:txBody>
          <a:bodyPr wrap="square" lIns="0" tIns="0" rIns="0" bIns="0" anchor="t">
            <a:noAutofit/>
          </a:bodyPr>
          <a:lstStyle/>
          <a:p>
            <a:pPr algn="ctr"/>
            <a:r>
              <a:rPr sz="1400" b="1" i="0">
                <a:solidFill>
                  <a:srgbClr val="FFFFFF"/>
                </a:solidFill>
                <a:latin typeface="Calibri"/>
                <a:ea typeface="Calibri"/>
                <a:cs typeface="Calibri"/>
              </a:rPr>
              <a:t>CZ</a:t>
            </a:r>
          </a:p>
        </p:txBody>
      </p:sp>
      <p:sp>
        <p:nvSpPr>
          <p:cNvPr id="39" name="TextBox 38"/>
          <p:cNvSpPr txBox="1"/>
          <p:nvPr/>
        </p:nvSpPr>
        <p:spPr>
          <a:xfrm>
            <a:off x="4018640" y="4608760"/>
            <a:ext cx="1450000" cy="450000"/>
          </a:xfrm>
          <a:prstGeom prst="rect">
            <a:avLst/>
          </a:prstGeom>
          <a:noFill/>
        </p:spPr>
        <p:txBody>
          <a:bodyPr wrap="square" lIns="0" tIns="0" rIns="0" bIns="0" anchor="t">
            <a:noAutofit/>
          </a:bodyPr>
          <a:lstStyle/>
          <a:p>
            <a:pPr algn="ctr"/>
            <a:r>
              <a:rPr sz="2200" b="1" i="0">
                <a:solidFill>
                  <a:srgbClr val="FFFFFF"/>
                </a:solidFill>
                <a:latin typeface="Cambria"/>
                <a:ea typeface="Cambria"/>
                <a:cs typeface="Cambria"/>
              </a:rPr>
              <a:t>2,192</a:t>
            </a:r>
          </a:p>
        </p:txBody>
      </p:sp>
      <p:sp>
        <p:nvSpPr>
          <p:cNvPr id="40" name="TextBox 39"/>
          <p:cNvSpPr txBox="1"/>
          <p:nvPr/>
        </p:nvSpPr>
        <p:spPr>
          <a:xfrm>
            <a:off x="6150000" y="1508760"/>
            <a:ext cx="5000000" cy="300000"/>
          </a:xfrm>
          <a:prstGeom prst="rect">
            <a:avLst/>
          </a:prstGeom>
          <a:noFill/>
        </p:spPr>
        <p:txBody>
          <a:bodyPr wrap="square" lIns="0" tIns="0" rIns="0" bIns="0" anchor="t">
            <a:noAutofit/>
          </a:bodyPr>
          <a:lstStyle/>
          <a:p>
            <a:pPr algn="l"/>
            <a:r>
              <a:rPr sz="1600" b="1" i="0">
                <a:solidFill>
                  <a:srgbClr val="E0662B"/>
                </a:solidFill>
                <a:latin typeface="Calibri"/>
                <a:ea typeface="Calibri"/>
                <a:cs typeface="Calibri"/>
              </a:rPr>
              <a:t>How groups are defined</a:t>
            </a:r>
          </a:p>
        </p:txBody>
      </p:sp>
      <p:sp>
        <p:nvSpPr>
          <p:cNvPr id="41" name="TextBox 40"/>
          <p:cNvSpPr txBox="1"/>
          <p:nvPr/>
        </p:nvSpPr>
        <p:spPr>
          <a:xfrm>
            <a:off x="6150000" y="1808760"/>
            <a:ext cx="5000000" cy="76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ABC by revenue, XYZ by the coefficient of variation (CV) of weekly demand over the last 364 history days. Thresholds stated for the synthetic data: 80%/95% and 0.5/1.0.</a:t>
            </a:r>
          </a:p>
        </p:txBody>
      </p:sp>
      <p:sp>
        <p:nvSpPr>
          <p:cNvPr id="42" name="TextBox 41"/>
          <p:cNvSpPr txBox="1"/>
          <p:nvPr/>
        </p:nvSpPr>
        <p:spPr>
          <a:xfrm>
            <a:off x="6150000" y="2588760"/>
            <a:ext cx="5000000" cy="300000"/>
          </a:xfrm>
          <a:prstGeom prst="rect">
            <a:avLst/>
          </a:prstGeom>
          <a:noFill/>
        </p:spPr>
        <p:txBody>
          <a:bodyPr wrap="square" lIns="0" tIns="0" rIns="0" bIns="0" anchor="t">
            <a:noAutofit/>
          </a:bodyPr>
          <a:lstStyle/>
          <a:p>
            <a:pPr algn="l"/>
            <a:r>
              <a:rPr sz="1600" b="1" i="0">
                <a:solidFill>
                  <a:srgbClr val="E0662B"/>
                </a:solidFill>
                <a:latin typeface="Calibri"/>
                <a:ea typeface="Calibri"/>
                <a:cs typeface="Calibri"/>
              </a:rPr>
              <a:t>Window forecasts</a:t>
            </a:r>
          </a:p>
        </p:txBody>
      </p:sp>
      <p:sp>
        <p:nvSpPr>
          <p:cNvPr id="43" name="TextBox 42"/>
          <p:cNvSpPr txBox="1"/>
          <p:nvPr/>
        </p:nvSpPr>
        <p:spPr>
          <a:xfrm>
            <a:off x="6150000" y="2888760"/>
            <a:ext cx="5000000" cy="76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Forecasts at 546 daily origins for windows L + R ∈ {2, 4, 8, 10, 14}; 19 quantile levels up to 0.999 are stored.</a:t>
            </a:r>
          </a:p>
        </p:txBody>
      </p:sp>
      <p:sp>
        <p:nvSpPr>
          <p:cNvPr id="44" name="TextBox 43"/>
          <p:cNvSpPr txBox="1"/>
          <p:nvPr/>
        </p:nvSpPr>
        <p:spPr>
          <a:xfrm>
            <a:off x="6150000" y="3668760"/>
            <a:ext cx="5000000" cy="300000"/>
          </a:xfrm>
          <a:prstGeom prst="rect">
            <a:avLst/>
          </a:prstGeom>
          <a:noFill/>
        </p:spPr>
        <p:txBody>
          <a:bodyPr wrap="square" lIns="0" tIns="0" rIns="0" bIns="0" anchor="t">
            <a:noAutofit/>
          </a:bodyPr>
          <a:lstStyle/>
          <a:p>
            <a:pPr algn="l"/>
            <a:r>
              <a:rPr sz="1600" b="1" i="0">
                <a:solidFill>
                  <a:srgbClr val="E0662B"/>
                </a:solidFill>
                <a:latin typeface="Calibri"/>
                <a:ea typeface="Calibri"/>
                <a:cs typeface="Calibri"/>
              </a:rPr>
              <a:t>Time split</a:t>
            </a:r>
          </a:p>
        </p:txBody>
      </p:sp>
      <p:sp>
        <p:nvSpPr>
          <p:cNvPr id="45" name="TextBox 44"/>
          <p:cNvSpPr txBox="1"/>
          <p:nvPr/>
        </p:nvSpPr>
        <p:spPr>
          <a:xfrm>
            <a:off x="6150000" y="3968760"/>
            <a:ext cx="5000000" cy="76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History d 0–1394; validation d 1395–1576 (26 weeks); test d 1577–1940 (52 weeks).</a:t>
            </a:r>
          </a:p>
        </p:txBody>
      </p:sp>
      <p:sp>
        <p:nvSpPr>
          <p:cNvPr id="46" name="TextBox 45"/>
          <p:cNvSpPr txBox="1"/>
          <p:nvPr/>
        </p:nvSpPr>
        <p:spPr>
          <a:xfrm>
            <a:off x="6150000" y="4748760"/>
            <a:ext cx="5000000" cy="300000"/>
          </a:xfrm>
          <a:prstGeom prst="rect">
            <a:avLst/>
          </a:prstGeom>
          <a:noFill/>
        </p:spPr>
        <p:txBody>
          <a:bodyPr wrap="square" lIns="0" tIns="0" rIns="0" bIns="0" anchor="t">
            <a:noAutofit/>
          </a:bodyPr>
          <a:lstStyle/>
          <a:p>
            <a:pPr algn="l"/>
            <a:r>
              <a:rPr sz="1600" b="1" i="0">
                <a:solidFill>
                  <a:srgbClr val="E0662B"/>
                </a:solidFill>
                <a:latin typeface="Calibri"/>
                <a:ea typeface="Calibri"/>
                <a:cs typeface="Calibri"/>
              </a:rPr>
              <a:t>Inventory simulation</a:t>
            </a:r>
          </a:p>
        </p:txBody>
      </p:sp>
      <p:sp>
        <p:nvSpPr>
          <p:cNvPr id="47" name="TextBox 46"/>
          <p:cNvSpPr txBox="1"/>
          <p:nvPr/>
        </p:nvSpPr>
        <p:spPr>
          <a:xfrm>
            <a:off x="6150000" y="5048760"/>
            <a:ext cx="5000000" cy="76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Holding 0.2% of price/day, lost sale 35% of price, order fee 2 per order line; opening stock = 28-day mean demand × (L + 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743200" cy="1188720"/>
          </a:xfrm>
          <a:prstGeom prst="rect">
            <a:avLst/>
          </a:prstGeom>
          <a:noFill/>
        </p:spPr>
        <p:txBody>
          <a:bodyPr wrap="square" lIns="0" tIns="0" rIns="0" bIns="0" anchor="t">
            <a:noAutofit/>
          </a:bodyPr>
          <a:lstStyle/>
          <a:p>
            <a:pPr algn="l"/>
            <a:r>
              <a:rPr sz="7200" b="1" i="0">
                <a:solidFill>
                  <a:srgbClr val="E0662B"/>
                </a:solidFill>
                <a:latin typeface="Cambria"/>
                <a:ea typeface="Cambria"/>
                <a:cs typeface="Cambria"/>
              </a:rPr>
              <a:t>3</a:t>
            </a:r>
          </a:p>
        </p:txBody>
      </p:sp>
      <p:sp>
        <p:nvSpPr>
          <p:cNvPr id="3" name="TextBox 2"/>
          <p:cNvSpPr txBox="1"/>
          <p:nvPr/>
        </p:nvSpPr>
        <p:spPr>
          <a:xfrm>
            <a:off x="749808" y="2468880"/>
            <a:ext cx="3657600" cy="292608"/>
          </a:xfrm>
          <a:prstGeom prst="rect">
            <a:avLst/>
          </a:prstGeom>
          <a:noFill/>
        </p:spPr>
        <p:txBody>
          <a:bodyPr wrap="square" lIns="0" tIns="0" rIns="0" bIns="0" anchor="t">
            <a:noAutofit/>
          </a:bodyPr>
          <a:lstStyle/>
          <a:p>
            <a:pPr algn="l"/>
            <a:r>
              <a:rPr sz="1400" b="0" i="0">
                <a:solidFill>
                  <a:srgbClr val="F3D9C6"/>
                </a:solidFill>
                <a:latin typeface="Calibri"/>
                <a:ea typeface="Calibri"/>
                <a:cs typeface="Calibri"/>
              </a:rPr>
              <a:t>STAGE 3 · TRAINING</a:t>
            </a:r>
          </a:p>
        </p:txBody>
      </p:sp>
      <p:sp>
        <p:nvSpPr>
          <p:cNvPr id="4" name="TextBox 3"/>
          <p:cNvSpPr txBox="1"/>
          <p:nvPr/>
        </p:nvSpPr>
        <p:spPr>
          <a:xfrm>
            <a:off x="731520" y="2761488"/>
            <a:ext cx="10607040" cy="914400"/>
          </a:xfrm>
          <a:prstGeom prst="rect">
            <a:avLst/>
          </a:prstGeom>
          <a:noFill/>
        </p:spPr>
        <p:txBody>
          <a:bodyPr wrap="square" lIns="0" tIns="0" rIns="0" bIns="0" anchor="t">
            <a:noAutofit/>
          </a:bodyPr>
          <a:lstStyle/>
          <a:p>
            <a:pPr algn="l"/>
            <a:r>
              <a:rPr sz="3700" b="1" i="0">
                <a:solidFill>
                  <a:srgbClr val="FFFFFF"/>
                </a:solidFill>
                <a:latin typeface="Cambria"/>
                <a:ea typeface="Cambria"/>
                <a:cs typeface="Cambria"/>
              </a:rPr>
              <a:t>Training: forecast, then control</a:t>
            </a:r>
          </a:p>
        </p:txBody>
      </p:sp>
      <p:sp>
        <p:nvSpPr>
          <p:cNvPr id="5" name="TextBox 4"/>
          <p:cNvSpPr txBox="1"/>
          <p:nvPr/>
        </p:nvSpPr>
        <p:spPr>
          <a:xfrm>
            <a:off x="731520" y="3749040"/>
            <a:ext cx="9875520" cy="914400"/>
          </a:xfrm>
          <a:prstGeom prst="rect">
            <a:avLst/>
          </a:prstGeom>
          <a:noFill/>
        </p:spPr>
        <p:txBody>
          <a:bodyPr wrap="square" lIns="0" tIns="0" rIns="0" bIns="0" anchor="t">
            <a:noAutofit/>
          </a:bodyPr>
          <a:lstStyle/>
          <a:p>
            <a:pPr algn="l"/>
            <a:r>
              <a:rPr sz="1800" b="0" i="0">
                <a:solidFill>
                  <a:srgbClr val="D8DCE6"/>
                </a:solidFill>
                <a:latin typeface="Calibri"/>
                <a:ea typeface="Calibri"/>
                <a:cs typeface="Calibri"/>
              </a:rPr>
              <a:t>How do we forecast demand, then turn the forecast into orders that keep the service promise?</a:t>
            </a:r>
          </a:p>
        </p:txBody>
      </p:sp>
      <p:sp>
        <p:nvSpPr>
          <p:cNvPr id="6" name="TextBox 5"/>
          <p:cNvSpPr txBox="1"/>
          <p:nvPr/>
        </p:nvSpPr>
        <p:spPr>
          <a:xfrm>
            <a:off x="731520" y="5989320"/>
            <a:ext cx="9144000" cy="292608"/>
          </a:xfrm>
          <a:prstGeom prst="rect">
            <a:avLst/>
          </a:prstGeom>
          <a:noFill/>
        </p:spPr>
        <p:txBody>
          <a:bodyPr wrap="square" lIns="0" tIns="0" rIns="0" bIns="0" anchor="t">
            <a:noAutofit/>
          </a:bodyPr>
          <a:lstStyle/>
          <a:p>
            <a:pPr algn="l"/>
            <a:r>
              <a:rPr sz="1250" b="0" i="0">
                <a:solidFill>
                  <a:srgbClr val="9AA2B4"/>
                </a:solidFill>
                <a:latin typeface="Calibri"/>
                <a:ea typeface="Calibri"/>
                <a:cs typeface="Calibri"/>
              </a:rPr>
              <a:t>3A  forecasting Ensemble  ·  3B  C³-OUT: idea, loop, equations, theorem, learned θ</a:t>
            </a:r>
          </a:p>
        </p:txBody>
      </p:sp>
      <p:sp>
        <p:nvSpPr>
          <p:cNvPr id="7" name="TextBox 6"/>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9AA2B4"/>
                </a:solidFill>
                <a:latin typeface="Calibri"/>
                <a:ea typeface="Calibri"/>
                <a:cs typeface="Calibri"/>
              </a:rPr>
              <a:t>DFIOS · SE_18 · FPT University Da Nang · SET490</a:t>
            </a:r>
          </a:p>
        </p:txBody>
      </p:sp>
      <p:sp>
        <p:nvSpPr>
          <p:cNvPr id="8" name="TextBox 7"/>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9AA2B4"/>
                </a:solidFill>
                <a:latin typeface="Calibri"/>
                <a:ea typeface="Calibri"/>
                <a:cs typeface="Calibri"/>
              </a:rPr>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3A · ENSEMBLE</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3A: four trained models, blended with weights fitted on validation</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19</a:t>
            </a:r>
          </a:p>
        </p:txBody>
      </p:sp>
      <p:sp>
        <p:nvSpPr>
          <p:cNvPr id="6" name="Rectangle 5"/>
          <p:cNvSpPr/>
          <p:nvPr/>
        </p:nvSpPr>
        <p:spPr>
          <a:xfrm>
            <a:off x="548640" y="1508760"/>
            <a:ext cx="7650000" cy="400000"/>
          </a:xfrm>
          <a:prstGeom prst="rect">
            <a:avLst/>
          </a:prstGeom>
          <a:solidFill>
            <a:srgbClr val="1B2A4A"/>
          </a:solidFill>
          <a:ln>
            <a:noFill/>
          </a:ln>
          <a:effectLst/>
        </p:spPr>
        <p:txBody>
          <a:bodyPr rtlCol="0" anchor="ctr"/>
          <a:lstStyle/>
          <a:p>
            <a:pPr algn="ctr"/>
            <a:endParaRPr/>
          </a:p>
        </p:txBody>
      </p:sp>
      <p:sp>
        <p:nvSpPr>
          <p:cNvPr id="7" name="TextBox 6"/>
          <p:cNvSpPr txBox="1"/>
          <p:nvPr/>
        </p:nvSpPr>
        <p:spPr>
          <a:xfrm>
            <a:off x="640080" y="1508760"/>
            <a:ext cx="13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Model</a:t>
            </a:r>
          </a:p>
        </p:txBody>
      </p:sp>
      <p:sp>
        <p:nvSpPr>
          <p:cNvPr id="8" name="TextBox 7"/>
          <p:cNvSpPr txBox="1"/>
          <p:nvPr/>
        </p:nvSpPr>
        <p:spPr>
          <a:xfrm>
            <a:off x="2140080" y="1508760"/>
            <a:ext cx="27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Type and loss</a:t>
            </a:r>
          </a:p>
        </p:txBody>
      </p:sp>
      <p:sp>
        <p:nvSpPr>
          <p:cNvPr id="9" name="TextBox 8"/>
          <p:cNvSpPr txBox="1"/>
          <p:nvPr/>
        </p:nvSpPr>
        <p:spPr>
          <a:xfrm>
            <a:off x="5040080" y="1508760"/>
            <a:ext cx="306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Training notes</a:t>
            </a:r>
          </a:p>
        </p:txBody>
      </p:sp>
      <p:sp>
        <p:nvSpPr>
          <p:cNvPr id="10" name="TextBox 9"/>
          <p:cNvSpPr txBox="1"/>
          <p:nvPr/>
        </p:nvSpPr>
        <p:spPr>
          <a:xfrm>
            <a:off x="640080" y="1908760"/>
            <a:ext cx="1317120" cy="4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LightGBM</a:t>
            </a:r>
          </a:p>
        </p:txBody>
      </p:sp>
      <p:sp>
        <p:nvSpPr>
          <p:cNvPr id="11" name="TextBox 10"/>
          <p:cNvSpPr txBox="1"/>
          <p:nvPr/>
        </p:nvSpPr>
        <p:spPr>
          <a:xfrm>
            <a:off x="2140080" y="1908760"/>
            <a:ext cx="271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Gradient boosting, Tweedie p = 1.1</a:t>
            </a:r>
          </a:p>
        </p:txBody>
      </p:sp>
      <p:sp>
        <p:nvSpPr>
          <p:cNvPr id="12" name="TextBox 11"/>
          <p:cNvSpPr txBox="1"/>
          <p:nvPr/>
        </p:nvSpPr>
        <p:spPr>
          <a:xfrm>
            <a:off x="5040080" y="1908760"/>
            <a:ext cx="306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Random search, 6 trials</a:t>
            </a:r>
          </a:p>
        </p:txBody>
      </p:sp>
      <p:sp>
        <p:nvSpPr>
          <p:cNvPr id="13" name="Rectangle 12"/>
          <p:cNvSpPr/>
          <p:nvPr/>
        </p:nvSpPr>
        <p:spPr>
          <a:xfrm>
            <a:off x="548640" y="2328760"/>
            <a:ext cx="7650000" cy="420000"/>
          </a:xfrm>
          <a:prstGeom prst="rect">
            <a:avLst/>
          </a:prstGeom>
          <a:solidFill>
            <a:srgbClr val="E3DED3"/>
          </a:solidFill>
          <a:ln>
            <a:noFill/>
          </a:ln>
          <a:effectLst/>
        </p:spPr>
        <p:txBody>
          <a:bodyPr rtlCol="0" anchor="ctr"/>
          <a:lstStyle/>
          <a:p>
            <a:pPr algn="ctr"/>
            <a:endParaRPr/>
          </a:p>
        </p:txBody>
      </p:sp>
      <p:sp>
        <p:nvSpPr>
          <p:cNvPr id="14" name="TextBox 13"/>
          <p:cNvSpPr txBox="1"/>
          <p:nvPr/>
        </p:nvSpPr>
        <p:spPr>
          <a:xfrm>
            <a:off x="640080" y="2328760"/>
            <a:ext cx="1317120" cy="4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XGBoost</a:t>
            </a:r>
          </a:p>
        </p:txBody>
      </p:sp>
      <p:sp>
        <p:nvSpPr>
          <p:cNvPr id="15" name="TextBox 14"/>
          <p:cNvSpPr txBox="1"/>
          <p:nvPr/>
        </p:nvSpPr>
        <p:spPr>
          <a:xfrm>
            <a:off x="2140080" y="2328760"/>
            <a:ext cx="271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Gradient boosting, Tweedie</a:t>
            </a:r>
          </a:p>
        </p:txBody>
      </p:sp>
      <p:sp>
        <p:nvSpPr>
          <p:cNvPr id="16" name="TextBox 15"/>
          <p:cNvSpPr txBox="1"/>
          <p:nvPr/>
        </p:nvSpPr>
        <p:spPr>
          <a:xfrm>
            <a:off x="5040080" y="2328760"/>
            <a:ext cx="306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GPU, QuantileDMatrix</a:t>
            </a:r>
          </a:p>
        </p:txBody>
      </p:sp>
      <p:sp>
        <p:nvSpPr>
          <p:cNvPr id="17" name="TextBox 16"/>
          <p:cNvSpPr txBox="1"/>
          <p:nvPr/>
        </p:nvSpPr>
        <p:spPr>
          <a:xfrm>
            <a:off x="640080" y="2748760"/>
            <a:ext cx="1317120" cy="4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LSTM</a:t>
            </a:r>
          </a:p>
        </p:txBody>
      </p:sp>
      <p:sp>
        <p:nvSpPr>
          <p:cNvPr id="18" name="TextBox 17"/>
          <p:cNvSpPr txBox="1"/>
          <p:nvPr/>
        </p:nvSpPr>
        <p:spPr>
          <a:xfrm>
            <a:off x="2140080" y="2748760"/>
            <a:ext cx="271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Seq2seq, Tweedie</a:t>
            </a:r>
          </a:p>
        </p:txBody>
      </p:sp>
      <p:sp>
        <p:nvSpPr>
          <p:cNvPr id="19" name="TextBox 18"/>
          <p:cNvSpPr txBox="1"/>
          <p:nvPr/>
        </p:nvSpPr>
        <p:spPr>
          <a:xfrm>
            <a:off x="5040080" y="2748760"/>
            <a:ext cx="306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Encoder 112 days, decoder 28 days</a:t>
            </a:r>
          </a:p>
        </p:txBody>
      </p:sp>
      <p:sp>
        <p:nvSpPr>
          <p:cNvPr id="20" name="Rectangle 19"/>
          <p:cNvSpPr/>
          <p:nvPr/>
        </p:nvSpPr>
        <p:spPr>
          <a:xfrm>
            <a:off x="548640" y="3168760"/>
            <a:ext cx="7650000" cy="780000"/>
          </a:xfrm>
          <a:prstGeom prst="rect">
            <a:avLst/>
          </a:prstGeom>
          <a:solidFill>
            <a:srgbClr val="E3DED3"/>
          </a:solidFill>
          <a:ln>
            <a:noFill/>
          </a:ln>
          <a:effectLst/>
        </p:spPr>
        <p:txBody>
          <a:bodyPr rtlCol="0" anchor="ctr"/>
          <a:lstStyle/>
          <a:p>
            <a:pPr algn="ctr"/>
            <a:endParaRPr/>
          </a:p>
        </p:txBody>
      </p:sp>
      <p:sp>
        <p:nvSpPr>
          <p:cNvPr id="21" name="TextBox 20"/>
          <p:cNvSpPr txBox="1"/>
          <p:nvPr/>
        </p:nvSpPr>
        <p:spPr>
          <a:xfrm>
            <a:off x="640080" y="3168760"/>
            <a:ext cx="1317120" cy="78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TFT</a:t>
            </a:r>
          </a:p>
        </p:txBody>
      </p:sp>
      <p:sp>
        <p:nvSpPr>
          <p:cNvPr id="22" name="TextBox 21"/>
          <p:cNvSpPr txBox="1"/>
          <p:nvPr/>
        </p:nvSpPr>
        <p:spPr>
          <a:xfrm>
            <a:off x="2140080" y="3168760"/>
            <a:ext cx="2717120" cy="78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Temporal Fusion Transformer, pinball loss</a:t>
            </a:r>
          </a:p>
        </p:txBody>
      </p:sp>
      <p:sp>
        <p:nvSpPr>
          <p:cNvPr id="23" name="TextBox 22"/>
          <p:cNvSpPr txBox="1"/>
          <p:nvPr/>
        </p:nvSpPr>
        <p:spPr>
          <a:xfrm>
            <a:off x="5040080" y="3168760"/>
            <a:ext cx="3067120" cy="78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Pure PyTorch: GRN, VSN, interpretable attention; quantiles via cumsum(softplus)</a:t>
            </a:r>
          </a:p>
        </p:txBody>
      </p:sp>
      <p:sp>
        <p:nvSpPr>
          <p:cNvPr id="24" name="TextBox 23"/>
          <p:cNvSpPr txBox="1"/>
          <p:nvPr/>
        </p:nvSpPr>
        <p:spPr>
          <a:xfrm>
            <a:off x="640080" y="3948760"/>
            <a:ext cx="1317120" cy="4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Seasonal Naive</a:t>
            </a:r>
          </a:p>
        </p:txBody>
      </p:sp>
      <p:sp>
        <p:nvSpPr>
          <p:cNvPr id="25" name="TextBox 24"/>
          <p:cNvSpPr txBox="1"/>
          <p:nvPr/>
        </p:nvSpPr>
        <p:spPr>
          <a:xfrm>
            <a:off x="2140080" y="3948760"/>
            <a:ext cx="271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Baseline, period m = 7</a:t>
            </a:r>
          </a:p>
        </p:txBody>
      </p:sp>
      <p:sp>
        <p:nvSpPr>
          <p:cNvPr id="26" name="TextBox 25"/>
          <p:cNvSpPr txBox="1"/>
          <p:nvPr/>
        </p:nvSpPr>
        <p:spPr>
          <a:xfrm>
            <a:off x="5040080" y="3948760"/>
            <a:ext cx="3067120" cy="4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No training</a:t>
            </a:r>
          </a:p>
        </p:txBody>
      </p:sp>
      <p:sp>
        <p:nvSpPr>
          <p:cNvPr id="27" name="Rectangle 26"/>
          <p:cNvSpPr/>
          <p:nvPr/>
        </p:nvSpPr>
        <p:spPr>
          <a:xfrm>
            <a:off x="548640" y="4368760"/>
            <a:ext cx="7650000" cy="520000"/>
          </a:xfrm>
          <a:prstGeom prst="rect">
            <a:avLst/>
          </a:prstGeom>
          <a:solidFill>
            <a:srgbClr val="E3DED3"/>
          </a:solidFill>
          <a:ln>
            <a:noFill/>
          </a:ln>
          <a:effectLst/>
        </p:spPr>
        <p:txBody>
          <a:bodyPr rtlCol="0" anchor="ctr"/>
          <a:lstStyle/>
          <a:p>
            <a:pPr algn="ctr"/>
            <a:endParaRPr/>
          </a:p>
        </p:txBody>
      </p:sp>
      <p:sp>
        <p:nvSpPr>
          <p:cNvPr id="28" name="TextBox 27"/>
          <p:cNvSpPr txBox="1"/>
          <p:nvPr/>
        </p:nvSpPr>
        <p:spPr>
          <a:xfrm>
            <a:off x="640080" y="4368760"/>
            <a:ext cx="1317120" cy="5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ARIMA</a:t>
            </a:r>
          </a:p>
        </p:txBody>
      </p:sp>
      <p:sp>
        <p:nvSpPr>
          <p:cNvPr id="29" name="TextBox 28"/>
          <p:cNvSpPr txBox="1"/>
          <p:nvPr/>
        </p:nvSpPr>
        <p:spPr>
          <a:xfrm>
            <a:off x="2140080" y="4368760"/>
            <a:ext cx="2717120" cy="5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Baseline, 200-SKU stratified sample</a:t>
            </a:r>
          </a:p>
        </p:txBody>
      </p:sp>
      <p:sp>
        <p:nvSpPr>
          <p:cNvPr id="30" name="TextBox 29"/>
          <p:cNvSpPr txBox="1"/>
          <p:nvPr/>
        </p:nvSpPr>
        <p:spPr>
          <a:xfrm>
            <a:off x="5040080" y="4368760"/>
            <a:ext cx="3067120" cy="5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Pick between 2 orders by AIC</a:t>
            </a:r>
          </a:p>
        </p:txBody>
      </p:sp>
      <p:sp>
        <p:nvSpPr>
          <p:cNvPr id="31" name="Rectangle 30"/>
          <p:cNvSpPr/>
          <p:nvPr/>
        </p:nvSpPr>
        <p:spPr>
          <a:xfrm>
            <a:off x="8398640" y="1508760"/>
            <a:ext cx="3244720" cy="4250000"/>
          </a:xfrm>
          <a:prstGeom prst="rect">
            <a:avLst/>
          </a:prstGeom>
          <a:solidFill>
            <a:srgbClr val="F1EDE4"/>
          </a:solidFill>
          <a:ln>
            <a:noFill/>
          </a:ln>
          <a:effectLst/>
        </p:spPr>
        <p:txBody>
          <a:bodyPr rtlCol="0" anchor="ctr"/>
          <a:lstStyle/>
          <a:p>
            <a:pPr algn="ctr"/>
            <a:endParaRPr/>
          </a:p>
        </p:txBody>
      </p:sp>
      <p:sp>
        <p:nvSpPr>
          <p:cNvPr id="32" name="Rectangle 31"/>
          <p:cNvSpPr/>
          <p:nvPr/>
        </p:nvSpPr>
        <p:spPr>
          <a:xfrm>
            <a:off x="8398640" y="1508760"/>
            <a:ext cx="3244720" cy="54864"/>
          </a:xfrm>
          <a:prstGeom prst="rect">
            <a:avLst/>
          </a:prstGeom>
          <a:solidFill>
            <a:srgbClr val="E0662B"/>
          </a:solidFill>
          <a:ln>
            <a:noFill/>
          </a:ln>
          <a:effectLst/>
        </p:spPr>
        <p:txBody>
          <a:bodyPr rtlCol="0" anchor="ctr"/>
          <a:lstStyle/>
          <a:p>
            <a:pPr algn="ctr"/>
            <a:endParaRPr/>
          </a:p>
        </p:txBody>
      </p:sp>
      <p:sp>
        <p:nvSpPr>
          <p:cNvPr id="33" name="TextBox 32"/>
          <p:cNvSpPr txBox="1"/>
          <p:nvPr/>
        </p:nvSpPr>
        <p:spPr>
          <a:xfrm>
            <a:off x="8548640" y="1628760"/>
            <a:ext cx="2944720" cy="35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Ensemble weights</a:t>
            </a:r>
          </a:p>
        </p:txBody>
      </p:sp>
      <p:sp>
        <p:nvSpPr>
          <p:cNvPr id="34" name="TextBox 33"/>
          <p:cNvSpPr txBox="1"/>
          <p:nvPr/>
        </p:nvSpPr>
        <p:spPr>
          <a:xfrm>
            <a:off x="8548640" y="1978760"/>
            <a:ext cx="2944720" cy="30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NNLS on the validation set</a:t>
            </a:r>
          </a:p>
        </p:txBody>
      </p:sp>
      <p:sp>
        <p:nvSpPr>
          <p:cNvPr id="35" name="TextBox 34"/>
          <p:cNvSpPr txBox="1"/>
          <p:nvPr/>
        </p:nvSpPr>
        <p:spPr>
          <a:xfrm>
            <a:off x="8548640" y="2458760"/>
            <a:ext cx="1000000" cy="380000"/>
          </a:xfrm>
          <a:prstGeom prst="rect">
            <a:avLst/>
          </a:prstGeom>
          <a:noFill/>
        </p:spPr>
        <p:txBody>
          <a:bodyPr wrap="square" lIns="0" tIns="0" rIns="0" bIns="0" anchor="ctr">
            <a:noAutofit/>
          </a:bodyPr>
          <a:lstStyle/>
          <a:p>
            <a:pPr algn="l"/>
            <a:r>
              <a:rPr sz="1500" b="0" i="0">
                <a:solidFill>
                  <a:srgbClr val="1B2A4A"/>
                </a:solidFill>
                <a:latin typeface="Calibri"/>
                <a:ea typeface="Calibri"/>
                <a:cs typeface="Calibri"/>
              </a:rPr>
              <a:t>LightGBM</a:t>
            </a:r>
          </a:p>
        </p:txBody>
      </p:sp>
      <p:sp>
        <p:nvSpPr>
          <p:cNvPr id="36" name="Rectangle 35"/>
          <p:cNvSpPr/>
          <p:nvPr/>
        </p:nvSpPr>
        <p:spPr>
          <a:xfrm>
            <a:off x="9548640" y="2518760"/>
            <a:ext cx="1141943" cy="260000"/>
          </a:xfrm>
          <a:prstGeom prst="rect">
            <a:avLst/>
          </a:prstGeom>
          <a:solidFill>
            <a:srgbClr val="E0662B"/>
          </a:solidFill>
          <a:ln>
            <a:noFill/>
          </a:ln>
          <a:effectLst/>
        </p:spPr>
        <p:txBody>
          <a:bodyPr rtlCol="0" anchor="ctr"/>
          <a:lstStyle/>
          <a:p>
            <a:pPr algn="ctr"/>
            <a:endParaRPr/>
          </a:p>
        </p:txBody>
      </p:sp>
      <p:sp>
        <p:nvSpPr>
          <p:cNvPr id="37" name="TextBox 36"/>
          <p:cNvSpPr txBox="1"/>
          <p:nvPr/>
        </p:nvSpPr>
        <p:spPr>
          <a:xfrm>
            <a:off x="10750583" y="2458760"/>
            <a:ext cx="700000" cy="38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0.441</a:t>
            </a:r>
          </a:p>
        </p:txBody>
      </p:sp>
      <p:sp>
        <p:nvSpPr>
          <p:cNvPr id="38" name="TextBox 37"/>
          <p:cNvSpPr txBox="1"/>
          <p:nvPr/>
        </p:nvSpPr>
        <p:spPr>
          <a:xfrm>
            <a:off x="8548640" y="3078760"/>
            <a:ext cx="1000000" cy="380000"/>
          </a:xfrm>
          <a:prstGeom prst="rect">
            <a:avLst/>
          </a:prstGeom>
          <a:noFill/>
        </p:spPr>
        <p:txBody>
          <a:bodyPr wrap="square" lIns="0" tIns="0" rIns="0" bIns="0" anchor="ctr">
            <a:noAutofit/>
          </a:bodyPr>
          <a:lstStyle/>
          <a:p>
            <a:pPr algn="l"/>
            <a:r>
              <a:rPr sz="1500" b="0" i="0">
                <a:solidFill>
                  <a:srgbClr val="1B2A4A"/>
                </a:solidFill>
                <a:latin typeface="Calibri"/>
                <a:ea typeface="Calibri"/>
                <a:cs typeface="Calibri"/>
              </a:rPr>
              <a:t>XGBoost</a:t>
            </a:r>
          </a:p>
        </p:txBody>
      </p:sp>
      <p:sp>
        <p:nvSpPr>
          <p:cNvPr id="39" name="Rectangle 38"/>
          <p:cNvSpPr/>
          <p:nvPr/>
        </p:nvSpPr>
        <p:spPr>
          <a:xfrm>
            <a:off x="9548640" y="3138760"/>
            <a:ext cx="201976" cy="260000"/>
          </a:xfrm>
          <a:prstGeom prst="rect">
            <a:avLst/>
          </a:prstGeom>
          <a:solidFill>
            <a:srgbClr val="9AA2B4"/>
          </a:solidFill>
          <a:ln>
            <a:noFill/>
          </a:ln>
          <a:effectLst/>
        </p:spPr>
        <p:txBody>
          <a:bodyPr rtlCol="0" anchor="ctr"/>
          <a:lstStyle/>
          <a:p>
            <a:pPr algn="ctr"/>
            <a:endParaRPr/>
          </a:p>
        </p:txBody>
      </p:sp>
      <p:sp>
        <p:nvSpPr>
          <p:cNvPr id="40" name="TextBox 39"/>
          <p:cNvSpPr txBox="1"/>
          <p:nvPr/>
        </p:nvSpPr>
        <p:spPr>
          <a:xfrm>
            <a:off x="9810616" y="3078760"/>
            <a:ext cx="700000" cy="38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0.078</a:t>
            </a:r>
          </a:p>
        </p:txBody>
      </p:sp>
      <p:sp>
        <p:nvSpPr>
          <p:cNvPr id="41" name="TextBox 40"/>
          <p:cNvSpPr txBox="1"/>
          <p:nvPr/>
        </p:nvSpPr>
        <p:spPr>
          <a:xfrm>
            <a:off x="8548640" y="3698760"/>
            <a:ext cx="1000000" cy="380000"/>
          </a:xfrm>
          <a:prstGeom prst="rect">
            <a:avLst/>
          </a:prstGeom>
          <a:noFill/>
        </p:spPr>
        <p:txBody>
          <a:bodyPr wrap="square" lIns="0" tIns="0" rIns="0" bIns="0" anchor="ctr">
            <a:noAutofit/>
          </a:bodyPr>
          <a:lstStyle/>
          <a:p>
            <a:pPr algn="l"/>
            <a:r>
              <a:rPr sz="1500" b="0" i="0">
                <a:solidFill>
                  <a:srgbClr val="1B2A4A"/>
                </a:solidFill>
                <a:latin typeface="Calibri"/>
                <a:ea typeface="Calibri"/>
                <a:cs typeface="Calibri"/>
              </a:rPr>
              <a:t>LSTM</a:t>
            </a:r>
          </a:p>
        </p:txBody>
      </p:sp>
      <p:sp>
        <p:nvSpPr>
          <p:cNvPr id="42" name="TextBox 41"/>
          <p:cNvSpPr txBox="1"/>
          <p:nvPr/>
        </p:nvSpPr>
        <p:spPr>
          <a:xfrm>
            <a:off x="9608640" y="3698760"/>
            <a:ext cx="700000" cy="38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0.000</a:t>
            </a:r>
          </a:p>
        </p:txBody>
      </p:sp>
      <p:sp>
        <p:nvSpPr>
          <p:cNvPr id="43" name="TextBox 42"/>
          <p:cNvSpPr txBox="1"/>
          <p:nvPr/>
        </p:nvSpPr>
        <p:spPr>
          <a:xfrm>
            <a:off x="8548640" y="4318760"/>
            <a:ext cx="1000000" cy="380000"/>
          </a:xfrm>
          <a:prstGeom prst="rect">
            <a:avLst/>
          </a:prstGeom>
          <a:noFill/>
        </p:spPr>
        <p:txBody>
          <a:bodyPr wrap="square" lIns="0" tIns="0" rIns="0" bIns="0" anchor="ctr">
            <a:noAutofit/>
          </a:bodyPr>
          <a:lstStyle/>
          <a:p>
            <a:pPr algn="l"/>
            <a:r>
              <a:rPr sz="1500" b="0" i="0">
                <a:solidFill>
                  <a:srgbClr val="1B2A4A"/>
                </a:solidFill>
                <a:latin typeface="Calibri"/>
                <a:ea typeface="Calibri"/>
                <a:cs typeface="Calibri"/>
              </a:rPr>
              <a:t>TFT</a:t>
            </a:r>
          </a:p>
        </p:txBody>
      </p:sp>
      <p:sp>
        <p:nvSpPr>
          <p:cNvPr id="44" name="Rectangle 43"/>
          <p:cNvSpPr/>
          <p:nvPr/>
        </p:nvSpPr>
        <p:spPr>
          <a:xfrm>
            <a:off x="9548640" y="4378760"/>
            <a:ext cx="1245520" cy="260000"/>
          </a:xfrm>
          <a:prstGeom prst="rect">
            <a:avLst/>
          </a:prstGeom>
          <a:solidFill>
            <a:srgbClr val="E0662B"/>
          </a:solidFill>
          <a:ln>
            <a:noFill/>
          </a:ln>
          <a:effectLst/>
        </p:spPr>
        <p:txBody>
          <a:bodyPr rtlCol="0" anchor="ctr"/>
          <a:lstStyle/>
          <a:p>
            <a:pPr algn="ctr"/>
            <a:endParaRPr/>
          </a:p>
        </p:txBody>
      </p:sp>
      <p:sp>
        <p:nvSpPr>
          <p:cNvPr id="45" name="TextBox 44"/>
          <p:cNvSpPr txBox="1"/>
          <p:nvPr/>
        </p:nvSpPr>
        <p:spPr>
          <a:xfrm>
            <a:off x="10854160" y="4318760"/>
            <a:ext cx="700000" cy="38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0.481</a:t>
            </a:r>
          </a:p>
        </p:txBody>
      </p:sp>
      <p:sp>
        <p:nvSpPr>
          <p:cNvPr id="46" name="TextBox 45"/>
          <p:cNvSpPr txBox="1"/>
          <p:nvPr/>
        </p:nvSpPr>
        <p:spPr>
          <a:xfrm>
            <a:off x="8548640" y="5008760"/>
            <a:ext cx="2944720" cy="700000"/>
          </a:xfrm>
          <a:prstGeom prst="rect">
            <a:avLst/>
          </a:prstGeom>
          <a:noFill/>
        </p:spPr>
        <p:txBody>
          <a:bodyPr wrap="square" lIns="0" tIns="0" rIns="0" bIns="0" anchor="t">
            <a:noAutofit/>
          </a:bodyPr>
          <a:lstStyle/>
          <a:p>
            <a:pPr algn="l"/>
            <a:r>
              <a:rPr sz="1350" b="0" i="0">
                <a:solidFill>
                  <a:srgbClr val="50596C"/>
                </a:solidFill>
                <a:latin typeface="Calibri"/>
                <a:ea typeface="Calibri"/>
                <a:cs typeface="Calibri"/>
              </a:rPr>
              <a:t>The two largest (TFT, LightGBM) hold 92% of the weight; LSTM gets zero.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3B · C³-OUT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3B: C³-OUT closes the gap between the quantile and delivered service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20</a:t>
            </a:r>
          </a:p>
        </p:txBody>
      </p:sp>
      <p:sp>
        <p:nvSpPr>
          <p:cNvPr id="6" name="Rectangle 5"/>
          <p:cNvSpPr/>
          <p:nvPr/>
        </p:nvSpPr>
        <p:spPr>
          <a:xfrm>
            <a:off x="548640" y="1508760"/>
            <a:ext cx="3560000" cy="245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508760"/>
            <a:ext cx="3560000" cy="54864"/>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98640" y="1618760"/>
            <a:ext cx="700000" cy="6000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C</a:t>
            </a:r>
          </a:p>
        </p:txBody>
      </p:sp>
      <p:sp>
        <p:nvSpPr>
          <p:cNvPr id="9" name="TextBox 8"/>
          <p:cNvSpPr txBox="1"/>
          <p:nvPr/>
        </p:nvSpPr>
        <p:spPr>
          <a:xfrm>
            <a:off x="698640" y="2268760"/>
            <a:ext cx="3260000" cy="400000"/>
          </a:xfrm>
          <a:prstGeom prst="rect">
            <a:avLst/>
          </a:prstGeom>
          <a:noFill/>
        </p:spPr>
        <p:txBody>
          <a:bodyPr wrap="square" lIns="0" tIns="0" rIns="0" bIns="0" anchor="t">
            <a:noAutofit/>
          </a:bodyPr>
          <a:lstStyle/>
          <a:p>
            <a:pPr algn="l"/>
            <a:r>
              <a:rPr sz="1550" b="1" i="0">
                <a:solidFill>
                  <a:srgbClr val="1B2A4A"/>
                </a:solidFill>
                <a:latin typeface="Cambria"/>
                <a:ea typeface="Cambria"/>
                <a:cs typeface="Cambria"/>
              </a:rPr>
              <a:t>Calibrated</a:t>
            </a:r>
          </a:p>
        </p:txBody>
      </p:sp>
      <p:sp>
        <p:nvSpPr>
          <p:cNvPr id="10" name="TextBox 9"/>
          <p:cNvSpPr txBox="1"/>
          <p:nvPr/>
        </p:nvSpPr>
        <p:spPr>
          <a:xfrm>
            <a:off x="698640" y="2708760"/>
            <a:ext cx="3260000" cy="1200000"/>
          </a:xfrm>
          <a:prstGeom prst="rect">
            <a:avLst/>
          </a:prstGeom>
          <a:noFill/>
        </p:spPr>
        <p:txBody>
          <a:bodyPr wrap="square" lIns="0" tIns="0" rIns="0" bIns="0" anchor="t">
            <a:noAutofit/>
          </a:bodyPr>
          <a:lstStyle/>
          <a:p>
            <a:pPr algn="l"/>
            <a:r>
              <a:rPr sz="1500" b="0" i="0">
                <a:solidFill>
                  <a:srgbClr val="1B2A4A"/>
                </a:solidFill>
                <a:latin typeface="Calibri"/>
                <a:ea typeface="Calibri"/>
                <a:cs typeface="Calibri"/>
              </a:rPr>
              <a:t>Multiply the model’s quantile by a factor e</a:t>
            </a:r>
            <a:r>
              <a:rPr sz="1500" b="0" i="0" baseline="30000">
                <a:solidFill>
                  <a:srgbClr val="1B2A4A"/>
                </a:solidFill>
                <a:latin typeface="Calibri"/>
                <a:ea typeface="Calibri"/>
                <a:cs typeface="Calibri"/>
              </a:rPr>
              <a:t>θ</a:t>
            </a:r>
            <a:r>
              <a:rPr sz="1500" b="0" i="0">
                <a:solidFill>
                  <a:srgbClr val="1B2A4A"/>
                </a:solidFill>
                <a:latin typeface="Calibri"/>
                <a:ea typeface="Calibri"/>
                <a:cs typeface="Calibri"/>
              </a:rPr>
              <a:t>. The factor is 1 when θ = 0; above 1 means more stock.</a:t>
            </a:r>
          </a:p>
        </p:txBody>
      </p:sp>
      <p:sp>
        <p:nvSpPr>
          <p:cNvPr id="11" name="Rectangle 10"/>
          <p:cNvSpPr/>
          <p:nvPr/>
        </p:nvSpPr>
        <p:spPr>
          <a:xfrm>
            <a:off x="4268640" y="1508760"/>
            <a:ext cx="3560000" cy="2450000"/>
          </a:xfrm>
          <a:prstGeom prst="rect">
            <a:avLst/>
          </a:prstGeom>
          <a:solidFill>
            <a:srgbClr val="F1EDE4"/>
          </a:solidFill>
          <a:ln>
            <a:noFill/>
          </a:ln>
          <a:effectLst/>
        </p:spPr>
        <p:txBody>
          <a:bodyPr rtlCol="0" anchor="ctr"/>
          <a:lstStyle/>
          <a:p>
            <a:pPr algn="ctr"/>
            <a:endParaRPr/>
          </a:p>
        </p:txBody>
      </p:sp>
      <p:sp>
        <p:nvSpPr>
          <p:cNvPr id="12" name="Rectangle 11"/>
          <p:cNvSpPr/>
          <p:nvPr/>
        </p:nvSpPr>
        <p:spPr>
          <a:xfrm>
            <a:off x="4268640" y="1508760"/>
            <a:ext cx="3560000" cy="54864"/>
          </a:xfrm>
          <a:prstGeom prst="rect">
            <a:avLst/>
          </a:prstGeom>
          <a:solidFill>
            <a:srgbClr val="E0662B"/>
          </a:solidFill>
          <a:ln>
            <a:noFill/>
          </a:ln>
          <a:effectLst/>
        </p:spPr>
        <p:txBody>
          <a:bodyPr rtlCol="0" anchor="ctr"/>
          <a:lstStyle/>
          <a:p>
            <a:pPr algn="ctr"/>
            <a:endParaRPr/>
          </a:p>
        </p:txBody>
      </p:sp>
      <p:sp>
        <p:nvSpPr>
          <p:cNvPr id="13" name="TextBox 12"/>
          <p:cNvSpPr txBox="1"/>
          <p:nvPr/>
        </p:nvSpPr>
        <p:spPr>
          <a:xfrm>
            <a:off x="4418640" y="1618760"/>
            <a:ext cx="700000" cy="6000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C</a:t>
            </a:r>
          </a:p>
        </p:txBody>
      </p:sp>
      <p:sp>
        <p:nvSpPr>
          <p:cNvPr id="14" name="TextBox 13"/>
          <p:cNvSpPr txBox="1"/>
          <p:nvPr/>
        </p:nvSpPr>
        <p:spPr>
          <a:xfrm>
            <a:off x="4418640" y="2268760"/>
            <a:ext cx="3260000" cy="400000"/>
          </a:xfrm>
          <a:prstGeom prst="rect">
            <a:avLst/>
          </a:prstGeom>
          <a:noFill/>
        </p:spPr>
        <p:txBody>
          <a:bodyPr wrap="square" lIns="0" tIns="0" rIns="0" bIns="0" anchor="t">
            <a:noAutofit/>
          </a:bodyPr>
          <a:lstStyle/>
          <a:p>
            <a:pPr algn="l"/>
            <a:r>
              <a:rPr sz="1550" b="1" i="0">
                <a:solidFill>
                  <a:srgbClr val="1B2A4A"/>
                </a:solidFill>
                <a:latin typeface="Cambria"/>
                <a:ea typeface="Cambria"/>
                <a:cs typeface="Cambria"/>
              </a:rPr>
              <a:t>Class-pooled</a:t>
            </a:r>
          </a:p>
        </p:txBody>
      </p:sp>
      <p:sp>
        <p:nvSpPr>
          <p:cNvPr id="15" name="TextBox 14"/>
          <p:cNvSpPr txBox="1"/>
          <p:nvPr/>
        </p:nvSpPr>
        <p:spPr>
          <a:xfrm>
            <a:off x="4418640" y="2708760"/>
            <a:ext cx="3260000" cy="1200000"/>
          </a:xfrm>
          <a:prstGeom prst="rect">
            <a:avLst/>
          </a:prstGeom>
          <a:noFill/>
        </p:spPr>
        <p:txBody>
          <a:bodyPr wrap="square" lIns="0" tIns="0" rIns="0" bIns="0" anchor="t">
            <a:noAutofit/>
          </a:bodyPr>
          <a:lstStyle/>
          <a:p>
            <a:pPr algn="l"/>
            <a:r>
              <a:rPr sz="1500" b="0" i="0">
                <a:solidFill>
                  <a:srgbClr val="1B2A4A"/>
                </a:solidFill>
                <a:latin typeface="Calibri"/>
                <a:ea typeface="Calibri"/>
                <a:cs typeface="Calibri"/>
              </a:rPr>
              <a:t>One θ per ABC×XYZ group (hundreds of SKUs). The group’s stockout signal is far less noisy than a single SKU’s.</a:t>
            </a:r>
          </a:p>
        </p:txBody>
      </p:sp>
      <p:sp>
        <p:nvSpPr>
          <p:cNvPr id="16" name="Rectangle 15"/>
          <p:cNvSpPr/>
          <p:nvPr/>
        </p:nvSpPr>
        <p:spPr>
          <a:xfrm>
            <a:off x="7988640" y="1508760"/>
            <a:ext cx="3560000" cy="2450000"/>
          </a:xfrm>
          <a:prstGeom prst="rect">
            <a:avLst/>
          </a:prstGeom>
          <a:solidFill>
            <a:srgbClr val="F1EDE4"/>
          </a:solidFill>
          <a:ln>
            <a:noFill/>
          </a:ln>
          <a:effectLst/>
        </p:spPr>
        <p:txBody>
          <a:bodyPr rtlCol="0" anchor="ctr"/>
          <a:lstStyle/>
          <a:p>
            <a:pPr algn="ctr"/>
            <a:endParaRPr/>
          </a:p>
        </p:txBody>
      </p:sp>
      <p:sp>
        <p:nvSpPr>
          <p:cNvPr id="17" name="Rectangle 16"/>
          <p:cNvSpPr/>
          <p:nvPr/>
        </p:nvSpPr>
        <p:spPr>
          <a:xfrm>
            <a:off x="7988640" y="1508760"/>
            <a:ext cx="3560000" cy="54864"/>
          </a:xfrm>
          <a:prstGeom prst="rect">
            <a:avLst/>
          </a:prstGeom>
          <a:solidFill>
            <a:srgbClr val="E0662B"/>
          </a:solidFill>
          <a:ln>
            <a:noFill/>
          </a:ln>
          <a:effectLst/>
        </p:spPr>
        <p:txBody>
          <a:bodyPr rtlCol="0" anchor="ctr"/>
          <a:lstStyle/>
          <a:p>
            <a:pPr algn="ctr"/>
            <a:endParaRPr/>
          </a:p>
        </p:txBody>
      </p:sp>
      <p:sp>
        <p:nvSpPr>
          <p:cNvPr id="18" name="TextBox 17"/>
          <p:cNvSpPr txBox="1"/>
          <p:nvPr/>
        </p:nvSpPr>
        <p:spPr>
          <a:xfrm>
            <a:off x="8138640" y="1618760"/>
            <a:ext cx="700000" cy="600000"/>
          </a:xfrm>
          <a:prstGeom prst="rect">
            <a:avLst/>
          </a:prstGeom>
          <a:noFill/>
        </p:spPr>
        <p:txBody>
          <a:bodyPr wrap="square" lIns="0" tIns="0" rIns="0" bIns="0" anchor="t">
            <a:noAutofit/>
          </a:bodyPr>
          <a:lstStyle/>
          <a:p>
            <a:pPr algn="l"/>
            <a:r>
              <a:rPr sz="4000" b="1" i="0">
                <a:solidFill>
                  <a:srgbClr val="E0662B"/>
                </a:solidFill>
                <a:latin typeface="Cambria"/>
                <a:ea typeface="Cambria"/>
                <a:cs typeface="Cambria"/>
              </a:rPr>
              <a:t>C</a:t>
            </a:r>
          </a:p>
        </p:txBody>
      </p:sp>
      <p:sp>
        <p:nvSpPr>
          <p:cNvPr id="19" name="TextBox 18"/>
          <p:cNvSpPr txBox="1"/>
          <p:nvPr/>
        </p:nvSpPr>
        <p:spPr>
          <a:xfrm>
            <a:off x="8138640" y="2268760"/>
            <a:ext cx="3260000" cy="400000"/>
          </a:xfrm>
          <a:prstGeom prst="rect">
            <a:avLst/>
          </a:prstGeom>
          <a:noFill/>
        </p:spPr>
        <p:txBody>
          <a:bodyPr wrap="square" lIns="0" tIns="0" rIns="0" bIns="0" anchor="t">
            <a:noAutofit/>
          </a:bodyPr>
          <a:lstStyle/>
          <a:p>
            <a:pPr algn="l"/>
            <a:r>
              <a:rPr sz="1550" b="1" i="0">
                <a:solidFill>
                  <a:srgbClr val="1B2A4A"/>
                </a:solidFill>
                <a:latin typeface="Cambria"/>
                <a:ea typeface="Cambria"/>
                <a:cs typeface="Cambria"/>
              </a:rPr>
              <a:t>Closed-loop</a:t>
            </a:r>
          </a:p>
        </p:txBody>
      </p:sp>
      <p:sp>
        <p:nvSpPr>
          <p:cNvPr id="20" name="TextBox 19"/>
          <p:cNvSpPr txBox="1"/>
          <p:nvPr/>
        </p:nvSpPr>
        <p:spPr>
          <a:xfrm>
            <a:off x="8138640" y="2708760"/>
            <a:ext cx="3260000" cy="1200000"/>
          </a:xfrm>
          <a:prstGeom prst="rect">
            <a:avLst/>
          </a:prstGeom>
          <a:noFill/>
        </p:spPr>
        <p:txBody>
          <a:bodyPr wrap="square" lIns="0" tIns="0" rIns="0" bIns="0" anchor="t">
            <a:noAutofit/>
          </a:bodyPr>
          <a:lstStyle/>
          <a:p>
            <a:pPr algn="l"/>
            <a:r>
              <a:rPr sz="1500" b="0" i="0">
                <a:solidFill>
                  <a:srgbClr val="1B2A4A"/>
                </a:solidFill>
                <a:latin typeface="Calibri"/>
                <a:ea typeface="Calibri"/>
                <a:cs typeface="Calibri"/>
              </a:rPr>
              <a:t>Update θ from the group’s observed stockout rate, known d reviews later. Independent of the forecasting model.</a:t>
            </a:r>
          </a:p>
        </p:txBody>
      </p:sp>
      <p:sp>
        <p:nvSpPr>
          <p:cNvPr id="21" name="Rectangle 20"/>
          <p:cNvSpPr/>
          <p:nvPr/>
        </p:nvSpPr>
        <p:spPr>
          <a:xfrm>
            <a:off x="548640" y="4158760"/>
            <a:ext cx="11094720" cy="380000"/>
          </a:xfrm>
          <a:prstGeom prst="rect">
            <a:avLst/>
          </a:prstGeom>
          <a:solidFill>
            <a:srgbClr val="1B2A4A"/>
          </a:solidFill>
          <a:ln>
            <a:noFill/>
          </a:ln>
          <a:effectLst/>
        </p:spPr>
        <p:txBody>
          <a:bodyPr rtlCol="0" anchor="ctr"/>
          <a:lstStyle/>
          <a:p>
            <a:pPr algn="ctr"/>
            <a:endParaRPr/>
          </a:p>
        </p:txBody>
      </p:sp>
      <p:sp>
        <p:nvSpPr>
          <p:cNvPr id="22" name="TextBox 21"/>
          <p:cNvSpPr txBox="1"/>
          <p:nvPr/>
        </p:nvSpPr>
        <p:spPr>
          <a:xfrm>
            <a:off x="640080" y="4158760"/>
            <a:ext cx="4417120" cy="38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Why pool by ABC×XYZ</a:t>
            </a:r>
          </a:p>
        </p:txBody>
      </p:sp>
      <p:sp>
        <p:nvSpPr>
          <p:cNvPr id="23" name="TextBox 22"/>
          <p:cNvSpPr txBox="1"/>
          <p:nvPr/>
        </p:nvSpPr>
        <p:spPr>
          <a:xfrm>
            <a:off x="5240080" y="4158760"/>
            <a:ext cx="2017120" cy="38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Group gap</a:t>
            </a:r>
          </a:p>
        </p:txBody>
      </p:sp>
      <p:sp>
        <p:nvSpPr>
          <p:cNvPr id="24" name="TextBox 23"/>
          <p:cNvSpPr txBox="1"/>
          <p:nvPr/>
        </p:nvSpPr>
        <p:spPr>
          <a:xfrm>
            <a:off x="7440080" y="4158760"/>
            <a:ext cx="1817120" cy="38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Cost</a:t>
            </a:r>
          </a:p>
        </p:txBody>
      </p:sp>
      <p:sp>
        <p:nvSpPr>
          <p:cNvPr id="25" name="TextBox 24"/>
          <p:cNvSpPr txBox="1"/>
          <p:nvPr/>
        </p:nvSpPr>
        <p:spPr>
          <a:xfrm>
            <a:off x="9440080" y="4158760"/>
            <a:ext cx="2111840" cy="38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Boundary hits</a:t>
            </a:r>
          </a:p>
        </p:txBody>
      </p:sp>
      <p:sp>
        <p:nvSpPr>
          <p:cNvPr id="26" name="TextBox 25"/>
          <p:cNvSpPr txBox="1"/>
          <p:nvPr/>
        </p:nvSpPr>
        <p:spPr>
          <a:xfrm>
            <a:off x="640080" y="4538760"/>
            <a:ext cx="44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C³-OUT, ABC×XYZ (default)</a:t>
            </a:r>
          </a:p>
        </p:txBody>
      </p:sp>
      <p:sp>
        <p:nvSpPr>
          <p:cNvPr id="27" name="TextBox 26"/>
          <p:cNvSpPr txBox="1"/>
          <p:nvPr/>
        </p:nvSpPr>
        <p:spPr>
          <a:xfrm>
            <a:off x="5240080" y="4538760"/>
            <a:ext cx="201712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0.0012</a:t>
            </a:r>
          </a:p>
        </p:txBody>
      </p:sp>
      <p:sp>
        <p:nvSpPr>
          <p:cNvPr id="28" name="TextBox 27"/>
          <p:cNvSpPr txBox="1"/>
          <p:nvPr/>
        </p:nvSpPr>
        <p:spPr>
          <a:xfrm>
            <a:off x="7440080" y="4538760"/>
            <a:ext cx="18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baseline</a:t>
            </a:r>
          </a:p>
        </p:txBody>
      </p:sp>
      <p:sp>
        <p:nvSpPr>
          <p:cNvPr id="29" name="TextBox 28"/>
          <p:cNvSpPr txBox="1"/>
          <p:nvPr/>
        </p:nvSpPr>
        <p:spPr>
          <a:xfrm>
            <a:off x="9440080" y="4538760"/>
            <a:ext cx="211184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a:t>
            </a:r>
          </a:p>
        </p:txBody>
      </p:sp>
      <p:sp>
        <p:nvSpPr>
          <p:cNvPr id="30" name="Rectangle 29"/>
          <p:cNvSpPr/>
          <p:nvPr/>
        </p:nvSpPr>
        <p:spPr>
          <a:xfrm>
            <a:off x="548640" y="4938760"/>
            <a:ext cx="11094720" cy="400000"/>
          </a:xfrm>
          <a:prstGeom prst="rect">
            <a:avLst/>
          </a:prstGeom>
          <a:solidFill>
            <a:srgbClr val="E3DED3"/>
          </a:solidFill>
          <a:ln>
            <a:noFill/>
          </a:ln>
          <a:effectLst/>
        </p:spPr>
        <p:txBody>
          <a:bodyPr rtlCol="0" anchor="ctr"/>
          <a:lstStyle/>
          <a:p>
            <a:pPr algn="ctr"/>
            <a:endParaRPr/>
          </a:p>
        </p:txBody>
      </p:sp>
      <p:sp>
        <p:nvSpPr>
          <p:cNvPr id="31" name="TextBox 30"/>
          <p:cNvSpPr txBox="1"/>
          <p:nvPr/>
        </p:nvSpPr>
        <p:spPr>
          <a:xfrm>
            <a:off x="640080" y="4938760"/>
            <a:ext cx="44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Pool all SKUs</a:t>
            </a:r>
          </a:p>
        </p:txBody>
      </p:sp>
      <p:sp>
        <p:nvSpPr>
          <p:cNvPr id="32" name="TextBox 31"/>
          <p:cNvSpPr txBox="1"/>
          <p:nvPr/>
        </p:nvSpPr>
        <p:spPr>
          <a:xfrm>
            <a:off x="5240080" y="4938760"/>
            <a:ext cx="20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0.0161</a:t>
            </a:r>
          </a:p>
        </p:txBody>
      </p:sp>
      <p:sp>
        <p:nvSpPr>
          <p:cNvPr id="33" name="TextBox 32"/>
          <p:cNvSpPr txBox="1"/>
          <p:nvPr/>
        </p:nvSpPr>
        <p:spPr>
          <a:xfrm>
            <a:off x="7440080" y="4938760"/>
            <a:ext cx="18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+0.47%</a:t>
            </a:r>
          </a:p>
        </p:txBody>
      </p:sp>
      <p:sp>
        <p:nvSpPr>
          <p:cNvPr id="34" name="TextBox 33"/>
          <p:cNvSpPr txBox="1"/>
          <p:nvPr/>
        </p:nvSpPr>
        <p:spPr>
          <a:xfrm>
            <a:off x="9440080" y="4938760"/>
            <a:ext cx="211184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a:t>
            </a:r>
          </a:p>
        </p:txBody>
      </p:sp>
      <p:sp>
        <p:nvSpPr>
          <p:cNvPr id="35" name="TextBox 34"/>
          <p:cNvSpPr txBox="1"/>
          <p:nvPr/>
        </p:nvSpPr>
        <p:spPr>
          <a:xfrm>
            <a:off x="640080" y="5338760"/>
            <a:ext cx="44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Per-SKU calibration</a:t>
            </a:r>
          </a:p>
        </p:txBody>
      </p:sp>
      <p:sp>
        <p:nvSpPr>
          <p:cNvPr id="36" name="TextBox 35"/>
          <p:cNvSpPr txBox="1"/>
          <p:nvPr/>
        </p:nvSpPr>
        <p:spPr>
          <a:xfrm>
            <a:off x="5240080" y="5338760"/>
            <a:ext cx="20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0.0015</a:t>
            </a:r>
          </a:p>
        </p:txBody>
      </p:sp>
      <p:sp>
        <p:nvSpPr>
          <p:cNvPr id="37" name="TextBox 36"/>
          <p:cNvSpPr txBox="1"/>
          <p:nvPr/>
        </p:nvSpPr>
        <p:spPr>
          <a:xfrm>
            <a:off x="7440080" y="5338760"/>
            <a:ext cx="181712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+21.59%</a:t>
            </a:r>
          </a:p>
        </p:txBody>
      </p:sp>
      <p:sp>
        <p:nvSpPr>
          <p:cNvPr id="38" name="TextBox 37"/>
          <p:cNvSpPr txBox="1"/>
          <p:nvPr/>
        </p:nvSpPr>
        <p:spPr>
          <a:xfrm>
            <a:off x="9440080" y="5338760"/>
            <a:ext cx="211184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3,751.6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3B · C³-OUT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The C³-OUT loop: forecast, order, observe, calibrate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21</a:t>
            </a:r>
          </a:p>
        </p:txBody>
      </p:sp>
      <p:sp>
        <p:nvSpPr>
          <p:cNvPr id="6" name="Rectangle 5"/>
          <p:cNvSpPr/>
          <p:nvPr/>
        </p:nvSpPr>
        <p:spPr>
          <a:xfrm>
            <a:off x="548640" y="1758760"/>
            <a:ext cx="2350000" cy="1000000"/>
          </a:xfrm>
          <a:prstGeom prst="rect">
            <a:avLst/>
          </a:prstGeom>
          <a:solidFill>
            <a:srgbClr val="F1EDE4"/>
          </a:solidFill>
          <a:ln>
            <a:noFill/>
          </a:ln>
          <a:effectLst/>
        </p:spPr>
        <p:txBody>
          <a:bodyPr rtlCol="0" anchor="ctr"/>
          <a:lstStyle/>
          <a:p>
            <a:pPr algn="ctr"/>
            <a:endParaRPr/>
          </a:p>
        </p:txBody>
      </p:sp>
      <p:sp>
        <p:nvSpPr>
          <p:cNvPr id="7" name="TextBox 6"/>
          <p:cNvSpPr txBox="1"/>
          <p:nvPr/>
        </p:nvSpPr>
        <p:spPr>
          <a:xfrm>
            <a:off x="658640" y="1858760"/>
            <a:ext cx="2130000" cy="3500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Forecast model</a:t>
            </a:r>
          </a:p>
        </p:txBody>
      </p:sp>
      <p:sp>
        <p:nvSpPr>
          <p:cNvPr id="8" name="TextBox 7"/>
          <p:cNvSpPr txBox="1"/>
          <p:nvPr/>
        </p:nvSpPr>
        <p:spPr>
          <a:xfrm>
            <a:off x="658640" y="2258760"/>
            <a:ext cx="2130000" cy="48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unchanged, any type</a:t>
            </a:r>
          </a:p>
        </p:txBody>
      </p:sp>
      <p:cxnSp>
        <p:nvCxnSpPr>
          <p:cNvPr id="9" name="Connector 8"/>
          <p:cNvCxnSpPr/>
          <p:nvPr/>
        </p:nvCxnSpPr>
        <p:spPr>
          <a:xfrm>
            <a:off x="2918640" y="2258760"/>
            <a:ext cx="290000" cy="0"/>
          </a:xfrm>
          <a:prstGeom prst="line">
            <a:avLst/>
          </a:prstGeom>
          <a:ln w="25400">
            <a:solidFill>
              <a:srgbClr val="E0662B"/>
            </a:solidFill>
            <a:tailEnd type="triangle" w="med" len="med"/>
          </a:ln>
        </p:spPr>
      </p:cxnSp>
      <p:sp>
        <p:nvSpPr>
          <p:cNvPr id="10" name="Rectangle 9"/>
          <p:cNvSpPr/>
          <p:nvPr/>
        </p:nvSpPr>
        <p:spPr>
          <a:xfrm>
            <a:off x="3228640" y="1758760"/>
            <a:ext cx="2350000" cy="1000000"/>
          </a:xfrm>
          <a:prstGeom prst="rect">
            <a:avLst/>
          </a:prstGeom>
          <a:solidFill>
            <a:srgbClr val="F1EDE4"/>
          </a:solidFill>
          <a:ln>
            <a:noFill/>
          </a:ln>
          <a:effectLst/>
        </p:spPr>
        <p:txBody>
          <a:bodyPr rtlCol="0" anchor="ctr"/>
          <a:lstStyle/>
          <a:p>
            <a:pPr algn="ctr"/>
            <a:endParaRPr/>
          </a:p>
        </p:txBody>
      </p:sp>
      <p:sp>
        <p:nvSpPr>
          <p:cNvPr id="11" name="TextBox 10"/>
          <p:cNvSpPr txBox="1"/>
          <p:nvPr/>
        </p:nvSpPr>
        <p:spPr>
          <a:xfrm>
            <a:off x="3338640" y="1858760"/>
            <a:ext cx="2130000" cy="3500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Window distribution</a:t>
            </a:r>
          </a:p>
        </p:txBody>
      </p:sp>
      <p:sp>
        <p:nvSpPr>
          <p:cNvPr id="12" name="TextBox 11"/>
          <p:cNvSpPr txBox="1"/>
          <p:nvPr/>
        </p:nvSpPr>
        <p:spPr>
          <a:xfrm>
            <a:off x="3338640" y="2258760"/>
            <a:ext cx="2130000" cy="48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quantile Q̂(τ</a:t>
            </a:r>
            <a:r>
              <a:rPr sz="1300" b="0" i="0" baseline="-25000">
                <a:solidFill>
                  <a:srgbClr val="50596C"/>
                </a:solidFill>
                <a:latin typeface="Calibri"/>
                <a:ea typeface="Calibri"/>
                <a:cs typeface="Calibri"/>
              </a:rPr>
              <a:t>g</a:t>
            </a:r>
            <a:r>
              <a:rPr sz="1300" b="0" i="0">
                <a:solidFill>
                  <a:srgbClr val="50596C"/>
                </a:solidFill>
                <a:latin typeface="Calibri"/>
                <a:ea typeface="Calibri"/>
                <a:cs typeface="Calibri"/>
              </a:rPr>
              <a:t>) of L + R days</a:t>
            </a:r>
          </a:p>
        </p:txBody>
      </p:sp>
      <p:cxnSp>
        <p:nvCxnSpPr>
          <p:cNvPr id="13" name="Connector 12"/>
          <p:cNvCxnSpPr/>
          <p:nvPr/>
        </p:nvCxnSpPr>
        <p:spPr>
          <a:xfrm>
            <a:off x="5598640" y="2258760"/>
            <a:ext cx="290000" cy="0"/>
          </a:xfrm>
          <a:prstGeom prst="line">
            <a:avLst/>
          </a:prstGeom>
          <a:ln w="25400">
            <a:solidFill>
              <a:srgbClr val="E0662B"/>
            </a:solidFill>
            <a:tailEnd type="triangle" w="med" len="med"/>
          </a:ln>
        </p:spPr>
      </p:cxnSp>
      <p:sp>
        <p:nvSpPr>
          <p:cNvPr id="14" name="Rectangle 13"/>
          <p:cNvSpPr/>
          <p:nvPr/>
        </p:nvSpPr>
        <p:spPr>
          <a:xfrm>
            <a:off x="5908640" y="1758760"/>
            <a:ext cx="2350000" cy="1000000"/>
          </a:xfrm>
          <a:prstGeom prst="rect">
            <a:avLst/>
          </a:prstGeom>
          <a:solidFill>
            <a:srgbClr val="1B2A4A"/>
          </a:solidFill>
          <a:ln>
            <a:noFill/>
          </a:ln>
          <a:effectLst/>
        </p:spPr>
        <p:txBody>
          <a:bodyPr rtlCol="0" anchor="ctr"/>
          <a:lstStyle/>
          <a:p>
            <a:pPr algn="ctr"/>
            <a:endParaRPr/>
          </a:p>
        </p:txBody>
      </p:sp>
      <p:sp>
        <p:nvSpPr>
          <p:cNvPr id="15" name="TextBox 14"/>
          <p:cNvSpPr txBox="1"/>
          <p:nvPr/>
        </p:nvSpPr>
        <p:spPr>
          <a:xfrm>
            <a:off x="6018640" y="1858760"/>
            <a:ext cx="2130000" cy="350000"/>
          </a:xfrm>
          <a:prstGeom prst="rect">
            <a:avLst/>
          </a:prstGeom>
          <a:noFill/>
        </p:spPr>
        <p:txBody>
          <a:bodyPr wrap="square" lIns="0" tIns="0" rIns="0" bIns="0" anchor="t">
            <a:noAutofit/>
          </a:bodyPr>
          <a:lstStyle/>
          <a:p>
            <a:pPr algn="l"/>
            <a:r>
              <a:rPr sz="1650" b="1" i="0">
                <a:solidFill>
                  <a:srgbClr val="FFFFFF"/>
                </a:solidFill>
                <a:latin typeface="Cambria"/>
                <a:ea typeface="Cambria"/>
                <a:cs typeface="Cambria"/>
              </a:rPr>
              <a:t>Group multiplier</a:t>
            </a:r>
          </a:p>
        </p:txBody>
      </p:sp>
      <p:sp>
        <p:nvSpPr>
          <p:cNvPr id="16" name="TextBox 15"/>
          <p:cNvSpPr txBox="1"/>
          <p:nvPr/>
        </p:nvSpPr>
        <p:spPr>
          <a:xfrm>
            <a:off x="6018640" y="2258760"/>
            <a:ext cx="2130000" cy="480000"/>
          </a:xfrm>
          <a:prstGeom prst="rect">
            <a:avLst/>
          </a:prstGeom>
          <a:noFill/>
        </p:spPr>
        <p:txBody>
          <a:bodyPr wrap="square" lIns="0" tIns="0" rIns="0" bIns="0" anchor="t">
            <a:noAutofit/>
          </a:bodyPr>
          <a:lstStyle/>
          <a:p>
            <a:pPr algn="l"/>
            <a:r>
              <a:rPr sz="1300" b="0" i="0">
                <a:solidFill>
                  <a:srgbClr val="F3D9C6"/>
                </a:solidFill>
                <a:latin typeface="Calibri"/>
                <a:ea typeface="Calibri"/>
                <a:cs typeface="Calibri"/>
              </a:rPr>
              <a:t>times e</a:t>
            </a:r>
            <a:r>
              <a:rPr sz="1300" b="0" i="0" baseline="30000">
                <a:solidFill>
                  <a:srgbClr val="F3D9C6"/>
                </a:solidFill>
                <a:latin typeface="Calibri"/>
                <a:ea typeface="Calibri"/>
                <a:cs typeface="Calibri"/>
              </a:rPr>
              <a:t>θ</a:t>
            </a:r>
            <a:r>
              <a:rPr sz="1300" b="0" i="0">
                <a:solidFill>
                  <a:srgbClr val="F3D9C6"/>
                </a:solidFill>
                <a:latin typeface="Calibri"/>
                <a:ea typeface="Calibri"/>
                <a:cs typeface="Calibri"/>
              </a:rPr>
              <a:t> (one θ per group g)</a:t>
            </a:r>
          </a:p>
        </p:txBody>
      </p:sp>
      <p:cxnSp>
        <p:nvCxnSpPr>
          <p:cNvPr id="17" name="Connector 16"/>
          <p:cNvCxnSpPr/>
          <p:nvPr/>
        </p:nvCxnSpPr>
        <p:spPr>
          <a:xfrm>
            <a:off x="8278640" y="2258760"/>
            <a:ext cx="290000" cy="0"/>
          </a:xfrm>
          <a:prstGeom prst="line">
            <a:avLst/>
          </a:prstGeom>
          <a:ln w="25400">
            <a:solidFill>
              <a:srgbClr val="E0662B"/>
            </a:solidFill>
            <a:tailEnd type="triangle" w="med" len="med"/>
          </a:ln>
        </p:spPr>
      </p:cxnSp>
      <p:sp>
        <p:nvSpPr>
          <p:cNvPr id="18" name="Rectangle 17"/>
          <p:cNvSpPr/>
          <p:nvPr/>
        </p:nvSpPr>
        <p:spPr>
          <a:xfrm>
            <a:off x="8588640" y="1758760"/>
            <a:ext cx="2350000" cy="1000000"/>
          </a:xfrm>
          <a:prstGeom prst="rect">
            <a:avLst/>
          </a:prstGeom>
          <a:solidFill>
            <a:srgbClr val="F1EDE4"/>
          </a:solidFill>
          <a:ln>
            <a:noFill/>
          </a:ln>
          <a:effectLst/>
        </p:spPr>
        <p:txBody>
          <a:bodyPr rtlCol="0" anchor="ctr"/>
          <a:lstStyle/>
          <a:p>
            <a:pPr algn="ctr"/>
            <a:endParaRPr/>
          </a:p>
        </p:txBody>
      </p:sp>
      <p:sp>
        <p:nvSpPr>
          <p:cNvPr id="19" name="TextBox 18"/>
          <p:cNvSpPr txBox="1"/>
          <p:nvPr/>
        </p:nvSpPr>
        <p:spPr>
          <a:xfrm>
            <a:off x="8698640" y="1858760"/>
            <a:ext cx="2130000" cy="3500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Order-up-to level</a:t>
            </a:r>
          </a:p>
        </p:txBody>
      </p:sp>
      <p:sp>
        <p:nvSpPr>
          <p:cNvPr id="20" name="TextBox 19"/>
          <p:cNvSpPr txBox="1"/>
          <p:nvPr/>
        </p:nvSpPr>
        <p:spPr>
          <a:xfrm>
            <a:off x="8698640" y="2258760"/>
            <a:ext cx="2130000" cy="48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S = ⌈Q̂ · e</a:t>
            </a:r>
            <a:r>
              <a:rPr sz="1300" b="0" i="0" baseline="30000">
                <a:solidFill>
                  <a:srgbClr val="50596C"/>
                </a:solidFill>
                <a:latin typeface="Calibri"/>
                <a:ea typeface="Calibri"/>
                <a:cs typeface="Calibri"/>
              </a:rPr>
              <a:t>θ</a:t>
            </a:r>
            <a:r>
              <a:rPr sz="1300" b="0" i="0">
                <a:solidFill>
                  <a:srgbClr val="50596C"/>
                </a:solidFill>
                <a:latin typeface="Calibri"/>
                <a:ea typeface="Calibri"/>
                <a:cs typeface="Calibri"/>
              </a:rPr>
              <a:t>⌉; order q = max(0, S − IP)</a:t>
            </a:r>
          </a:p>
        </p:txBody>
      </p:sp>
      <p:sp>
        <p:nvSpPr>
          <p:cNvPr id="21" name="Rectangle 20"/>
          <p:cNvSpPr/>
          <p:nvPr/>
        </p:nvSpPr>
        <p:spPr>
          <a:xfrm>
            <a:off x="5908640" y="3958760"/>
            <a:ext cx="2350000" cy="1000000"/>
          </a:xfrm>
          <a:prstGeom prst="rect">
            <a:avLst/>
          </a:prstGeom>
          <a:solidFill>
            <a:srgbClr val="1B2A4A"/>
          </a:solidFill>
          <a:ln>
            <a:noFill/>
          </a:ln>
          <a:effectLst/>
        </p:spPr>
        <p:txBody>
          <a:bodyPr rtlCol="0" anchor="ctr"/>
          <a:lstStyle/>
          <a:p>
            <a:pPr algn="ctr"/>
            <a:endParaRPr/>
          </a:p>
        </p:txBody>
      </p:sp>
      <p:sp>
        <p:nvSpPr>
          <p:cNvPr id="22" name="TextBox 21"/>
          <p:cNvSpPr txBox="1"/>
          <p:nvPr/>
        </p:nvSpPr>
        <p:spPr>
          <a:xfrm>
            <a:off x="6018640" y="4058760"/>
            <a:ext cx="2130000" cy="350000"/>
          </a:xfrm>
          <a:prstGeom prst="rect">
            <a:avLst/>
          </a:prstGeom>
          <a:noFill/>
        </p:spPr>
        <p:txBody>
          <a:bodyPr wrap="square" lIns="0" tIns="0" rIns="0" bIns="0" anchor="t">
            <a:noAutofit/>
          </a:bodyPr>
          <a:lstStyle/>
          <a:p>
            <a:pPr algn="l"/>
            <a:r>
              <a:rPr sz="1650" b="1" i="0">
                <a:solidFill>
                  <a:srgbClr val="FFFFFF"/>
                </a:solidFill>
                <a:latin typeface="Cambria"/>
                <a:ea typeface="Cambria"/>
                <a:cs typeface="Cambria"/>
              </a:rPr>
              <a:t>Update θ</a:t>
            </a:r>
          </a:p>
        </p:txBody>
      </p:sp>
      <p:sp>
        <p:nvSpPr>
          <p:cNvPr id="23" name="TextBox 22"/>
          <p:cNvSpPr txBox="1"/>
          <p:nvPr/>
        </p:nvSpPr>
        <p:spPr>
          <a:xfrm>
            <a:off x="6018640" y="4458760"/>
            <a:ext cx="2130000" cy="480000"/>
          </a:xfrm>
          <a:prstGeom prst="rect">
            <a:avLst/>
          </a:prstGeom>
          <a:noFill/>
        </p:spPr>
        <p:txBody>
          <a:bodyPr wrap="square" lIns="0" tIns="0" rIns="0" bIns="0" anchor="t">
            <a:noAutofit/>
          </a:bodyPr>
          <a:lstStyle/>
          <a:p>
            <a:pPr algn="l"/>
            <a:r>
              <a:rPr sz="1300" b="0" i="0">
                <a:solidFill>
                  <a:srgbClr val="F3D9C6"/>
                </a:solidFill>
                <a:latin typeface="Calibri"/>
                <a:ea typeface="Calibri"/>
                <a:cs typeface="Calibri"/>
              </a:rPr>
              <a:t>θ</a:t>
            </a:r>
            <a:r>
              <a:rPr sz="1300" b="0" i="0" baseline="-25000">
                <a:solidFill>
                  <a:srgbClr val="F3D9C6"/>
                </a:solidFill>
                <a:latin typeface="Calibri"/>
                <a:ea typeface="Calibri"/>
                <a:cs typeface="Calibri"/>
              </a:rPr>
              <a:t>k</a:t>
            </a:r>
            <a:r>
              <a:rPr sz="1300" b="0" i="0">
                <a:solidFill>
                  <a:srgbClr val="F3D9C6"/>
                </a:solidFill>
                <a:latin typeface="Calibri"/>
                <a:ea typeface="Calibri"/>
                <a:cs typeface="Calibri"/>
              </a:rPr>
              <a:t> = θ</a:t>
            </a:r>
            <a:r>
              <a:rPr sz="1300" b="0" i="0" baseline="-25000">
                <a:solidFill>
                  <a:srgbClr val="F3D9C6"/>
                </a:solidFill>
                <a:latin typeface="Calibri"/>
                <a:ea typeface="Calibri"/>
                <a:cs typeface="Calibri"/>
              </a:rPr>
              <a:t>k−1</a:t>
            </a:r>
            <a:r>
              <a:rPr sz="1300" b="0" i="0">
                <a:solidFill>
                  <a:srgbClr val="F3D9C6"/>
                </a:solidFill>
                <a:latin typeface="Calibri"/>
                <a:ea typeface="Calibri"/>
                <a:cs typeface="Calibri"/>
              </a:rPr>
              <a:t> + η(ẽ</a:t>
            </a:r>
            <a:r>
              <a:rPr sz="1300" b="0" i="0" baseline="-25000">
                <a:solidFill>
                  <a:srgbClr val="F3D9C6"/>
                </a:solidFill>
                <a:latin typeface="Calibri"/>
                <a:ea typeface="Calibri"/>
                <a:cs typeface="Calibri"/>
              </a:rPr>
              <a:t>k−d</a:t>
            </a:r>
            <a:r>
              <a:rPr sz="1300" b="0" i="0">
                <a:solidFill>
                  <a:srgbClr val="F3D9C6"/>
                </a:solidFill>
                <a:latin typeface="Calibri"/>
                <a:ea typeface="Calibri"/>
                <a:cs typeface="Calibri"/>
              </a:rPr>
              <a:t> − α*)</a:t>
            </a:r>
          </a:p>
        </p:txBody>
      </p:sp>
      <p:sp>
        <p:nvSpPr>
          <p:cNvPr id="24" name="Rectangle 23"/>
          <p:cNvSpPr/>
          <p:nvPr/>
        </p:nvSpPr>
        <p:spPr>
          <a:xfrm>
            <a:off x="8588640" y="3958760"/>
            <a:ext cx="2350000" cy="1000000"/>
          </a:xfrm>
          <a:prstGeom prst="rect">
            <a:avLst/>
          </a:prstGeom>
          <a:solidFill>
            <a:srgbClr val="F1EDE4"/>
          </a:solidFill>
          <a:ln>
            <a:noFill/>
          </a:ln>
          <a:effectLst/>
        </p:spPr>
        <p:txBody>
          <a:bodyPr rtlCol="0" anchor="ctr"/>
          <a:lstStyle/>
          <a:p>
            <a:pPr algn="ctr"/>
            <a:endParaRPr/>
          </a:p>
        </p:txBody>
      </p:sp>
      <p:sp>
        <p:nvSpPr>
          <p:cNvPr id="25" name="TextBox 24"/>
          <p:cNvSpPr txBox="1"/>
          <p:nvPr/>
        </p:nvSpPr>
        <p:spPr>
          <a:xfrm>
            <a:off x="8698640" y="4058760"/>
            <a:ext cx="2130000" cy="3500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Sales and lost sales</a:t>
            </a:r>
          </a:p>
        </p:txBody>
      </p:sp>
      <p:sp>
        <p:nvSpPr>
          <p:cNvPr id="26" name="TextBox 25"/>
          <p:cNvSpPr txBox="1"/>
          <p:nvPr/>
        </p:nvSpPr>
        <p:spPr>
          <a:xfrm>
            <a:off x="8698640" y="4458760"/>
            <a:ext cx="2130000" cy="48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what really happened in the cycle</a:t>
            </a:r>
          </a:p>
        </p:txBody>
      </p:sp>
      <p:cxnSp>
        <p:nvCxnSpPr>
          <p:cNvPr id="27" name="Connector 26"/>
          <p:cNvCxnSpPr/>
          <p:nvPr/>
        </p:nvCxnSpPr>
        <p:spPr>
          <a:xfrm>
            <a:off x="9763640" y="2778760"/>
            <a:ext cx="0" cy="1160000"/>
          </a:xfrm>
          <a:prstGeom prst="line">
            <a:avLst/>
          </a:prstGeom>
          <a:ln w="19050">
            <a:solidFill>
              <a:srgbClr val="50596C"/>
            </a:solidFill>
            <a:tailEnd type="triangle" w="med" len="med"/>
          </a:ln>
        </p:spPr>
      </p:cxnSp>
      <p:sp>
        <p:nvSpPr>
          <p:cNvPr id="28" name="TextBox 27"/>
          <p:cNvSpPr txBox="1"/>
          <p:nvPr/>
        </p:nvSpPr>
        <p:spPr>
          <a:xfrm>
            <a:off x="9843640" y="3088760"/>
            <a:ext cx="2200000" cy="500000"/>
          </a:xfrm>
          <a:prstGeom prst="rect">
            <a:avLst/>
          </a:prstGeom>
          <a:noFill/>
        </p:spPr>
        <p:txBody>
          <a:bodyPr wrap="square" lIns="0" tIns="0" rIns="0" bIns="0" anchor="t">
            <a:noAutofit/>
          </a:bodyPr>
          <a:lstStyle/>
          <a:p>
            <a:pPr algn="l"/>
            <a:r>
              <a:rPr sz="1300" b="0" i="0">
                <a:solidFill>
                  <a:srgbClr val="50596C"/>
                </a:solidFill>
                <a:latin typeface="Calibri"/>
                <a:ea typeface="Calibri"/>
                <a:cs typeface="Calibri"/>
              </a:rPr>
              <a:t>orders arrive, sell</a:t>
            </a:r>
          </a:p>
        </p:txBody>
      </p:sp>
      <p:cxnSp>
        <p:nvCxnSpPr>
          <p:cNvPr id="29" name="Connector 28"/>
          <p:cNvCxnSpPr/>
          <p:nvPr/>
        </p:nvCxnSpPr>
        <p:spPr>
          <a:xfrm flipH="1">
            <a:off x="8278640" y="4458760"/>
            <a:ext cx="290000" cy="0"/>
          </a:xfrm>
          <a:prstGeom prst="line">
            <a:avLst/>
          </a:prstGeom>
          <a:ln w="25400">
            <a:solidFill>
              <a:srgbClr val="E0662B"/>
            </a:solidFill>
            <a:tailEnd type="triangle" w="med" len="med"/>
          </a:ln>
        </p:spPr>
      </p:cxnSp>
      <p:sp>
        <p:nvSpPr>
          <p:cNvPr id="30" name="TextBox 29"/>
          <p:cNvSpPr txBox="1"/>
          <p:nvPr/>
        </p:nvSpPr>
        <p:spPr>
          <a:xfrm>
            <a:off x="8058640" y="5018760"/>
            <a:ext cx="3180000" cy="500000"/>
          </a:xfrm>
          <a:prstGeom prst="rect">
            <a:avLst/>
          </a:prstGeom>
          <a:noFill/>
        </p:spPr>
        <p:txBody>
          <a:bodyPr wrap="square" lIns="0" tIns="0" rIns="0" bIns="0" anchor="t">
            <a:noAutofit/>
          </a:bodyPr>
          <a:lstStyle/>
          <a:p>
            <a:pPr algn="ctr"/>
            <a:r>
              <a:rPr sz="1300" b="0" i="0">
                <a:solidFill>
                  <a:srgbClr val="50596C"/>
                </a:solidFill>
                <a:latin typeface="Calibri"/>
                <a:ea typeface="Calibri"/>
                <a:cs typeface="Calibri"/>
              </a:rPr>
              <a:t>group stockout rate e</a:t>
            </a:r>
            <a:r>
              <a:rPr sz="1300" b="0" i="0" baseline="-25000">
                <a:solidFill>
                  <a:srgbClr val="50596C"/>
                </a:solidFill>
                <a:latin typeface="Calibri"/>
                <a:ea typeface="Calibri"/>
                <a:cs typeface="Calibri"/>
              </a:rPr>
              <a:t>g</a:t>
            </a:r>
            <a:r>
              <a:rPr sz="1300" b="0" i="0">
                <a:solidFill>
                  <a:srgbClr val="50596C"/>
                </a:solidFill>
                <a:latin typeface="Calibri"/>
                <a:ea typeface="Calibri"/>
                <a:cs typeface="Calibri"/>
              </a:rPr>
              <a:t>, known after d reviews</a:t>
            </a:r>
          </a:p>
        </p:txBody>
      </p:sp>
      <p:cxnSp>
        <p:nvCxnSpPr>
          <p:cNvPr id="31" name="Connector 30"/>
          <p:cNvCxnSpPr/>
          <p:nvPr/>
        </p:nvCxnSpPr>
        <p:spPr>
          <a:xfrm flipV="1">
            <a:off x="7083640" y="2778760"/>
            <a:ext cx="0" cy="1160000"/>
          </a:xfrm>
          <a:prstGeom prst="line">
            <a:avLst/>
          </a:prstGeom>
          <a:ln w="25400">
            <a:solidFill>
              <a:srgbClr val="E0662B"/>
            </a:solidFill>
            <a:prstDash val="dash"/>
            <a:tailEnd type="triangle" w="med" len="med"/>
          </a:ln>
        </p:spPr>
      </p:cxnSp>
      <p:sp>
        <p:nvSpPr>
          <p:cNvPr id="32" name="TextBox 31"/>
          <p:cNvSpPr txBox="1"/>
          <p:nvPr/>
        </p:nvSpPr>
        <p:spPr>
          <a:xfrm>
            <a:off x="7163640" y="3088760"/>
            <a:ext cx="2200000" cy="500000"/>
          </a:xfrm>
          <a:prstGeom prst="rect">
            <a:avLst/>
          </a:prstGeom>
          <a:noFill/>
        </p:spPr>
        <p:txBody>
          <a:bodyPr wrap="square" lIns="0" tIns="0" rIns="0" bIns="0" anchor="t">
            <a:noAutofit/>
          </a:bodyPr>
          <a:lstStyle/>
          <a:p>
            <a:pPr algn="l"/>
            <a:r>
              <a:rPr sz="1300" b="0" i="0">
                <a:solidFill>
                  <a:srgbClr val="E0662B"/>
                </a:solidFill>
                <a:latin typeface="Calibri"/>
                <a:ea typeface="Calibri"/>
                <a:cs typeface="Calibri"/>
              </a:rPr>
              <a:t>changes e</a:t>
            </a:r>
            <a:r>
              <a:rPr sz="1300" b="0" i="0" baseline="30000">
                <a:solidFill>
                  <a:srgbClr val="E0662B"/>
                </a:solidFill>
                <a:latin typeface="Calibri"/>
                <a:ea typeface="Calibri"/>
                <a:cs typeface="Calibri"/>
              </a:rPr>
              <a:t>θ</a:t>
            </a:r>
          </a:p>
        </p:txBody>
      </p:sp>
      <p:sp>
        <p:nvSpPr>
          <p:cNvPr id="33" name="TextBox 32"/>
          <p:cNvSpPr txBox="1"/>
          <p:nvPr/>
        </p:nvSpPr>
        <p:spPr>
          <a:xfrm>
            <a:off x="548640" y="4058760"/>
            <a:ext cx="5160000" cy="900000"/>
          </a:xfrm>
          <a:prstGeom prst="rect">
            <a:avLst/>
          </a:prstGeom>
          <a:noFill/>
        </p:spPr>
        <p:txBody>
          <a:bodyPr wrap="square" lIns="0" tIns="0" rIns="0" bIns="0" anchor="t">
            <a:noAutofit/>
          </a:bodyPr>
          <a:lstStyle/>
          <a:p>
            <a:pPr algn="l"/>
            <a:r>
              <a:rPr sz="1550" b="0" i="0">
                <a:solidFill>
                  <a:srgbClr val="1B2A4A"/>
                </a:solidFill>
                <a:latin typeface="Calibri"/>
                <a:ea typeface="Calibri"/>
                <a:cs typeface="Calibri"/>
              </a:rPr>
              <a:t>Top row is the ordering path (forecaster unchanged). The bottom is the new part: the feedback loop, delayed by d reviews.</a:t>
            </a:r>
          </a:p>
        </p:txBody>
      </p:sp>
      <p:sp>
        <p:nvSpPr>
          <p:cNvPr id="34" name="TextBox 33"/>
          <p:cNvSpPr txBox="1"/>
          <p:nvPr/>
        </p:nvSpPr>
        <p:spPr>
          <a:xfrm>
            <a:off x="548640" y="5458760"/>
            <a:ext cx="11094720" cy="5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Only the navy blocks are new. Extra compute is O(G) per review for G groups, negligible next to forecasting. d = ⌈(L + R)/R⌉; α* = 1 − 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3B · C³-OUT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Two equations make C³-OUT: Eq. 1 orders, Eq. 3 updates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22</a:t>
            </a:r>
          </a:p>
        </p:txBody>
      </p:sp>
      <p:sp>
        <p:nvSpPr>
          <p:cNvPr id="6" name="Rectangle 5"/>
          <p:cNvSpPr/>
          <p:nvPr/>
        </p:nvSpPr>
        <p:spPr>
          <a:xfrm>
            <a:off x="548640" y="1508760"/>
            <a:ext cx="11094720" cy="123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508760"/>
            <a:ext cx="54864" cy="1230000"/>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98640" y="1588760"/>
            <a:ext cx="900000" cy="300000"/>
          </a:xfrm>
          <a:prstGeom prst="rect">
            <a:avLst/>
          </a:prstGeom>
          <a:noFill/>
        </p:spPr>
        <p:txBody>
          <a:bodyPr wrap="square" lIns="0" tIns="0" rIns="0" bIns="0" anchor="t">
            <a:noAutofit/>
          </a:bodyPr>
          <a:lstStyle/>
          <a:p>
            <a:pPr algn="l"/>
            <a:r>
              <a:rPr sz="1650" b="1" i="0">
                <a:solidFill>
                  <a:srgbClr val="E0662B"/>
                </a:solidFill>
                <a:latin typeface="Cambria"/>
                <a:ea typeface="Cambria"/>
                <a:cs typeface="Cambria"/>
              </a:rPr>
              <a:t>Eq. 1</a:t>
            </a:r>
          </a:p>
        </p:txBody>
      </p:sp>
      <p:sp>
        <p:nvSpPr>
          <p:cNvPr id="9" name="TextBox 8"/>
          <p:cNvSpPr txBox="1"/>
          <p:nvPr/>
        </p:nvSpPr>
        <p:spPr>
          <a:xfrm>
            <a:off x="698640" y="1908760"/>
            <a:ext cx="1500000" cy="500000"/>
          </a:xfrm>
          <a:prstGeom prst="rect">
            <a:avLst/>
          </a:prstGeom>
          <a:noFill/>
        </p:spPr>
        <p:txBody>
          <a:bodyPr wrap="square" lIns="0" tIns="0" rIns="0" bIns="0" anchor="t">
            <a:noAutofit/>
          </a:bodyPr>
          <a:lstStyle/>
          <a:p>
            <a:pPr algn="l"/>
            <a:r>
              <a:rPr sz="1350" b="0" i="0">
                <a:solidFill>
                  <a:srgbClr val="50596C"/>
                </a:solidFill>
                <a:latin typeface="Calibri"/>
                <a:ea typeface="Calibri"/>
                <a:cs typeface="Calibri"/>
              </a:rPr>
              <a:t>Order-up-to level</a:t>
            </a:r>
          </a:p>
        </p:txBody>
      </p:sp>
      <p:sp>
        <p:nvSpPr>
          <p:cNvPr id="10" name="TextBox 9"/>
          <p:cNvSpPr txBox="1"/>
          <p:nvPr/>
        </p:nvSpPr>
        <p:spPr>
          <a:xfrm>
            <a:off x="2248640" y="1568760"/>
            <a:ext cx="5200000" cy="1110000"/>
          </a:xfrm>
          <a:prstGeom prst="rect">
            <a:avLst/>
          </a:prstGeom>
          <a:noFill/>
        </p:spPr>
        <p:txBody>
          <a:bodyPr wrap="square" lIns="0" tIns="0" rIns="0" bIns="0" anchor="ctr">
            <a:noAutofit/>
          </a:bodyPr>
          <a:lstStyle/>
          <a:p>
            <a:pPr algn="l"/>
            <a:r>
              <a:rPr sz="1650" b="0" i="1">
                <a:solidFill>
                  <a:srgbClr val="1B2A4A"/>
                </a:solidFill>
                <a:latin typeface="Cambria"/>
                <a:ea typeface="Cambria"/>
                <a:cs typeface="Cambria"/>
              </a:rPr>
              <a:t>S</a:t>
            </a:r>
            <a:r>
              <a:rPr sz="1650" b="0" i="1" baseline="-25000">
                <a:solidFill>
                  <a:srgbClr val="1B2A4A"/>
                </a:solidFill>
                <a:latin typeface="Cambria"/>
                <a:ea typeface="Cambria"/>
                <a:cs typeface="Cambria"/>
              </a:rPr>
              <a:t>i,k</a:t>
            </a:r>
            <a:r>
              <a:rPr sz="1650" b="0" i="1">
                <a:solidFill>
                  <a:srgbClr val="1B2A4A"/>
                </a:solidFill>
                <a:latin typeface="Cambria"/>
                <a:ea typeface="Cambria"/>
                <a:cs typeface="Cambria"/>
              </a:rPr>
              <a:t> = ⌈ Q̂</a:t>
            </a:r>
            <a:r>
              <a:rPr sz="1650" b="0" i="1" baseline="-25000">
                <a:solidFill>
                  <a:srgbClr val="1B2A4A"/>
                </a:solidFill>
                <a:latin typeface="Cambria"/>
                <a:ea typeface="Cambria"/>
                <a:cs typeface="Cambria"/>
              </a:rPr>
              <a:t>i,k</a:t>
            </a:r>
            <a:r>
              <a:rPr sz="1650" b="0" i="1">
                <a:solidFill>
                  <a:srgbClr val="1B2A4A"/>
                </a:solidFill>
                <a:latin typeface="Cambria"/>
                <a:ea typeface="Cambria"/>
                <a:cs typeface="Cambria"/>
              </a:rPr>
              <a:t>(τ</a:t>
            </a:r>
            <a:r>
              <a:rPr sz="1650" b="0" i="1" baseline="-25000">
                <a:solidFill>
                  <a:srgbClr val="1B2A4A"/>
                </a:solidFill>
                <a:latin typeface="Cambria"/>
                <a:ea typeface="Cambria"/>
                <a:cs typeface="Cambria"/>
              </a:rPr>
              <a:t>g</a:t>
            </a:r>
            <a:r>
              <a:rPr sz="1650" b="0" i="1">
                <a:solidFill>
                  <a:srgbClr val="1B2A4A"/>
                </a:solidFill>
                <a:latin typeface="Cambria"/>
                <a:ea typeface="Cambria"/>
                <a:cs typeface="Cambria"/>
              </a:rPr>
              <a:t>) · exp( clip(θ</a:t>
            </a:r>
            <a:r>
              <a:rPr sz="1650" b="0" i="1" baseline="-25000">
                <a:solidFill>
                  <a:srgbClr val="1B2A4A"/>
                </a:solidFill>
                <a:latin typeface="Cambria"/>
                <a:ea typeface="Cambria"/>
                <a:cs typeface="Cambria"/>
              </a:rPr>
              <a:t>g,k</a:t>
            </a:r>
            <a:r>
              <a:rPr sz="1650" b="0" i="1">
                <a:solidFill>
                  <a:srgbClr val="1B2A4A"/>
                </a:solidFill>
                <a:latin typeface="Cambria"/>
                <a:ea typeface="Cambria"/>
                <a:cs typeface="Cambria"/>
              </a:rPr>
              <a:t>, θ</a:t>
            </a:r>
            <a:r>
              <a:rPr sz="1650" b="0" i="1" baseline="-25000">
                <a:solidFill>
                  <a:srgbClr val="1B2A4A"/>
                </a:solidFill>
                <a:latin typeface="Cambria"/>
                <a:ea typeface="Cambria"/>
                <a:cs typeface="Cambria"/>
              </a:rPr>
              <a:t>min</a:t>
            </a:r>
            <a:r>
              <a:rPr sz="1650" b="0" i="1">
                <a:solidFill>
                  <a:srgbClr val="1B2A4A"/>
                </a:solidFill>
                <a:latin typeface="Cambria"/>
                <a:ea typeface="Cambria"/>
                <a:cs typeface="Cambria"/>
              </a:rPr>
              <a:t>, θ</a:t>
            </a:r>
            <a:r>
              <a:rPr sz="1650" b="0" i="1" baseline="-25000">
                <a:solidFill>
                  <a:srgbClr val="1B2A4A"/>
                </a:solidFill>
                <a:latin typeface="Cambria"/>
                <a:ea typeface="Cambria"/>
                <a:cs typeface="Cambria"/>
              </a:rPr>
              <a:t>max</a:t>
            </a:r>
            <a:r>
              <a:rPr sz="1650" b="0" i="1">
                <a:solidFill>
                  <a:srgbClr val="1B2A4A"/>
                </a:solidFill>
                <a:latin typeface="Cambria"/>
                <a:ea typeface="Cambria"/>
                <a:cs typeface="Cambria"/>
              </a:rPr>
              <a:t>) ) ⌉</a:t>
            </a:r>
          </a:p>
        </p:txBody>
      </p:sp>
      <p:sp>
        <p:nvSpPr>
          <p:cNvPr id="11" name="TextBox 10"/>
          <p:cNvSpPr txBox="1"/>
          <p:nvPr/>
        </p:nvSpPr>
        <p:spPr>
          <a:xfrm>
            <a:off x="7598640" y="1568760"/>
            <a:ext cx="3950000" cy="111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Take the τ-quantile of window demand, multiply by e</a:t>
            </a:r>
            <a:r>
              <a:rPr sz="1350" b="0" i="0" baseline="30000">
                <a:solidFill>
                  <a:srgbClr val="1B2A4A"/>
                </a:solidFill>
                <a:latin typeface="Calibri"/>
                <a:ea typeface="Calibri"/>
                <a:cs typeface="Calibri"/>
              </a:rPr>
              <a:t>θ</a:t>
            </a:r>
            <a:r>
              <a:rPr sz="1350" b="0" i="0">
                <a:solidFill>
                  <a:srgbClr val="1B2A4A"/>
                </a:solidFill>
                <a:latin typeface="Calibri"/>
                <a:ea typeface="Calibri"/>
                <a:cs typeface="Calibri"/>
              </a:rPr>
              <a:t> (θ = 0 leaves it unchanged), clip θ to a safe range, round up. Order q = max(0, S − IP).</a:t>
            </a:r>
          </a:p>
        </p:txBody>
      </p:sp>
      <p:sp>
        <p:nvSpPr>
          <p:cNvPr id="12" name="Rectangle 11"/>
          <p:cNvSpPr/>
          <p:nvPr/>
        </p:nvSpPr>
        <p:spPr>
          <a:xfrm>
            <a:off x="548640" y="2848760"/>
            <a:ext cx="11094720" cy="1230000"/>
          </a:xfrm>
          <a:prstGeom prst="rect">
            <a:avLst/>
          </a:prstGeom>
          <a:solidFill>
            <a:srgbClr val="F1EDE4"/>
          </a:solidFill>
          <a:ln>
            <a:noFill/>
          </a:ln>
          <a:effectLst/>
        </p:spPr>
        <p:txBody>
          <a:bodyPr rtlCol="0" anchor="ctr"/>
          <a:lstStyle/>
          <a:p>
            <a:pPr algn="ctr"/>
            <a:endParaRPr/>
          </a:p>
        </p:txBody>
      </p:sp>
      <p:sp>
        <p:nvSpPr>
          <p:cNvPr id="13" name="Rectangle 12"/>
          <p:cNvSpPr/>
          <p:nvPr/>
        </p:nvSpPr>
        <p:spPr>
          <a:xfrm>
            <a:off x="548640" y="2848760"/>
            <a:ext cx="54864" cy="1230000"/>
          </a:xfrm>
          <a:prstGeom prst="rect">
            <a:avLst/>
          </a:prstGeom>
          <a:solidFill>
            <a:srgbClr val="E0662B"/>
          </a:solidFill>
          <a:ln>
            <a:noFill/>
          </a:ln>
          <a:effectLst/>
        </p:spPr>
        <p:txBody>
          <a:bodyPr rtlCol="0" anchor="ctr"/>
          <a:lstStyle/>
          <a:p>
            <a:pPr algn="ctr"/>
            <a:endParaRPr/>
          </a:p>
        </p:txBody>
      </p:sp>
      <p:sp>
        <p:nvSpPr>
          <p:cNvPr id="14" name="TextBox 13"/>
          <p:cNvSpPr txBox="1"/>
          <p:nvPr/>
        </p:nvSpPr>
        <p:spPr>
          <a:xfrm>
            <a:off x="698640" y="2928760"/>
            <a:ext cx="900000" cy="300000"/>
          </a:xfrm>
          <a:prstGeom prst="rect">
            <a:avLst/>
          </a:prstGeom>
          <a:noFill/>
        </p:spPr>
        <p:txBody>
          <a:bodyPr wrap="square" lIns="0" tIns="0" rIns="0" bIns="0" anchor="t">
            <a:noAutofit/>
          </a:bodyPr>
          <a:lstStyle/>
          <a:p>
            <a:pPr algn="l"/>
            <a:r>
              <a:rPr sz="1650" b="1" i="0">
                <a:solidFill>
                  <a:srgbClr val="E0662B"/>
                </a:solidFill>
                <a:latin typeface="Cambria"/>
                <a:ea typeface="Cambria"/>
                <a:cs typeface="Cambria"/>
              </a:rPr>
              <a:t>Eq. 3</a:t>
            </a:r>
          </a:p>
        </p:txBody>
      </p:sp>
      <p:sp>
        <p:nvSpPr>
          <p:cNvPr id="15" name="TextBox 14"/>
          <p:cNvSpPr txBox="1"/>
          <p:nvPr/>
        </p:nvSpPr>
        <p:spPr>
          <a:xfrm>
            <a:off x="698640" y="3248760"/>
            <a:ext cx="1500000" cy="500000"/>
          </a:xfrm>
          <a:prstGeom prst="rect">
            <a:avLst/>
          </a:prstGeom>
          <a:noFill/>
        </p:spPr>
        <p:txBody>
          <a:bodyPr wrap="square" lIns="0" tIns="0" rIns="0" bIns="0" anchor="t">
            <a:noAutofit/>
          </a:bodyPr>
          <a:lstStyle/>
          <a:p>
            <a:pPr algn="l"/>
            <a:r>
              <a:rPr sz="1350" b="0" i="0">
                <a:solidFill>
                  <a:srgbClr val="50596C"/>
                </a:solidFill>
                <a:latin typeface="Calibri"/>
                <a:ea typeface="Calibri"/>
                <a:cs typeface="Calibri"/>
              </a:rPr>
              <a:t>Update of θ</a:t>
            </a:r>
          </a:p>
        </p:txBody>
      </p:sp>
      <p:sp>
        <p:nvSpPr>
          <p:cNvPr id="16" name="TextBox 15"/>
          <p:cNvSpPr txBox="1"/>
          <p:nvPr/>
        </p:nvSpPr>
        <p:spPr>
          <a:xfrm>
            <a:off x="2248640" y="2908760"/>
            <a:ext cx="5200000" cy="1110000"/>
          </a:xfrm>
          <a:prstGeom prst="rect">
            <a:avLst/>
          </a:prstGeom>
          <a:noFill/>
        </p:spPr>
        <p:txBody>
          <a:bodyPr wrap="square" lIns="0" tIns="0" rIns="0" bIns="0" anchor="ctr">
            <a:noAutofit/>
          </a:bodyPr>
          <a:lstStyle/>
          <a:p>
            <a:pPr algn="l"/>
            <a:r>
              <a:rPr sz="1650" b="0" i="1">
                <a:solidFill>
                  <a:srgbClr val="1B2A4A"/>
                </a:solidFill>
                <a:latin typeface="Cambria"/>
                <a:ea typeface="Cambria"/>
                <a:cs typeface="Cambria"/>
              </a:rPr>
              <a:t>θ</a:t>
            </a:r>
            <a:r>
              <a:rPr sz="1650" b="0" i="1" baseline="-25000">
                <a:solidFill>
                  <a:srgbClr val="1B2A4A"/>
                </a:solidFill>
                <a:latin typeface="Cambria"/>
                <a:ea typeface="Cambria"/>
                <a:cs typeface="Cambria"/>
              </a:rPr>
              <a:t>g,k</a:t>
            </a:r>
            <a:r>
              <a:rPr sz="1650" b="0" i="1">
                <a:solidFill>
                  <a:srgbClr val="1B2A4A"/>
                </a:solidFill>
                <a:latin typeface="Cambria"/>
                <a:ea typeface="Cambria"/>
                <a:cs typeface="Cambria"/>
              </a:rPr>
              <a:t> = θ</a:t>
            </a:r>
            <a:r>
              <a:rPr sz="1650" b="0" i="1" baseline="-25000">
                <a:solidFill>
                  <a:srgbClr val="1B2A4A"/>
                </a:solidFill>
                <a:latin typeface="Cambria"/>
                <a:ea typeface="Cambria"/>
                <a:cs typeface="Cambria"/>
              </a:rPr>
              <a:t>g,k−1</a:t>
            </a:r>
            <a:r>
              <a:rPr sz="1650" b="0" i="1">
                <a:solidFill>
                  <a:srgbClr val="1B2A4A"/>
                </a:solidFill>
                <a:latin typeface="Cambria"/>
                <a:ea typeface="Cambria"/>
                <a:cs typeface="Cambria"/>
              </a:rPr>
              <a:t> + η ( ẽ</a:t>
            </a:r>
            <a:r>
              <a:rPr sz="1650" b="0" i="1" baseline="-25000">
                <a:solidFill>
                  <a:srgbClr val="1B2A4A"/>
                </a:solidFill>
                <a:latin typeface="Cambria"/>
                <a:ea typeface="Cambria"/>
                <a:cs typeface="Cambria"/>
              </a:rPr>
              <a:t>g,k−d</a:t>
            </a:r>
            <a:r>
              <a:rPr sz="1650" b="0" i="1">
                <a:solidFill>
                  <a:srgbClr val="1B2A4A"/>
                </a:solidFill>
                <a:latin typeface="Cambria"/>
                <a:ea typeface="Cambria"/>
                <a:cs typeface="Cambria"/>
              </a:rPr>
              <a:t> − α*</a:t>
            </a:r>
            <a:r>
              <a:rPr sz="1650" b="0" i="1" baseline="-25000">
                <a:solidFill>
                  <a:srgbClr val="1B2A4A"/>
                </a:solidFill>
                <a:latin typeface="Cambria"/>
                <a:ea typeface="Cambria"/>
                <a:cs typeface="Cambria"/>
              </a:rPr>
              <a:t>g</a:t>
            </a:r>
            <a:r>
              <a:rPr sz="1650" b="0" i="1">
                <a:solidFill>
                  <a:srgbClr val="1B2A4A"/>
                </a:solidFill>
                <a:latin typeface="Cambria"/>
                <a:ea typeface="Cambria"/>
                <a:cs typeface="Cambria"/>
              </a:rPr>
              <a:t> )</a:t>
            </a:r>
          </a:p>
        </p:txBody>
      </p:sp>
      <p:sp>
        <p:nvSpPr>
          <p:cNvPr id="17" name="TextBox 16"/>
          <p:cNvSpPr txBox="1"/>
          <p:nvPr/>
        </p:nvSpPr>
        <p:spPr>
          <a:xfrm>
            <a:off x="7598640" y="2908760"/>
            <a:ext cx="3950000" cy="111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If the group ran out more often than allowed, α* = 1 − τ, θ rises (more stock); less often, θ falls. η is the step; the result from d reviews ago is used because a cycle takes time to finish.</a:t>
            </a:r>
          </a:p>
        </p:txBody>
      </p:sp>
      <p:sp>
        <p:nvSpPr>
          <p:cNvPr id="18" name="Rectangle 17"/>
          <p:cNvSpPr/>
          <p:nvPr/>
        </p:nvSpPr>
        <p:spPr>
          <a:xfrm>
            <a:off x="548640" y="4188760"/>
            <a:ext cx="11094720" cy="1230000"/>
          </a:xfrm>
          <a:prstGeom prst="rect">
            <a:avLst/>
          </a:prstGeom>
          <a:solidFill>
            <a:srgbClr val="F1EDE4"/>
          </a:solidFill>
          <a:ln>
            <a:noFill/>
          </a:ln>
          <a:effectLst/>
        </p:spPr>
        <p:txBody>
          <a:bodyPr rtlCol="0" anchor="ctr"/>
          <a:lstStyle/>
          <a:p>
            <a:pPr algn="ctr"/>
            <a:endParaRPr/>
          </a:p>
        </p:txBody>
      </p:sp>
      <p:sp>
        <p:nvSpPr>
          <p:cNvPr id="19" name="Rectangle 18"/>
          <p:cNvSpPr/>
          <p:nvPr/>
        </p:nvSpPr>
        <p:spPr>
          <a:xfrm>
            <a:off x="548640" y="4188760"/>
            <a:ext cx="54864" cy="1230000"/>
          </a:xfrm>
          <a:prstGeom prst="rect">
            <a:avLst/>
          </a:prstGeom>
          <a:solidFill>
            <a:srgbClr val="9AA2B4"/>
          </a:solidFill>
          <a:ln>
            <a:noFill/>
          </a:ln>
          <a:effectLst/>
        </p:spPr>
        <p:txBody>
          <a:bodyPr rtlCol="0" anchor="ctr"/>
          <a:lstStyle/>
          <a:p>
            <a:pPr algn="ctr"/>
            <a:endParaRPr/>
          </a:p>
        </p:txBody>
      </p:sp>
      <p:sp>
        <p:nvSpPr>
          <p:cNvPr id="20" name="TextBox 19"/>
          <p:cNvSpPr txBox="1"/>
          <p:nvPr/>
        </p:nvSpPr>
        <p:spPr>
          <a:xfrm>
            <a:off x="698640" y="4268760"/>
            <a:ext cx="900000" cy="300000"/>
          </a:xfrm>
          <a:prstGeom prst="rect">
            <a:avLst/>
          </a:prstGeom>
          <a:noFill/>
        </p:spPr>
        <p:txBody>
          <a:bodyPr wrap="square" lIns="0" tIns="0" rIns="0" bIns="0" anchor="t">
            <a:noAutofit/>
          </a:bodyPr>
          <a:lstStyle/>
          <a:p>
            <a:pPr algn="l"/>
            <a:r>
              <a:rPr sz="1650" b="1" i="0">
                <a:solidFill>
                  <a:srgbClr val="50596C"/>
                </a:solidFill>
                <a:latin typeface="Cambria"/>
                <a:ea typeface="Cambria"/>
                <a:cs typeface="Cambria"/>
              </a:rPr>
              <a:t>Eq. 2</a:t>
            </a:r>
          </a:p>
        </p:txBody>
      </p:sp>
      <p:sp>
        <p:nvSpPr>
          <p:cNvPr id="21" name="TextBox 20"/>
          <p:cNvSpPr txBox="1"/>
          <p:nvPr/>
        </p:nvSpPr>
        <p:spPr>
          <a:xfrm>
            <a:off x="698640" y="4588760"/>
            <a:ext cx="1500000" cy="500000"/>
          </a:xfrm>
          <a:prstGeom prst="rect">
            <a:avLst/>
          </a:prstGeom>
          <a:noFill/>
        </p:spPr>
        <p:txBody>
          <a:bodyPr wrap="square" lIns="0" tIns="0" rIns="0" bIns="0" anchor="t">
            <a:noAutofit/>
          </a:bodyPr>
          <a:lstStyle/>
          <a:p>
            <a:pPr algn="l"/>
            <a:r>
              <a:rPr sz="1350" b="0" i="0">
                <a:solidFill>
                  <a:srgbClr val="50596C"/>
                </a:solidFill>
                <a:latin typeface="Calibri"/>
                <a:ea typeface="Calibri"/>
                <a:cs typeface="Calibri"/>
              </a:rPr>
              <a:t>Boundary convention</a:t>
            </a:r>
          </a:p>
        </p:txBody>
      </p:sp>
      <p:sp>
        <p:nvSpPr>
          <p:cNvPr id="22" name="TextBox 21"/>
          <p:cNvSpPr txBox="1"/>
          <p:nvPr/>
        </p:nvSpPr>
        <p:spPr>
          <a:xfrm>
            <a:off x="2248640" y="4248760"/>
            <a:ext cx="5200000" cy="1110000"/>
          </a:xfrm>
          <a:prstGeom prst="rect">
            <a:avLst/>
          </a:prstGeom>
          <a:noFill/>
        </p:spPr>
        <p:txBody>
          <a:bodyPr wrap="square" lIns="0" tIns="0" rIns="0" bIns="0" anchor="ctr">
            <a:noAutofit/>
          </a:bodyPr>
          <a:lstStyle/>
          <a:p>
            <a:pPr algn="l"/>
            <a:r>
              <a:rPr sz="1650" b="0" i="1">
                <a:solidFill>
                  <a:srgbClr val="1B2A4A"/>
                </a:solidFill>
                <a:latin typeface="Cambria"/>
                <a:ea typeface="Cambria"/>
                <a:cs typeface="Cambria"/>
              </a:rPr>
              <a:t>ẽ = 0 if θ ≥ θ</a:t>
            </a:r>
            <a:r>
              <a:rPr sz="1650" b="0" i="1" baseline="-25000">
                <a:solidFill>
                  <a:srgbClr val="1B2A4A"/>
                </a:solidFill>
                <a:latin typeface="Cambria"/>
                <a:ea typeface="Cambria"/>
                <a:cs typeface="Cambria"/>
              </a:rPr>
              <a:t>max</a:t>
            </a:r>
            <a:r>
              <a:rPr sz="1650" b="0" i="1">
                <a:solidFill>
                  <a:srgbClr val="1B2A4A"/>
                </a:solidFill>
                <a:latin typeface="Cambria"/>
                <a:ea typeface="Cambria"/>
                <a:cs typeface="Cambria"/>
              </a:rPr>
              <a:t>;  ẽ = 1 if θ ≤ θ</a:t>
            </a:r>
            <a:r>
              <a:rPr sz="1650" b="0" i="1" baseline="-25000">
                <a:solidFill>
                  <a:srgbClr val="1B2A4A"/>
                </a:solidFill>
                <a:latin typeface="Cambria"/>
                <a:ea typeface="Cambria"/>
                <a:cs typeface="Cambria"/>
              </a:rPr>
              <a:t>min</a:t>
            </a:r>
            <a:r>
              <a:rPr sz="1650" b="0" i="1">
                <a:solidFill>
                  <a:srgbClr val="1B2A4A"/>
                </a:solidFill>
                <a:latin typeface="Cambria"/>
                <a:ea typeface="Cambria"/>
                <a:cs typeface="Cambria"/>
              </a:rPr>
              <a:t>;  else ẽ = e</a:t>
            </a:r>
          </a:p>
        </p:txBody>
      </p:sp>
      <p:sp>
        <p:nvSpPr>
          <p:cNvPr id="23" name="TextBox 22"/>
          <p:cNvSpPr txBox="1"/>
          <p:nvPr/>
        </p:nvSpPr>
        <p:spPr>
          <a:xfrm>
            <a:off x="7598640" y="4248760"/>
            <a:ext cx="3950000" cy="111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When θ sits at its limit, the recorded error is forced to the extreme so θ cannot drift out forever. It affects only the update variable, never the actual stock level.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3B · C³-OUT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Theorem 1: the recorded error converges to the target at rate 1/K</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23</a:t>
            </a:r>
          </a:p>
        </p:txBody>
      </p:sp>
      <p:sp>
        <p:nvSpPr>
          <p:cNvPr id="6" name="Rectangle 5"/>
          <p:cNvSpPr/>
          <p:nvPr/>
        </p:nvSpPr>
        <p:spPr>
          <a:xfrm>
            <a:off x="548640" y="1508760"/>
            <a:ext cx="6200000" cy="1500000"/>
          </a:xfrm>
          <a:prstGeom prst="rect">
            <a:avLst/>
          </a:prstGeom>
          <a:solidFill>
            <a:srgbClr val="F1EDE4"/>
          </a:solidFill>
          <a:ln>
            <a:noFill/>
          </a:ln>
          <a:effectLst/>
        </p:spPr>
        <p:txBody>
          <a:bodyPr rtlCol="0" anchor="ctr"/>
          <a:lstStyle/>
          <a:p>
            <a:pPr algn="ctr"/>
            <a:endParaRPr/>
          </a:p>
        </p:txBody>
      </p:sp>
      <p:sp>
        <p:nvSpPr>
          <p:cNvPr id="7" name="Rectangle 6"/>
          <p:cNvSpPr/>
          <p:nvPr/>
        </p:nvSpPr>
        <p:spPr>
          <a:xfrm>
            <a:off x="548640" y="1508760"/>
            <a:ext cx="54864" cy="1500000"/>
          </a:xfrm>
          <a:prstGeom prst="rect">
            <a:avLst/>
          </a:prstGeom>
          <a:solidFill>
            <a:srgbClr val="E0662B"/>
          </a:solidFill>
          <a:ln>
            <a:noFill/>
          </a:ln>
          <a:effectLst/>
        </p:spPr>
        <p:txBody>
          <a:bodyPr rtlCol="0" anchor="ctr"/>
          <a:lstStyle/>
          <a:p>
            <a:pPr algn="ctr"/>
            <a:endParaRPr/>
          </a:p>
        </p:txBody>
      </p:sp>
      <p:sp>
        <p:nvSpPr>
          <p:cNvPr id="8" name="TextBox 7"/>
          <p:cNvSpPr txBox="1"/>
          <p:nvPr/>
        </p:nvSpPr>
        <p:spPr>
          <a:xfrm>
            <a:off x="698640" y="1578760"/>
            <a:ext cx="3000000" cy="300000"/>
          </a:xfrm>
          <a:prstGeom prst="rect">
            <a:avLst/>
          </a:prstGeom>
          <a:noFill/>
        </p:spPr>
        <p:txBody>
          <a:bodyPr wrap="square" lIns="0" tIns="0" rIns="0" bIns="0" anchor="t">
            <a:noAutofit/>
          </a:bodyPr>
          <a:lstStyle/>
          <a:p>
            <a:pPr algn="l"/>
            <a:r>
              <a:rPr sz="1550" b="1" i="0">
                <a:solidFill>
                  <a:srgbClr val="E0662B"/>
                </a:solidFill>
                <a:latin typeface="Calibri"/>
                <a:ea typeface="Calibri"/>
                <a:cs typeface="Calibri"/>
              </a:rPr>
              <a:t>Lemma 1 (range of θ)</a:t>
            </a:r>
          </a:p>
        </p:txBody>
      </p:sp>
      <p:sp>
        <p:nvSpPr>
          <p:cNvPr id="9" name="TextBox 8"/>
          <p:cNvSpPr txBox="1"/>
          <p:nvPr/>
        </p:nvSpPr>
        <p:spPr>
          <a:xfrm>
            <a:off x="698640" y="1888760"/>
            <a:ext cx="5900000" cy="400000"/>
          </a:xfrm>
          <a:prstGeom prst="rect">
            <a:avLst/>
          </a:prstGeom>
          <a:noFill/>
        </p:spPr>
        <p:txBody>
          <a:bodyPr wrap="square" lIns="0" tIns="0" rIns="0" bIns="0" anchor="t">
            <a:noAutofit/>
          </a:bodyPr>
          <a:lstStyle/>
          <a:p>
            <a:pPr algn="l"/>
            <a:r>
              <a:rPr sz="1700" b="0" i="1">
                <a:solidFill>
                  <a:srgbClr val="1B2A4A"/>
                </a:solidFill>
                <a:latin typeface="Cambria"/>
                <a:ea typeface="Cambria"/>
                <a:cs typeface="Cambria"/>
              </a:rPr>
              <a:t>θ</a:t>
            </a:r>
            <a:r>
              <a:rPr sz="1700" b="0" i="1" baseline="-25000">
                <a:solidFill>
                  <a:srgbClr val="1B2A4A"/>
                </a:solidFill>
                <a:latin typeface="Cambria"/>
                <a:ea typeface="Cambria"/>
                <a:cs typeface="Cambria"/>
              </a:rPr>
              <a:t>min</a:t>
            </a:r>
            <a:r>
              <a:rPr sz="1700" b="0" i="1">
                <a:solidFill>
                  <a:srgbClr val="1B2A4A"/>
                </a:solidFill>
                <a:latin typeface="Cambria"/>
                <a:ea typeface="Cambria"/>
                <a:cs typeface="Cambria"/>
              </a:rPr>
              <a:t> − ηd &lt; θ</a:t>
            </a:r>
            <a:r>
              <a:rPr sz="1700" b="0" i="1" baseline="-25000">
                <a:solidFill>
                  <a:srgbClr val="1B2A4A"/>
                </a:solidFill>
                <a:latin typeface="Cambria"/>
                <a:ea typeface="Cambria"/>
                <a:cs typeface="Cambria"/>
              </a:rPr>
              <a:t>g,k</a:t>
            </a:r>
            <a:r>
              <a:rPr sz="1700" b="0" i="1">
                <a:solidFill>
                  <a:srgbClr val="1B2A4A"/>
                </a:solidFill>
                <a:latin typeface="Cambria"/>
                <a:ea typeface="Cambria"/>
                <a:cs typeface="Cambria"/>
              </a:rPr>
              <a:t> &lt; θ</a:t>
            </a:r>
            <a:r>
              <a:rPr sz="1700" b="0" i="1" baseline="-25000">
                <a:solidFill>
                  <a:srgbClr val="1B2A4A"/>
                </a:solidFill>
                <a:latin typeface="Cambria"/>
                <a:ea typeface="Cambria"/>
                <a:cs typeface="Cambria"/>
              </a:rPr>
              <a:t>max</a:t>
            </a:r>
            <a:r>
              <a:rPr sz="1700" b="0" i="1">
                <a:solidFill>
                  <a:srgbClr val="1B2A4A"/>
                </a:solidFill>
                <a:latin typeface="Cambria"/>
                <a:ea typeface="Cambria"/>
                <a:cs typeface="Cambria"/>
              </a:rPr>
              <a:t> + ηd</a:t>
            </a:r>
          </a:p>
        </p:txBody>
      </p:sp>
      <p:sp>
        <p:nvSpPr>
          <p:cNvPr id="10" name="TextBox 9"/>
          <p:cNvSpPr txBox="1"/>
          <p:nvPr/>
        </p:nvSpPr>
        <p:spPr>
          <a:xfrm>
            <a:off x="698640" y="2388760"/>
            <a:ext cx="5900000" cy="6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θ cannot run away: it always stays within ηd of its two limits.</a:t>
            </a:r>
          </a:p>
        </p:txBody>
      </p:sp>
      <p:sp>
        <p:nvSpPr>
          <p:cNvPr id="11" name="Rectangle 10"/>
          <p:cNvSpPr/>
          <p:nvPr/>
        </p:nvSpPr>
        <p:spPr>
          <a:xfrm>
            <a:off x="548640" y="3158760"/>
            <a:ext cx="6200000" cy="1900000"/>
          </a:xfrm>
          <a:prstGeom prst="rect">
            <a:avLst/>
          </a:prstGeom>
          <a:solidFill>
            <a:srgbClr val="F1EDE4"/>
          </a:solidFill>
          <a:ln>
            <a:noFill/>
          </a:ln>
          <a:effectLst/>
        </p:spPr>
        <p:txBody>
          <a:bodyPr rtlCol="0" anchor="ctr"/>
          <a:lstStyle/>
          <a:p>
            <a:pPr algn="ctr"/>
            <a:endParaRPr/>
          </a:p>
        </p:txBody>
      </p:sp>
      <p:sp>
        <p:nvSpPr>
          <p:cNvPr id="12" name="Rectangle 11"/>
          <p:cNvSpPr/>
          <p:nvPr/>
        </p:nvSpPr>
        <p:spPr>
          <a:xfrm>
            <a:off x="548640" y="3158760"/>
            <a:ext cx="54864" cy="1900000"/>
          </a:xfrm>
          <a:prstGeom prst="rect">
            <a:avLst/>
          </a:prstGeom>
          <a:solidFill>
            <a:srgbClr val="E0662B"/>
          </a:solidFill>
          <a:ln>
            <a:noFill/>
          </a:ln>
          <a:effectLst/>
        </p:spPr>
        <p:txBody>
          <a:bodyPr rtlCol="0" anchor="ctr"/>
          <a:lstStyle/>
          <a:p>
            <a:pPr algn="ctr"/>
            <a:endParaRPr/>
          </a:p>
        </p:txBody>
      </p:sp>
      <p:sp>
        <p:nvSpPr>
          <p:cNvPr id="13" name="TextBox 12"/>
          <p:cNvSpPr txBox="1"/>
          <p:nvPr/>
        </p:nvSpPr>
        <p:spPr>
          <a:xfrm>
            <a:off x="698640" y="3228760"/>
            <a:ext cx="3000000" cy="300000"/>
          </a:xfrm>
          <a:prstGeom prst="rect">
            <a:avLst/>
          </a:prstGeom>
          <a:noFill/>
        </p:spPr>
        <p:txBody>
          <a:bodyPr wrap="square" lIns="0" tIns="0" rIns="0" bIns="0" anchor="t">
            <a:noAutofit/>
          </a:bodyPr>
          <a:lstStyle/>
          <a:p>
            <a:pPr algn="l"/>
            <a:r>
              <a:rPr sz="1550" b="1" i="0">
                <a:solidFill>
                  <a:srgbClr val="E0662B"/>
                </a:solidFill>
                <a:latin typeface="Calibri"/>
                <a:ea typeface="Calibri"/>
                <a:cs typeface="Calibri"/>
              </a:rPr>
              <a:t>Theorem 1</a:t>
            </a:r>
          </a:p>
        </p:txBody>
      </p:sp>
      <p:sp>
        <p:nvSpPr>
          <p:cNvPr id="14" name="TextBox 13"/>
          <p:cNvSpPr txBox="1"/>
          <p:nvPr/>
        </p:nvSpPr>
        <p:spPr>
          <a:xfrm>
            <a:off x="698640" y="3538760"/>
            <a:ext cx="5900000" cy="500000"/>
          </a:xfrm>
          <a:prstGeom prst="rect">
            <a:avLst/>
          </a:prstGeom>
          <a:noFill/>
        </p:spPr>
        <p:txBody>
          <a:bodyPr wrap="square" lIns="0" tIns="0" rIns="0" bIns="0" anchor="t">
            <a:noAutofit/>
          </a:bodyPr>
          <a:lstStyle/>
          <a:p>
            <a:pPr algn="l"/>
            <a:r>
              <a:rPr sz="1700" b="0" i="1">
                <a:solidFill>
                  <a:srgbClr val="1B2A4A"/>
                </a:solidFill>
                <a:latin typeface="Cambria"/>
                <a:ea typeface="Cambria"/>
                <a:cs typeface="Cambria"/>
              </a:rPr>
              <a:t>| (1/(K−d)) · Σ</a:t>
            </a:r>
            <a:r>
              <a:rPr sz="1700" b="0" i="1" baseline="-25000">
                <a:solidFill>
                  <a:srgbClr val="1B2A4A"/>
                </a:solidFill>
                <a:latin typeface="Cambria"/>
                <a:ea typeface="Cambria"/>
                <a:cs typeface="Cambria"/>
              </a:rPr>
              <a:t>j=1</a:t>
            </a:r>
            <a:r>
              <a:rPr sz="1700" b="0" i="1" baseline="30000">
                <a:solidFill>
                  <a:srgbClr val="1B2A4A"/>
                </a:solidFill>
                <a:latin typeface="Cambria"/>
                <a:ea typeface="Cambria"/>
                <a:cs typeface="Cambria"/>
              </a:rPr>
              <a:t>K−d</a:t>
            </a:r>
            <a:r>
              <a:rPr sz="1700" b="0" i="1">
                <a:solidFill>
                  <a:srgbClr val="1B2A4A"/>
                </a:solidFill>
                <a:latin typeface="Cambria"/>
                <a:ea typeface="Cambria"/>
                <a:cs typeface="Cambria"/>
              </a:rPr>
              <a:t> ẽ</a:t>
            </a:r>
            <a:r>
              <a:rPr sz="1700" b="0" i="1" baseline="-25000">
                <a:solidFill>
                  <a:srgbClr val="1B2A4A"/>
                </a:solidFill>
                <a:latin typeface="Cambria"/>
                <a:ea typeface="Cambria"/>
                <a:cs typeface="Cambria"/>
              </a:rPr>
              <a:t>g,j</a:t>
            </a:r>
            <a:r>
              <a:rPr sz="1700" b="0" i="1">
                <a:solidFill>
                  <a:srgbClr val="1B2A4A"/>
                </a:solidFill>
                <a:latin typeface="Cambria"/>
                <a:ea typeface="Cambria"/>
                <a:cs typeface="Cambria"/>
              </a:rPr>
              <a:t> − α*</a:t>
            </a:r>
            <a:r>
              <a:rPr sz="1700" b="0" i="1" baseline="-25000">
                <a:solidFill>
                  <a:srgbClr val="1B2A4A"/>
                </a:solidFill>
                <a:latin typeface="Cambria"/>
                <a:ea typeface="Cambria"/>
                <a:cs typeface="Cambria"/>
              </a:rPr>
              <a:t>g</a:t>
            </a:r>
            <a:r>
              <a:rPr sz="1700" b="0" i="1">
                <a:solidFill>
                  <a:srgbClr val="1B2A4A"/>
                </a:solidFill>
                <a:latin typeface="Cambria"/>
                <a:ea typeface="Cambria"/>
                <a:cs typeface="Cambria"/>
              </a:rPr>
              <a:t> |  ≤  (θ</a:t>
            </a:r>
            <a:r>
              <a:rPr sz="1700" b="0" i="1" baseline="-25000">
                <a:solidFill>
                  <a:srgbClr val="1B2A4A"/>
                </a:solidFill>
                <a:latin typeface="Cambria"/>
                <a:ea typeface="Cambria"/>
                <a:cs typeface="Cambria"/>
              </a:rPr>
              <a:t>max</a:t>
            </a:r>
            <a:r>
              <a:rPr sz="1700" b="0" i="1">
                <a:solidFill>
                  <a:srgbClr val="1B2A4A"/>
                </a:solidFill>
                <a:latin typeface="Cambria"/>
                <a:ea typeface="Cambria"/>
                <a:cs typeface="Cambria"/>
              </a:rPr>
              <a:t> − θ</a:t>
            </a:r>
            <a:r>
              <a:rPr sz="1700" b="0" i="1" baseline="-25000">
                <a:solidFill>
                  <a:srgbClr val="1B2A4A"/>
                </a:solidFill>
                <a:latin typeface="Cambria"/>
                <a:ea typeface="Cambria"/>
                <a:cs typeface="Cambria"/>
              </a:rPr>
              <a:t>min</a:t>
            </a:r>
            <a:r>
              <a:rPr sz="1700" b="0" i="1">
                <a:solidFill>
                  <a:srgbClr val="1B2A4A"/>
                </a:solidFill>
                <a:latin typeface="Cambria"/>
                <a:ea typeface="Cambria"/>
                <a:cs typeface="Cambria"/>
              </a:rPr>
              <a:t> + 2ηd) / (η(K−d))</a:t>
            </a:r>
          </a:p>
        </p:txBody>
      </p:sp>
      <p:sp>
        <p:nvSpPr>
          <p:cNvPr id="15" name="TextBox 14"/>
          <p:cNvSpPr txBox="1"/>
          <p:nvPr/>
        </p:nvSpPr>
        <p:spPr>
          <a:xfrm>
            <a:off x="698640" y="4158760"/>
            <a:ext cx="5900000" cy="85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For any demand series, any forecasting model, any inventory dynamics and any K &gt; d. The recorded average stockout rate approaches α* = 1 − τ.</a:t>
            </a:r>
          </a:p>
        </p:txBody>
      </p:sp>
      <p:sp>
        <p:nvSpPr>
          <p:cNvPr id="16" name="TextBox 15"/>
          <p:cNvSpPr txBox="1"/>
          <p:nvPr/>
        </p:nvSpPr>
        <p:spPr>
          <a:xfrm>
            <a:off x="548640" y="5158760"/>
            <a:ext cx="6200000" cy="300000"/>
          </a:xfrm>
          <a:prstGeom prst="rect">
            <a:avLst/>
          </a:prstGeom>
          <a:noFill/>
        </p:spPr>
        <p:txBody>
          <a:bodyPr wrap="square" lIns="0" tIns="0" rIns="0" bIns="0" anchor="t">
            <a:noAutofit/>
          </a:bodyPr>
          <a:lstStyle/>
          <a:p>
            <a:pPr algn="l"/>
            <a:r>
              <a:rPr sz="1400" b="1" i="0">
                <a:solidFill>
                  <a:srgbClr val="50596C"/>
                </a:solidFill>
                <a:latin typeface="Calibri"/>
                <a:ea typeface="Calibri"/>
                <a:cs typeface="Calibri"/>
              </a:rPr>
              <a:t>Bound of Theorem 1 (θ ∈ [−2, 2], η = 1, L = 3)</a:t>
            </a:r>
          </a:p>
        </p:txBody>
      </p:sp>
      <p:sp>
        <p:nvSpPr>
          <p:cNvPr id="17" name="Rectangle 16"/>
          <p:cNvSpPr/>
          <p:nvPr/>
        </p:nvSpPr>
        <p:spPr>
          <a:xfrm>
            <a:off x="6998640" y="1508760"/>
            <a:ext cx="4644720" cy="400000"/>
          </a:xfrm>
          <a:prstGeom prst="rect">
            <a:avLst/>
          </a:prstGeom>
          <a:solidFill>
            <a:srgbClr val="1B2A4A"/>
          </a:solidFill>
          <a:ln>
            <a:noFill/>
          </a:ln>
          <a:effectLst/>
        </p:spPr>
        <p:txBody>
          <a:bodyPr rtlCol="0" anchor="ctr"/>
          <a:lstStyle/>
          <a:p>
            <a:pPr algn="ctr"/>
            <a:endParaRPr/>
          </a:p>
        </p:txBody>
      </p:sp>
      <p:sp>
        <p:nvSpPr>
          <p:cNvPr id="18" name="TextBox 17"/>
          <p:cNvSpPr txBox="1"/>
          <p:nvPr/>
        </p:nvSpPr>
        <p:spPr>
          <a:xfrm>
            <a:off x="7090080" y="1508760"/>
            <a:ext cx="1817120" cy="40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Setting</a:t>
            </a:r>
          </a:p>
        </p:txBody>
      </p:sp>
      <p:sp>
        <p:nvSpPr>
          <p:cNvPr id="19" name="TextBox 18"/>
          <p:cNvSpPr txBox="1"/>
          <p:nvPr/>
        </p:nvSpPr>
        <p:spPr>
          <a:xfrm>
            <a:off x="9090080" y="1508760"/>
            <a:ext cx="367120" cy="40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d</a:t>
            </a:r>
          </a:p>
        </p:txBody>
      </p:sp>
      <p:sp>
        <p:nvSpPr>
          <p:cNvPr id="20" name="TextBox 19"/>
          <p:cNvSpPr txBox="1"/>
          <p:nvPr/>
        </p:nvSpPr>
        <p:spPr>
          <a:xfrm>
            <a:off x="9640080" y="1508760"/>
            <a:ext cx="517120" cy="40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K</a:t>
            </a:r>
          </a:p>
        </p:txBody>
      </p:sp>
      <p:sp>
        <p:nvSpPr>
          <p:cNvPr id="21" name="TextBox 20"/>
          <p:cNvSpPr txBox="1"/>
          <p:nvPr/>
        </p:nvSpPr>
        <p:spPr>
          <a:xfrm>
            <a:off x="10340080" y="1508760"/>
            <a:ext cx="1211840" cy="40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Bound</a:t>
            </a:r>
          </a:p>
        </p:txBody>
      </p:sp>
      <p:sp>
        <p:nvSpPr>
          <p:cNvPr id="22" name="TextBox 21"/>
          <p:cNvSpPr txBox="1"/>
          <p:nvPr/>
        </p:nvSpPr>
        <p:spPr>
          <a:xfrm>
            <a:off x="7090080" y="1908760"/>
            <a:ext cx="18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Weekly, 1 year</a:t>
            </a:r>
          </a:p>
        </p:txBody>
      </p:sp>
      <p:sp>
        <p:nvSpPr>
          <p:cNvPr id="23" name="TextBox 22"/>
          <p:cNvSpPr txBox="1"/>
          <p:nvPr/>
        </p:nvSpPr>
        <p:spPr>
          <a:xfrm>
            <a:off x="9090080" y="1908760"/>
            <a:ext cx="36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a:t>
            </a:r>
          </a:p>
        </p:txBody>
      </p:sp>
      <p:sp>
        <p:nvSpPr>
          <p:cNvPr id="24" name="TextBox 23"/>
          <p:cNvSpPr txBox="1"/>
          <p:nvPr/>
        </p:nvSpPr>
        <p:spPr>
          <a:xfrm>
            <a:off x="9640080" y="1908760"/>
            <a:ext cx="5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52</a:t>
            </a:r>
          </a:p>
        </p:txBody>
      </p:sp>
      <p:sp>
        <p:nvSpPr>
          <p:cNvPr id="25" name="TextBox 24"/>
          <p:cNvSpPr txBox="1"/>
          <p:nvPr/>
        </p:nvSpPr>
        <p:spPr>
          <a:xfrm>
            <a:off x="10340080" y="1908760"/>
            <a:ext cx="121184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0.160</a:t>
            </a:r>
          </a:p>
        </p:txBody>
      </p:sp>
      <p:sp>
        <p:nvSpPr>
          <p:cNvPr id="26" name="Rectangle 25"/>
          <p:cNvSpPr/>
          <p:nvPr/>
        </p:nvSpPr>
        <p:spPr>
          <a:xfrm>
            <a:off x="6998640" y="2308760"/>
            <a:ext cx="4644720" cy="400000"/>
          </a:xfrm>
          <a:prstGeom prst="rect">
            <a:avLst/>
          </a:prstGeom>
          <a:solidFill>
            <a:srgbClr val="E3DED3"/>
          </a:solidFill>
          <a:ln>
            <a:noFill/>
          </a:ln>
          <a:effectLst/>
        </p:spPr>
        <p:txBody>
          <a:bodyPr rtlCol="0" anchor="ctr"/>
          <a:lstStyle/>
          <a:p>
            <a:pPr algn="ctr"/>
            <a:endParaRPr/>
          </a:p>
        </p:txBody>
      </p:sp>
      <p:sp>
        <p:nvSpPr>
          <p:cNvPr id="27" name="TextBox 26"/>
          <p:cNvSpPr txBox="1"/>
          <p:nvPr/>
        </p:nvSpPr>
        <p:spPr>
          <a:xfrm>
            <a:off x="7090080" y="2308760"/>
            <a:ext cx="18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Weekly, 3 years</a:t>
            </a:r>
          </a:p>
        </p:txBody>
      </p:sp>
      <p:sp>
        <p:nvSpPr>
          <p:cNvPr id="28" name="TextBox 27"/>
          <p:cNvSpPr txBox="1"/>
          <p:nvPr/>
        </p:nvSpPr>
        <p:spPr>
          <a:xfrm>
            <a:off x="9090080" y="2308760"/>
            <a:ext cx="36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a:t>
            </a:r>
          </a:p>
        </p:txBody>
      </p:sp>
      <p:sp>
        <p:nvSpPr>
          <p:cNvPr id="29" name="TextBox 28"/>
          <p:cNvSpPr txBox="1"/>
          <p:nvPr/>
        </p:nvSpPr>
        <p:spPr>
          <a:xfrm>
            <a:off x="9640080" y="2308760"/>
            <a:ext cx="5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156</a:t>
            </a:r>
          </a:p>
        </p:txBody>
      </p:sp>
      <p:sp>
        <p:nvSpPr>
          <p:cNvPr id="30" name="TextBox 29"/>
          <p:cNvSpPr txBox="1"/>
          <p:nvPr/>
        </p:nvSpPr>
        <p:spPr>
          <a:xfrm>
            <a:off x="10340080" y="2308760"/>
            <a:ext cx="121184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0.052</a:t>
            </a:r>
          </a:p>
        </p:txBody>
      </p:sp>
      <p:sp>
        <p:nvSpPr>
          <p:cNvPr id="31" name="TextBox 30"/>
          <p:cNvSpPr txBox="1"/>
          <p:nvPr/>
        </p:nvSpPr>
        <p:spPr>
          <a:xfrm>
            <a:off x="7090080" y="2708760"/>
            <a:ext cx="18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Daily, 1 year</a:t>
            </a:r>
          </a:p>
        </p:txBody>
      </p:sp>
      <p:sp>
        <p:nvSpPr>
          <p:cNvPr id="32" name="TextBox 31"/>
          <p:cNvSpPr txBox="1"/>
          <p:nvPr/>
        </p:nvSpPr>
        <p:spPr>
          <a:xfrm>
            <a:off x="9090080" y="2708760"/>
            <a:ext cx="36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4</a:t>
            </a:r>
          </a:p>
        </p:txBody>
      </p:sp>
      <p:sp>
        <p:nvSpPr>
          <p:cNvPr id="33" name="TextBox 32"/>
          <p:cNvSpPr txBox="1"/>
          <p:nvPr/>
        </p:nvSpPr>
        <p:spPr>
          <a:xfrm>
            <a:off x="9640080" y="2708760"/>
            <a:ext cx="5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365</a:t>
            </a:r>
          </a:p>
        </p:txBody>
      </p:sp>
      <p:sp>
        <p:nvSpPr>
          <p:cNvPr id="34" name="TextBox 33"/>
          <p:cNvSpPr txBox="1"/>
          <p:nvPr/>
        </p:nvSpPr>
        <p:spPr>
          <a:xfrm>
            <a:off x="10340080" y="2708760"/>
            <a:ext cx="121184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0.033</a:t>
            </a:r>
          </a:p>
        </p:txBody>
      </p:sp>
      <p:sp>
        <p:nvSpPr>
          <p:cNvPr id="35" name="Rectangle 34"/>
          <p:cNvSpPr/>
          <p:nvPr/>
        </p:nvSpPr>
        <p:spPr>
          <a:xfrm>
            <a:off x="6998640" y="3108760"/>
            <a:ext cx="4644720" cy="400000"/>
          </a:xfrm>
          <a:prstGeom prst="rect">
            <a:avLst/>
          </a:prstGeom>
          <a:solidFill>
            <a:srgbClr val="E3DED3"/>
          </a:solidFill>
          <a:ln>
            <a:noFill/>
          </a:ln>
          <a:effectLst/>
        </p:spPr>
        <p:txBody>
          <a:bodyPr rtlCol="0" anchor="ctr"/>
          <a:lstStyle/>
          <a:p>
            <a:pPr algn="ctr"/>
            <a:endParaRPr/>
          </a:p>
        </p:txBody>
      </p:sp>
      <p:sp>
        <p:nvSpPr>
          <p:cNvPr id="36" name="TextBox 35"/>
          <p:cNvSpPr txBox="1"/>
          <p:nvPr/>
        </p:nvSpPr>
        <p:spPr>
          <a:xfrm>
            <a:off x="7090080" y="3108760"/>
            <a:ext cx="1817120" cy="40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Daily, 2 years</a:t>
            </a:r>
          </a:p>
        </p:txBody>
      </p:sp>
      <p:sp>
        <p:nvSpPr>
          <p:cNvPr id="37" name="TextBox 36"/>
          <p:cNvSpPr txBox="1"/>
          <p:nvPr/>
        </p:nvSpPr>
        <p:spPr>
          <a:xfrm>
            <a:off x="9090080" y="3108760"/>
            <a:ext cx="36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4</a:t>
            </a:r>
          </a:p>
        </p:txBody>
      </p:sp>
      <p:sp>
        <p:nvSpPr>
          <p:cNvPr id="38" name="TextBox 37"/>
          <p:cNvSpPr txBox="1"/>
          <p:nvPr/>
        </p:nvSpPr>
        <p:spPr>
          <a:xfrm>
            <a:off x="9640080" y="3108760"/>
            <a:ext cx="517120" cy="40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730</a:t>
            </a:r>
          </a:p>
        </p:txBody>
      </p:sp>
      <p:sp>
        <p:nvSpPr>
          <p:cNvPr id="39" name="TextBox 38"/>
          <p:cNvSpPr txBox="1"/>
          <p:nvPr/>
        </p:nvSpPr>
        <p:spPr>
          <a:xfrm>
            <a:off x="10340080" y="3108760"/>
            <a:ext cx="1211840" cy="40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0.017</a:t>
            </a:r>
          </a:p>
        </p:txBody>
      </p:sp>
      <p:sp>
        <p:nvSpPr>
          <p:cNvPr id="40" name="Rectangle 39"/>
          <p:cNvSpPr/>
          <p:nvPr/>
        </p:nvSpPr>
        <p:spPr>
          <a:xfrm>
            <a:off x="6998640" y="3658760"/>
            <a:ext cx="4644720" cy="2100000"/>
          </a:xfrm>
          <a:prstGeom prst="rect">
            <a:avLst/>
          </a:prstGeom>
          <a:solidFill>
            <a:srgbClr val="F1EDE4"/>
          </a:solidFill>
          <a:ln>
            <a:noFill/>
          </a:ln>
          <a:effectLst/>
        </p:spPr>
        <p:txBody>
          <a:bodyPr rtlCol="0" anchor="ctr"/>
          <a:lstStyle/>
          <a:p>
            <a:pPr algn="ctr"/>
            <a:endParaRPr/>
          </a:p>
        </p:txBody>
      </p:sp>
      <p:sp>
        <p:nvSpPr>
          <p:cNvPr id="41" name="Rectangle 40"/>
          <p:cNvSpPr/>
          <p:nvPr/>
        </p:nvSpPr>
        <p:spPr>
          <a:xfrm>
            <a:off x="6998640" y="3658760"/>
            <a:ext cx="54864" cy="2100000"/>
          </a:xfrm>
          <a:prstGeom prst="rect">
            <a:avLst/>
          </a:prstGeom>
          <a:solidFill>
            <a:srgbClr val="E0662B"/>
          </a:solidFill>
          <a:ln>
            <a:noFill/>
          </a:ln>
          <a:effectLst/>
        </p:spPr>
        <p:txBody>
          <a:bodyPr rtlCol="0" anchor="ctr"/>
          <a:lstStyle/>
          <a:p>
            <a:pPr algn="ctr"/>
            <a:endParaRPr/>
          </a:p>
        </p:txBody>
      </p:sp>
      <p:sp>
        <p:nvSpPr>
          <p:cNvPr id="42" name="TextBox 41"/>
          <p:cNvSpPr txBox="1"/>
          <p:nvPr/>
        </p:nvSpPr>
        <p:spPr>
          <a:xfrm>
            <a:off x="7148640" y="3758760"/>
            <a:ext cx="4344720" cy="2667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Scope of the guarantee</a:t>
            </a:r>
          </a:p>
        </p:txBody>
      </p:sp>
      <p:sp>
        <p:nvSpPr>
          <p:cNvPr id="43" name="TextBox 42"/>
          <p:cNvSpPr txBox="1"/>
          <p:nvPr/>
        </p:nvSpPr>
        <p:spPr>
          <a:xfrm>
            <a:off x="7148640" y="4052130"/>
            <a:ext cx="4344720" cy="1646630"/>
          </a:xfrm>
          <a:prstGeom prst="rect">
            <a:avLst/>
          </a:prstGeom>
          <a:noFill/>
        </p:spPr>
        <p:txBody>
          <a:bodyPr wrap="square" lIns="0" tIns="0" rIns="0" bIns="0" anchor="t">
            <a:noAutofit/>
          </a:bodyPr>
          <a:lstStyle/>
          <a:p>
            <a:pPr marL="228600" indent="-228600" algn="l">
              <a:spcBef>
                <a:spcPts val="300"/>
              </a:spcBef>
              <a:buClr>
                <a:srgbClr val="E0662B"/>
              </a:buClr>
              <a:buFont typeface="Arial"/>
              <a:buChar char="•"/>
            </a:pPr>
            <a:r>
              <a:rPr sz="1350" b="0" i="0">
                <a:solidFill>
                  <a:srgbClr val="1B2A4A"/>
                </a:solidFill>
                <a:latin typeface="Calibri"/>
                <a:ea typeface="Calibri"/>
                <a:cs typeface="Calibri"/>
              </a:rPr>
              <a:t>It bounds the recorded error ẽ, not real CSL directly; boundary hits void Corollary 1.</a:t>
            </a:r>
          </a:p>
          <a:p>
            <a:pPr marL="228600" indent="-228600" algn="l">
              <a:spcBef>
                <a:spcPts val="300"/>
              </a:spcBef>
              <a:buClr>
                <a:srgbClr val="E0662B"/>
              </a:buClr>
              <a:buFont typeface="Arial"/>
              <a:buChar char="•"/>
            </a:pPr>
            <a:r>
              <a:rPr sz="1350" b="0" i="0">
                <a:solidFill>
                  <a:srgbClr val="1B2A4A"/>
                </a:solidFill>
                <a:latin typeface="Calibri"/>
                <a:ea typeface="Calibri"/>
                <a:cs typeface="Calibri"/>
              </a:rPr>
              <a:t>The bound is loose; the observed accuracy (about 0.001) is empirical.</a:t>
            </a:r>
          </a:p>
          <a:p>
            <a:pPr marL="228600" indent="-228600" algn="l">
              <a:spcBef>
                <a:spcPts val="300"/>
              </a:spcBef>
              <a:buClr>
                <a:srgbClr val="E0662B"/>
              </a:buClr>
              <a:buFont typeface="Arial"/>
              <a:buChar char="•"/>
            </a:pPr>
            <a:r>
              <a:rPr sz="1350" b="0" i="0">
                <a:solidFill>
                  <a:srgbClr val="1B2A4A"/>
                </a:solidFill>
                <a:latin typeface="Calibri"/>
                <a:ea typeface="Calibri"/>
                <a:cs typeface="Calibri"/>
              </a:rPr>
              <a:t>The proof has not been independently reviewed.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3B · C³-OUT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The learned θ is a diagnostic: above 1 the forecast is too narrow, below 1 too wide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24</a:t>
            </a:r>
          </a:p>
        </p:txBody>
      </p:sp>
      <p:pic>
        <p:nvPicPr>
          <p:cNvPr id="6" name="Picture 5" descr="own_theta_en.png"/>
          <p:cNvPicPr>
            <a:picLocks noChangeAspect="1"/>
          </p:cNvPicPr>
          <p:nvPr/>
        </p:nvPicPr>
        <p:blipFill>
          <a:blip r:embed="rId3"/>
          <a:stretch>
            <a:fillRect/>
          </a:stretch>
        </p:blipFill>
        <p:spPr>
          <a:xfrm>
            <a:off x="548640" y="1508760"/>
            <a:ext cx="5600000" cy="3648484"/>
          </a:xfrm>
          <a:prstGeom prst="rect">
            <a:avLst/>
          </a:prstGeom>
        </p:spPr>
      </p:pic>
      <p:sp>
        <p:nvSpPr>
          <p:cNvPr id="7" name="Rectangle 6"/>
          <p:cNvSpPr/>
          <p:nvPr/>
        </p:nvSpPr>
        <p:spPr>
          <a:xfrm>
            <a:off x="6348640" y="1508760"/>
            <a:ext cx="5294720" cy="400000"/>
          </a:xfrm>
          <a:prstGeom prst="rect">
            <a:avLst/>
          </a:prstGeom>
          <a:solidFill>
            <a:srgbClr val="1B2A4A"/>
          </a:solidFill>
          <a:ln>
            <a:noFill/>
          </a:ln>
          <a:effectLst/>
        </p:spPr>
        <p:txBody>
          <a:bodyPr rtlCol="0" anchor="ctr"/>
          <a:lstStyle/>
          <a:p>
            <a:pPr algn="ctr"/>
            <a:endParaRPr/>
          </a:p>
        </p:txBody>
      </p:sp>
      <p:sp>
        <p:nvSpPr>
          <p:cNvPr id="8" name="TextBox 7"/>
          <p:cNvSpPr txBox="1"/>
          <p:nvPr/>
        </p:nvSpPr>
        <p:spPr>
          <a:xfrm>
            <a:off x="6440080" y="1508760"/>
            <a:ext cx="15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Context</a:t>
            </a:r>
          </a:p>
        </p:txBody>
      </p:sp>
      <p:sp>
        <p:nvSpPr>
          <p:cNvPr id="9" name="TextBox 8"/>
          <p:cNvSpPr txBox="1"/>
          <p:nvPr/>
        </p:nvSpPr>
        <p:spPr>
          <a:xfrm>
            <a:off x="8140080" y="1508760"/>
            <a:ext cx="86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Final e</a:t>
            </a:r>
            <a:r>
              <a:rPr sz="1350" b="1" i="0" baseline="30000">
                <a:solidFill>
                  <a:srgbClr val="FFFFFF"/>
                </a:solidFill>
                <a:latin typeface="Calibri"/>
                <a:ea typeface="Calibri"/>
                <a:cs typeface="Calibri"/>
              </a:rPr>
              <a:t>θ</a:t>
            </a:r>
          </a:p>
        </p:txBody>
      </p:sp>
      <p:sp>
        <p:nvSpPr>
          <p:cNvPr id="10" name="TextBox 9"/>
          <p:cNvSpPr txBox="1"/>
          <p:nvPr/>
        </p:nvSpPr>
        <p:spPr>
          <a:xfrm>
            <a:off x="9190080" y="1508760"/>
            <a:ext cx="236184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Reading</a:t>
            </a:r>
          </a:p>
        </p:txBody>
      </p:sp>
      <p:sp>
        <p:nvSpPr>
          <p:cNvPr id="11" name="TextBox 10"/>
          <p:cNvSpPr txBox="1"/>
          <p:nvPr/>
        </p:nvSpPr>
        <p:spPr>
          <a:xfrm>
            <a:off x="6440080" y="1908760"/>
            <a:ext cx="1517120" cy="90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CA_1 case (ETS, PDF)</a:t>
            </a:r>
          </a:p>
        </p:txBody>
      </p:sp>
      <p:sp>
        <p:nvSpPr>
          <p:cNvPr id="12" name="TextBox 11"/>
          <p:cNvSpPr txBox="1"/>
          <p:nvPr/>
        </p:nvSpPr>
        <p:spPr>
          <a:xfrm>
            <a:off x="8140080" y="1908760"/>
            <a:ext cx="867120" cy="9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0.81 – 0.97</a:t>
            </a:r>
          </a:p>
        </p:txBody>
      </p:sp>
      <p:sp>
        <p:nvSpPr>
          <p:cNvPr id="13" name="TextBox 12"/>
          <p:cNvSpPr txBox="1"/>
          <p:nvPr/>
        </p:nvSpPr>
        <p:spPr>
          <a:xfrm>
            <a:off x="9190080" y="1908760"/>
            <a:ext cx="2361840" cy="9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Forecast has surplus; C³-OUT trims the order-up-to level 3–19%</a:t>
            </a:r>
          </a:p>
        </p:txBody>
      </p:sp>
      <p:sp>
        <p:nvSpPr>
          <p:cNvPr id="14" name="Rectangle 13"/>
          <p:cNvSpPr/>
          <p:nvPr/>
        </p:nvSpPr>
        <p:spPr>
          <a:xfrm>
            <a:off x="6348640" y="2808760"/>
            <a:ext cx="5294720" cy="620000"/>
          </a:xfrm>
          <a:prstGeom prst="rect">
            <a:avLst/>
          </a:prstGeom>
          <a:solidFill>
            <a:srgbClr val="E3DED3"/>
          </a:solidFill>
          <a:ln>
            <a:noFill/>
          </a:ln>
          <a:effectLst/>
        </p:spPr>
        <p:txBody>
          <a:bodyPr rtlCol="0" anchor="ctr"/>
          <a:lstStyle/>
          <a:p>
            <a:pPr algn="ctr"/>
            <a:endParaRPr/>
          </a:p>
        </p:txBody>
      </p:sp>
      <p:sp>
        <p:nvSpPr>
          <p:cNvPr id="15" name="TextBox 14"/>
          <p:cNvSpPr txBox="1"/>
          <p:nvPr/>
        </p:nvSpPr>
        <p:spPr>
          <a:xfrm>
            <a:off x="6440080" y="2808760"/>
            <a:ext cx="1517120" cy="6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M5, 8 models (PDF)</a:t>
            </a:r>
          </a:p>
        </p:txBody>
      </p:sp>
      <p:sp>
        <p:nvSpPr>
          <p:cNvPr id="16" name="TextBox 15"/>
          <p:cNvSpPr txBox="1"/>
          <p:nvPr/>
        </p:nvSpPr>
        <p:spPr>
          <a:xfrm>
            <a:off x="8140080" y="2808760"/>
            <a:ext cx="86712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0.71 – 2.36</a:t>
            </a:r>
          </a:p>
        </p:txBody>
      </p:sp>
      <p:sp>
        <p:nvSpPr>
          <p:cNvPr id="17" name="TextBox 16"/>
          <p:cNvSpPr txBox="1"/>
          <p:nvPr/>
        </p:nvSpPr>
        <p:spPr>
          <a:xfrm>
            <a:off x="9190080" y="2808760"/>
            <a:ext cx="236184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Depends on model and group</a:t>
            </a:r>
          </a:p>
        </p:txBody>
      </p:sp>
      <p:sp>
        <p:nvSpPr>
          <p:cNvPr id="18" name="TextBox 17"/>
          <p:cNvSpPr txBox="1"/>
          <p:nvPr/>
        </p:nvSpPr>
        <p:spPr>
          <a:xfrm>
            <a:off x="6440080" y="3428760"/>
            <a:ext cx="1517120" cy="110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Retrained Ensemble (team)</a:t>
            </a:r>
          </a:p>
        </p:txBody>
      </p:sp>
      <p:sp>
        <p:nvSpPr>
          <p:cNvPr id="19" name="TextBox 18"/>
          <p:cNvSpPr txBox="1"/>
          <p:nvPr/>
        </p:nvSpPr>
        <p:spPr>
          <a:xfrm>
            <a:off x="8140080" y="3428760"/>
            <a:ext cx="867120" cy="11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1.09 – 1.48</a:t>
            </a:r>
          </a:p>
        </p:txBody>
      </p:sp>
      <p:sp>
        <p:nvSpPr>
          <p:cNvPr id="20" name="TextBox 19"/>
          <p:cNvSpPr txBox="1"/>
          <p:nvPr/>
        </p:nvSpPr>
        <p:spPr>
          <a:xfrm>
            <a:off x="9190080" y="3428760"/>
            <a:ext cx="2361840" cy="110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Forecast too narrow; sparse (Z) groups need the largest factor: AZ 1.48, BZ 1.47</a:t>
            </a:r>
          </a:p>
        </p:txBody>
      </p:sp>
      <p:sp>
        <p:nvSpPr>
          <p:cNvPr id="21" name="TextBox 20"/>
          <p:cNvSpPr txBox="1"/>
          <p:nvPr/>
        </p:nvSpPr>
        <p:spPr>
          <a:xfrm>
            <a:off x="6348640" y="4758760"/>
            <a:ext cx="5294720" cy="1000000"/>
          </a:xfrm>
          <a:prstGeom prst="rect">
            <a:avLst/>
          </a:prstGeom>
          <a:noFill/>
        </p:spPr>
        <p:txBody>
          <a:bodyPr wrap="square" lIns="0" tIns="0" rIns="0" bIns="0" anchor="t">
            <a:noAutofit/>
          </a:bodyPr>
          <a:lstStyle/>
          <a:p>
            <a:pPr algn="l"/>
            <a:r>
              <a:rPr sz="1500" b="0" i="0">
                <a:solidFill>
                  <a:srgbClr val="1B2A4A"/>
                </a:solidFill>
                <a:latin typeface="Calibri"/>
                <a:ea typeface="Calibri"/>
                <a:cs typeface="Calibri"/>
              </a:rPr>
              <a:t>One formula, three settings, three directions of error: the learned factor tells you whether the forecaster is too narrow or too wide, per group.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1417320"/>
            <a:ext cx="2743200" cy="1188720"/>
          </a:xfrm>
          <a:prstGeom prst="rect">
            <a:avLst/>
          </a:prstGeom>
          <a:noFill/>
        </p:spPr>
        <p:txBody>
          <a:bodyPr wrap="square" lIns="0" tIns="0" rIns="0" bIns="0" anchor="t">
            <a:noAutofit/>
          </a:bodyPr>
          <a:lstStyle/>
          <a:p>
            <a:pPr algn="l"/>
            <a:r>
              <a:rPr sz="7200" b="1" i="0">
                <a:solidFill>
                  <a:srgbClr val="E0662B"/>
                </a:solidFill>
                <a:latin typeface="Cambria"/>
                <a:ea typeface="Cambria"/>
                <a:cs typeface="Cambria"/>
              </a:rPr>
              <a:t>4</a:t>
            </a:r>
          </a:p>
        </p:txBody>
      </p:sp>
      <p:sp>
        <p:nvSpPr>
          <p:cNvPr id="3" name="TextBox 2"/>
          <p:cNvSpPr txBox="1"/>
          <p:nvPr/>
        </p:nvSpPr>
        <p:spPr>
          <a:xfrm>
            <a:off x="749808" y="2468880"/>
            <a:ext cx="3657600" cy="292608"/>
          </a:xfrm>
          <a:prstGeom prst="rect">
            <a:avLst/>
          </a:prstGeom>
          <a:noFill/>
        </p:spPr>
        <p:txBody>
          <a:bodyPr wrap="square" lIns="0" tIns="0" rIns="0" bIns="0" anchor="t">
            <a:noAutofit/>
          </a:bodyPr>
          <a:lstStyle/>
          <a:p>
            <a:pPr algn="l"/>
            <a:r>
              <a:rPr sz="1400" b="0" i="0">
                <a:solidFill>
                  <a:srgbClr val="F3D9C6"/>
                </a:solidFill>
                <a:latin typeface="Calibri"/>
                <a:ea typeface="Calibri"/>
                <a:cs typeface="Calibri"/>
              </a:rPr>
              <a:t>STAGE 4 · EVALUATION</a:t>
            </a:r>
          </a:p>
        </p:txBody>
      </p:sp>
      <p:sp>
        <p:nvSpPr>
          <p:cNvPr id="4" name="TextBox 3"/>
          <p:cNvSpPr txBox="1"/>
          <p:nvPr/>
        </p:nvSpPr>
        <p:spPr>
          <a:xfrm>
            <a:off x="731520" y="2761488"/>
            <a:ext cx="10607040" cy="914400"/>
          </a:xfrm>
          <a:prstGeom prst="rect">
            <a:avLst/>
          </a:prstGeom>
          <a:noFill/>
        </p:spPr>
        <p:txBody>
          <a:bodyPr wrap="square" lIns="0" tIns="0" rIns="0" bIns="0" anchor="t">
            <a:noAutofit/>
          </a:bodyPr>
          <a:lstStyle/>
          <a:p>
            <a:pPr algn="l"/>
            <a:r>
              <a:rPr sz="3700" b="1" i="0">
                <a:solidFill>
                  <a:srgbClr val="FFFFFF"/>
                </a:solidFill>
                <a:latin typeface="Cambria"/>
                <a:ea typeface="Cambria"/>
                <a:cs typeface="Cambria"/>
              </a:rPr>
              <a:t>Evaluation and benchmark</a:t>
            </a:r>
          </a:p>
        </p:txBody>
      </p:sp>
      <p:sp>
        <p:nvSpPr>
          <p:cNvPr id="5" name="TextBox 4"/>
          <p:cNvSpPr txBox="1"/>
          <p:nvPr/>
        </p:nvSpPr>
        <p:spPr>
          <a:xfrm>
            <a:off x="731520" y="3749040"/>
            <a:ext cx="9875520" cy="914400"/>
          </a:xfrm>
          <a:prstGeom prst="rect">
            <a:avLst/>
          </a:prstGeom>
          <a:noFill/>
        </p:spPr>
        <p:txBody>
          <a:bodyPr wrap="square" lIns="0" tIns="0" rIns="0" bIns="0" anchor="t">
            <a:noAutofit/>
          </a:bodyPr>
          <a:lstStyle/>
          <a:p>
            <a:pPr algn="l"/>
            <a:r>
              <a:rPr sz="1800" b="0" i="0">
                <a:solidFill>
                  <a:srgbClr val="D8DCE6"/>
                </a:solidFill>
                <a:latin typeface="Calibri"/>
                <a:ea typeface="Calibri"/>
                <a:cs typeface="Calibri"/>
              </a:rPr>
              <a:t>Does the new method beat the baselines, and on which yardstick?</a:t>
            </a:r>
          </a:p>
        </p:txBody>
      </p:sp>
      <p:sp>
        <p:nvSpPr>
          <p:cNvPr id="6" name="TextBox 5"/>
          <p:cNvSpPr txBox="1"/>
          <p:nvPr/>
        </p:nvSpPr>
        <p:spPr>
          <a:xfrm>
            <a:off x="731520" y="5989320"/>
            <a:ext cx="9144000" cy="292608"/>
          </a:xfrm>
          <a:prstGeom prst="rect">
            <a:avLst/>
          </a:prstGeom>
          <a:noFill/>
        </p:spPr>
        <p:txBody>
          <a:bodyPr wrap="square" lIns="0" tIns="0" rIns="0" bIns="0" anchor="t">
            <a:noAutofit/>
          </a:bodyPr>
          <a:lstStyle/>
          <a:p>
            <a:pPr algn="l"/>
            <a:r>
              <a:rPr sz="1250" b="0" i="0">
                <a:solidFill>
                  <a:srgbClr val="9AA2B4"/>
                </a:solidFill>
                <a:latin typeface="Calibri"/>
                <a:ea typeface="Calibri"/>
                <a:cs typeface="Calibri"/>
              </a:rPr>
              <a:t>design  ·  Tier 1 accuracy  ·  service  ·  cost  ·  ablation  ·  CA_1  ·  extra check</a:t>
            </a:r>
          </a:p>
        </p:txBody>
      </p:sp>
      <p:sp>
        <p:nvSpPr>
          <p:cNvPr id="7" name="TextBox 6"/>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9AA2B4"/>
                </a:solidFill>
                <a:latin typeface="Calibri"/>
                <a:ea typeface="Calibri"/>
                <a:cs typeface="Calibri"/>
              </a:rPr>
              <a:t>DFIOS · SE_18 · FPT University Da Nang · SET490</a:t>
            </a:r>
          </a:p>
        </p:txBody>
      </p:sp>
      <p:sp>
        <p:nvSpPr>
          <p:cNvPr id="8" name="TextBox 7"/>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9AA2B4"/>
                </a:solidFill>
                <a:latin typeface="Calibri"/>
                <a:ea typeface="Calibri"/>
                <a:cs typeface="Calibri"/>
              </a:rPr>
              <a:t>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EVALUATION</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Evaluation design: against which baselines, measured how</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26</a:t>
            </a:r>
          </a:p>
        </p:txBody>
      </p:sp>
      <p:sp>
        <p:nvSpPr>
          <p:cNvPr id="6" name="Rectangle 5"/>
          <p:cNvSpPr/>
          <p:nvPr/>
        </p:nvSpPr>
        <p:spPr>
          <a:xfrm>
            <a:off x="548640" y="1508760"/>
            <a:ext cx="6700000" cy="400000"/>
          </a:xfrm>
          <a:prstGeom prst="rect">
            <a:avLst/>
          </a:prstGeom>
          <a:solidFill>
            <a:srgbClr val="1B2A4A"/>
          </a:solidFill>
          <a:ln>
            <a:noFill/>
          </a:ln>
          <a:effectLst/>
        </p:spPr>
        <p:txBody>
          <a:bodyPr rtlCol="0" anchor="ctr"/>
          <a:lstStyle/>
          <a:p>
            <a:pPr algn="ctr"/>
            <a:endParaRPr/>
          </a:p>
        </p:txBody>
      </p:sp>
      <p:sp>
        <p:nvSpPr>
          <p:cNvPr id="7" name="TextBox 6"/>
          <p:cNvSpPr txBox="1"/>
          <p:nvPr/>
        </p:nvSpPr>
        <p:spPr>
          <a:xfrm>
            <a:off x="640080" y="1508760"/>
            <a:ext cx="21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Policy</a:t>
            </a:r>
          </a:p>
        </p:txBody>
      </p:sp>
      <p:sp>
        <p:nvSpPr>
          <p:cNvPr id="8" name="TextBox 7"/>
          <p:cNvSpPr txBox="1"/>
          <p:nvPr/>
        </p:nvSpPr>
        <p:spPr>
          <a:xfrm>
            <a:off x="2940080" y="1508760"/>
            <a:ext cx="42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Description</a:t>
            </a:r>
          </a:p>
        </p:txBody>
      </p:sp>
      <p:sp>
        <p:nvSpPr>
          <p:cNvPr id="9" name="TextBox 8"/>
          <p:cNvSpPr txBox="1"/>
          <p:nvPr/>
        </p:nvSpPr>
        <p:spPr>
          <a:xfrm>
            <a:off x="640080" y="1908760"/>
            <a:ext cx="2117120" cy="43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B1: RAW 0.95</a:t>
            </a:r>
          </a:p>
        </p:txBody>
      </p:sp>
      <p:sp>
        <p:nvSpPr>
          <p:cNvPr id="10" name="TextBox 9"/>
          <p:cNvSpPr txBox="1"/>
          <p:nvPr/>
        </p:nvSpPr>
        <p:spPr>
          <a:xfrm>
            <a:off x="2940080" y="1908760"/>
            <a:ext cx="4217120" cy="43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S = the 0.95 quantile, no calibration</a:t>
            </a:r>
          </a:p>
        </p:txBody>
      </p:sp>
      <p:sp>
        <p:nvSpPr>
          <p:cNvPr id="11" name="Rectangle 10"/>
          <p:cNvSpPr/>
          <p:nvPr/>
        </p:nvSpPr>
        <p:spPr>
          <a:xfrm>
            <a:off x="548640" y="2338760"/>
            <a:ext cx="6700000" cy="640000"/>
          </a:xfrm>
          <a:prstGeom prst="rect">
            <a:avLst/>
          </a:prstGeom>
          <a:solidFill>
            <a:srgbClr val="E3DED3"/>
          </a:solidFill>
          <a:ln>
            <a:noFill/>
          </a:ln>
          <a:effectLst/>
        </p:spPr>
        <p:txBody>
          <a:bodyPr rtlCol="0" anchor="ctr"/>
          <a:lstStyle/>
          <a:p>
            <a:pPr algn="ctr"/>
            <a:endParaRPr/>
          </a:p>
        </p:txBody>
      </p:sp>
      <p:sp>
        <p:nvSpPr>
          <p:cNvPr id="12" name="TextBox 11"/>
          <p:cNvSpPr txBox="1"/>
          <p:nvPr/>
        </p:nvSpPr>
        <p:spPr>
          <a:xfrm>
            <a:off x="640080" y="2338760"/>
            <a:ext cx="2117120" cy="64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B2: RAW, global τ</a:t>
            </a:r>
          </a:p>
        </p:txBody>
      </p:sp>
      <p:sp>
        <p:nvSpPr>
          <p:cNvPr id="13" name="TextBox 12"/>
          <p:cNvSpPr txBox="1"/>
          <p:nvPr/>
        </p:nvSpPr>
        <p:spPr>
          <a:xfrm>
            <a:off x="2940080" y="2338760"/>
            <a:ext cx="4217120" cy="64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τ cost-optimal on validation, grid up to 0.999. The strongest baseline.</a:t>
            </a:r>
          </a:p>
        </p:txBody>
      </p:sp>
      <p:sp>
        <p:nvSpPr>
          <p:cNvPr id="14" name="TextBox 13"/>
          <p:cNvSpPr txBox="1"/>
          <p:nvPr/>
        </p:nvSpPr>
        <p:spPr>
          <a:xfrm>
            <a:off x="640080" y="2978760"/>
            <a:ext cx="2117120" cy="5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Static calibration</a:t>
            </a:r>
          </a:p>
        </p:txBody>
      </p:sp>
      <p:sp>
        <p:nvSpPr>
          <p:cNvPr id="15" name="TextBox 14"/>
          <p:cNvSpPr txBox="1"/>
          <p:nvPr/>
        </p:nvSpPr>
        <p:spPr>
          <a:xfrm>
            <a:off x="2940080" y="2978760"/>
            <a:ext cx="4217120" cy="5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Run C³-OUT on validation, then freeze the factors</a:t>
            </a:r>
          </a:p>
        </p:txBody>
      </p:sp>
      <p:sp>
        <p:nvSpPr>
          <p:cNvPr id="16" name="Rectangle 15"/>
          <p:cNvSpPr/>
          <p:nvPr/>
        </p:nvSpPr>
        <p:spPr>
          <a:xfrm>
            <a:off x="548640" y="3498760"/>
            <a:ext cx="6700000" cy="430000"/>
          </a:xfrm>
          <a:prstGeom prst="rect">
            <a:avLst/>
          </a:prstGeom>
          <a:solidFill>
            <a:srgbClr val="E3DED3"/>
          </a:solidFill>
          <a:ln>
            <a:noFill/>
          </a:ln>
          <a:effectLst/>
        </p:spPr>
        <p:txBody>
          <a:bodyPr rtlCol="0" anchor="ctr"/>
          <a:lstStyle/>
          <a:p>
            <a:pPr algn="ctr"/>
            <a:endParaRPr/>
          </a:p>
        </p:txBody>
      </p:sp>
      <p:sp>
        <p:nvSpPr>
          <p:cNvPr id="17" name="TextBox 16"/>
          <p:cNvSpPr txBox="1"/>
          <p:nvPr/>
        </p:nvSpPr>
        <p:spPr>
          <a:xfrm>
            <a:off x="640080" y="3498760"/>
            <a:ext cx="2117120" cy="43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P1: C³-OUT</a:t>
            </a:r>
          </a:p>
        </p:txBody>
      </p:sp>
      <p:sp>
        <p:nvSpPr>
          <p:cNvPr id="18" name="TextBox 17"/>
          <p:cNvSpPr txBox="1"/>
          <p:nvPr/>
        </p:nvSpPr>
        <p:spPr>
          <a:xfrm>
            <a:off x="2940080" y="3498760"/>
            <a:ext cx="4217120" cy="43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Proposed method, τ = 0.95</a:t>
            </a:r>
          </a:p>
        </p:txBody>
      </p:sp>
      <p:sp>
        <p:nvSpPr>
          <p:cNvPr id="19" name="TextBox 18"/>
          <p:cNvSpPr txBox="1"/>
          <p:nvPr/>
        </p:nvSpPr>
        <p:spPr>
          <a:xfrm>
            <a:off x="640080" y="3928760"/>
            <a:ext cx="2117120" cy="5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C³-OUT-CR</a:t>
            </a:r>
          </a:p>
        </p:txBody>
      </p:sp>
      <p:sp>
        <p:nvSpPr>
          <p:cNvPr id="20" name="TextBox 19"/>
          <p:cNvSpPr txBox="1"/>
          <p:nvPr/>
        </p:nvSpPr>
        <p:spPr>
          <a:xfrm>
            <a:off x="2940080" y="3928760"/>
            <a:ext cx="4217120" cy="5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τ = critical ratio b/(b + hR), rounded to the grid</a:t>
            </a:r>
          </a:p>
        </p:txBody>
      </p:sp>
      <p:sp>
        <p:nvSpPr>
          <p:cNvPr id="21" name="Rectangle 20"/>
          <p:cNvSpPr/>
          <p:nvPr/>
        </p:nvSpPr>
        <p:spPr>
          <a:xfrm>
            <a:off x="7498640" y="1508760"/>
            <a:ext cx="4144720" cy="2050000"/>
          </a:xfrm>
          <a:prstGeom prst="rect">
            <a:avLst/>
          </a:prstGeom>
          <a:solidFill>
            <a:srgbClr val="F1EDE4"/>
          </a:solidFill>
          <a:ln>
            <a:noFill/>
          </a:ln>
          <a:effectLst/>
        </p:spPr>
        <p:txBody>
          <a:bodyPr rtlCol="0" anchor="ctr"/>
          <a:lstStyle/>
          <a:p>
            <a:pPr algn="ctr"/>
            <a:endParaRPr/>
          </a:p>
        </p:txBody>
      </p:sp>
      <p:sp>
        <p:nvSpPr>
          <p:cNvPr id="22" name="TextBox 21"/>
          <p:cNvSpPr txBox="1"/>
          <p:nvPr/>
        </p:nvSpPr>
        <p:spPr>
          <a:xfrm>
            <a:off x="7648640" y="1608760"/>
            <a:ext cx="3844720" cy="2667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Data and models</a:t>
            </a:r>
          </a:p>
        </p:txBody>
      </p:sp>
      <p:sp>
        <p:nvSpPr>
          <p:cNvPr id="23" name="TextBox 22"/>
          <p:cNvSpPr txBox="1"/>
          <p:nvPr/>
        </p:nvSpPr>
        <p:spPr>
          <a:xfrm>
            <a:off x="7648640" y="1902130"/>
            <a:ext cx="3844720" cy="1596630"/>
          </a:xfrm>
          <a:prstGeom prst="rect">
            <a:avLst/>
          </a:prstGeom>
          <a:noFill/>
        </p:spPr>
        <p:txBody>
          <a:bodyPr wrap="square" lIns="0" tIns="0" rIns="0" bIns="0" anchor="t">
            <a:noAutofit/>
          </a:bodyPr>
          <a:lstStyle/>
          <a:p>
            <a:pPr marL="228600" indent="-228600" algn="l">
              <a:spcBef>
                <a:spcPts val="200"/>
              </a:spcBef>
              <a:buClr>
                <a:srgbClr val="E0662B"/>
              </a:buClr>
              <a:buFont typeface="Arial"/>
              <a:buChar char="•"/>
            </a:pPr>
            <a:r>
              <a:rPr sz="1350" b="0" i="0">
                <a:solidFill>
                  <a:srgbClr val="1B2A4A"/>
                </a:solidFill>
                <a:latin typeface="Calibri"/>
                <a:ea typeface="Calibri"/>
                <a:cs typeface="Calibri"/>
              </a:rPr>
              <a:t>Synthetic: 10 seeds × 900 SKUs × 730 days, 4 forecast types</a:t>
            </a:r>
          </a:p>
          <a:p>
            <a:pPr marL="228600" indent="-228600" algn="l">
              <a:spcBef>
                <a:spcPts val="200"/>
              </a:spcBef>
              <a:buClr>
                <a:srgbClr val="E0662B"/>
              </a:buClr>
              <a:buFont typeface="Arial"/>
              <a:buChar char="•"/>
            </a:pPr>
            <a:r>
              <a:rPr sz="1350" b="0" i="0">
                <a:solidFill>
                  <a:srgbClr val="1B2A4A"/>
                </a:solidFill>
                <a:latin typeface="Calibri"/>
                <a:ea typeface="Calibri"/>
                <a:cs typeface="Calibri"/>
              </a:rPr>
              <a:t>M5: 8,831 series, 3 stores, 52 test weeks</a:t>
            </a:r>
          </a:p>
          <a:p>
            <a:pPr marL="228600" indent="-228600" algn="l">
              <a:spcBef>
                <a:spcPts val="200"/>
              </a:spcBef>
              <a:buClr>
                <a:srgbClr val="E0662B"/>
              </a:buClr>
              <a:buFont typeface="Arial"/>
              <a:buChar char="•"/>
            </a:pPr>
            <a:r>
              <a:rPr sz="1350" b="0" i="0">
                <a:solidFill>
                  <a:srgbClr val="1B2A4A"/>
                </a:solidFill>
                <a:latin typeface="Calibri"/>
                <a:ea typeface="Calibri"/>
                <a:cs typeface="Calibri"/>
              </a:rPr>
              <a:t>8 models: Seasonal Naive, Croston-SBA, TSB, ETS, LightGBM-Q, Chronos-Bolt, Chronos-2, TimesFM-2.5</a:t>
            </a:r>
          </a:p>
        </p:txBody>
      </p:sp>
      <p:sp>
        <p:nvSpPr>
          <p:cNvPr id="24" name="Rectangle 23"/>
          <p:cNvSpPr/>
          <p:nvPr/>
        </p:nvSpPr>
        <p:spPr>
          <a:xfrm>
            <a:off x="7498640" y="3708760"/>
            <a:ext cx="4144720" cy="2050000"/>
          </a:xfrm>
          <a:prstGeom prst="rect">
            <a:avLst/>
          </a:prstGeom>
          <a:solidFill>
            <a:srgbClr val="F1EDE4"/>
          </a:solidFill>
          <a:ln>
            <a:noFill/>
          </a:ln>
          <a:effectLst/>
        </p:spPr>
        <p:txBody>
          <a:bodyPr rtlCol="0" anchor="ctr"/>
          <a:lstStyle/>
          <a:p>
            <a:pPr algn="ctr"/>
            <a:endParaRPr/>
          </a:p>
        </p:txBody>
      </p:sp>
      <p:sp>
        <p:nvSpPr>
          <p:cNvPr id="25" name="Rectangle 24"/>
          <p:cNvSpPr/>
          <p:nvPr/>
        </p:nvSpPr>
        <p:spPr>
          <a:xfrm>
            <a:off x="7498640" y="3708760"/>
            <a:ext cx="54864" cy="2050000"/>
          </a:xfrm>
          <a:prstGeom prst="rect">
            <a:avLst/>
          </a:prstGeom>
          <a:solidFill>
            <a:srgbClr val="E0662B"/>
          </a:solidFill>
          <a:ln>
            <a:noFill/>
          </a:ln>
          <a:effectLst/>
        </p:spPr>
        <p:txBody>
          <a:bodyPr rtlCol="0" anchor="ctr"/>
          <a:lstStyle/>
          <a:p>
            <a:pPr algn="ctr"/>
            <a:endParaRPr/>
          </a:p>
        </p:txBody>
      </p:sp>
      <p:sp>
        <p:nvSpPr>
          <p:cNvPr id="26" name="TextBox 25"/>
          <p:cNvSpPr txBox="1"/>
          <p:nvPr/>
        </p:nvSpPr>
        <p:spPr>
          <a:xfrm>
            <a:off x="7648640" y="3808760"/>
            <a:ext cx="3844720" cy="2667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Metrics</a:t>
            </a:r>
          </a:p>
        </p:txBody>
      </p:sp>
      <p:sp>
        <p:nvSpPr>
          <p:cNvPr id="27" name="TextBox 26"/>
          <p:cNvSpPr txBox="1"/>
          <p:nvPr/>
        </p:nvSpPr>
        <p:spPr>
          <a:xfrm>
            <a:off x="7648640" y="4102130"/>
            <a:ext cx="3844720" cy="1596630"/>
          </a:xfrm>
          <a:prstGeom prst="rect">
            <a:avLst/>
          </a:prstGeom>
          <a:noFill/>
        </p:spPr>
        <p:txBody>
          <a:bodyPr wrap="square" lIns="0" tIns="0" rIns="0" bIns="0" anchor="t">
            <a:noAutofit/>
          </a:bodyPr>
          <a:lstStyle/>
          <a:p>
            <a:pPr marL="228600" indent="-228600" algn="l">
              <a:spcBef>
                <a:spcPts val="200"/>
              </a:spcBef>
              <a:buClr>
                <a:srgbClr val="E0662B"/>
              </a:buClr>
              <a:buFont typeface="Arial"/>
              <a:buChar char="•"/>
            </a:pPr>
            <a:r>
              <a:rPr sz="1350" b="0" i="0">
                <a:solidFill>
                  <a:srgbClr val="1B2A4A"/>
                </a:solidFill>
                <a:latin typeface="Calibri"/>
                <a:ea typeface="Calibri"/>
                <a:cs typeface="Calibri"/>
              </a:rPr>
              <a:t>Cost: holding + lost sales + ordering (h = 0.2%/day, b = 35%, c = 2)</a:t>
            </a:r>
          </a:p>
          <a:p>
            <a:pPr marL="228600" indent="-228600" algn="l">
              <a:spcBef>
                <a:spcPts val="200"/>
              </a:spcBef>
              <a:buClr>
                <a:srgbClr val="E0662B"/>
              </a:buClr>
              <a:buFont typeface="Arial"/>
              <a:buChar char="•"/>
            </a:pPr>
            <a:r>
              <a:rPr sz="1350" b="0" i="0">
                <a:solidFill>
                  <a:srgbClr val="1B2A4A"/>
                </a:solidFill>
                <a:latin typeface="Calibri"/>
                <a:ea typeface="Calibri"/>
                <a:cs typeface="Calibri"/>
              </a:rPr>
              <a:t>Service: CSL, group gap |CSL − τ|, boundary hits</a:t>
            </a:r>
          </a:p>
          <a:p>
            <a:pPr marL="228600" indent="-228600" algn="l">
              <a:spcBef>
                <a:spcPts val="200"/>
              </a:spcBef>
              <a:buClr>
                <a:srgbClr val="E0662B"/>
              </a:buClr>
              <a:buFont typeface="Arial"/>
              <a:buChar char="•"/>
            </a:pPr>
            <a:r>
              <a:rPr sz="1350" b="0" i="0">
                <a:solidFill>
                  <a:srgbClr val="1B2A4A"/>
                </a:solidFill>
                <a:latin typeface="Calibri"/>
                <a:ea typeface="Calibri"/>
                <a:cs typeface="Calibri"/>
              </a:rPr>
              <a:t>95% CI by moving block bootstrap (block 4, 2,000 reps)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TIER 1 ACCURACY</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Forecast: the Ensemble is best at 7 days, but LightGBM alone edges it at 14 and 28</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27</a:t>
            </a:r>
          </a:p>
        </p:txBody>
      </p:sp>
      <p:pic>
        <p:nvPicPr>
          <p:cNvPr id="6" name="Picture 5" descr="t1_wrmsse_en.png"/>
          <p:cNvPicPr>
            <a:picLocks noChangeAspect="1"/>
          </p:cNvPicPr>
          <p:nvPr/>
        </p:nvPicPr>
        <p:blipFill>
          <a:blip r:embed="rId3"/>
          <a:stretch>
            <a:fillRect/>
          </a:stretch>
        </p:blipFill>
        <p:spPr>
          <a:xfrm>
            <a:off x="548640" y="1508760"/>
            <a:ext cx="7000000" cy="3960526"/>
          </a:xfrm>
          <a:prstGeom prst="rect">
            <a:avLst/>
          </a:prstGeom>
        </p:spPr>
      </p:pic>
      <p:sp>
        <p:nvSpPr>
          <p:cNvPr id="7" name="TextBox 6"/>
          <p:cNvSpPr txBox="1"/>
          <p:nvPr/>
        </p:nvSpPr>
        <p:spPr>
          <a:xfrm>
            <a:off x="7798640" y="1508760"/>
            <a:ext cx="3844720" cy="582930"/>
          </a:xfrm>
          <a:prstGeom prst="rect">
            <a:avLst/>
          </a:prstGeom>
          <a:noFill/>
        </p:spPr>
        <p:txBody>
          <a:bodyPr wrap="square" lIns="0" tIns="0" rIns="0" bIns="0" anchor="t">
            <a:noAutofit/>
          </a:bodyPr>
          <a:lstStyle/>
          <a:p>
            <a:pPr algn="l"/>
            <a:r>
              <a:rPr sz="3400" b="1" i="0">
                <a:solidFill>
                  <a:srgbClr val="E0662B"/>
                </a:solidFill>
                <a:latin typeface="Cambria"/>
                <a:ea typeface="Cambria"/>
                <a:cs typeface="Cambria"/>
              </a:rPr>
              <a:t>0.4935</a:t>
            </a:r>
          </a:p>
        </p:txBody>
      </p:sp>
      <p:sp>
        <p:nvSpPr>
          <p:cNvPr id="8" name="TextBox 7"/>
          <p:cNvSpPr txBox="1"/>
          <p:nvPr/>
        </p:nvSpPr>
        <p:spPr>
          <a:xfrm>
            <a:off x="7798640" y="2113280"/>
            <a:ext cx="3844720" cy="60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Ensemble WRMSSE at h = 7 (LightGBM 0.5083; Seasonal Naive 0.5711)</a:t>
            </a:r>
          </a:p>
        </p:txBody>
      </p:sp>
      <p:sp>
        <p:nvSpPr>
          <p:cNvPr id="9" name="TextBox 8"/>
          <p:cNvSpPr txBox="1"/>
          <p:nvPr/>
        </p:nvSpPr>
        <p:spPr>
          <a:xfrm>
            <a:off x="7798640" y="2858760"/>
            <a:ext cx="3844720" cy="2800000"/>
          </a:xfrm>
          <a:prstGeom prst="rect">
            <a:avLst/>
          </a:prstGeom>
          <a:noFill/>
        </p:spPr>
        <p:txBody>
          <a:bodyPr wrap="square" lIns="0" tIns="0" rIns="0" bIns="0" anchor="t">
            <a:noAutofit/>
          </a:bodyPr>
          <a:lstStyle/>
          <a:p>
            <a:pPr marL="228600" indent="-228600" algn="l">
              <a:buClr>
                <a:srgbClr val="E0662B"/>
              </a:buClr>
              <a:buFont typeface="Arial"/>
              <a:buChar char="•"/>
            </a:pPr>
            <a:r>
              <a:rPr sz="1500" b="0" i="0">
                <a:solidFill>
                  <a:srgbClr val="1B2A4A"/>
                </a:solidFill>
                <a:latin typeface="Calibri"/>
                <a:ea typeface="Calibri"/>
                <a:cs typeface="Calibri"/>
              </a:rPr>
              <a:t>MASE is better than Seasonal Naive by 13.5% / 13.0% / 12.6% (h = 7 / 14 / 28).</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At h = 14 and 28, LightGBM alone beats the Ensemble (0.5347 and 0.6587).</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Negative bias: forecasts run below actuals by 4.1% (7 days) to 7.6% (28 days).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SERVICE</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Service: C³-OUT keeps the group gap 10 to 100 times smaller than a fixed quantile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28</a:t>
            </a:r>
          </a:p>
        </p:txBody>
      </p:sp>
      <p:pic>
        <p:nvPicPr>
          <p:cNvPr id="6" name="Picture 5" descr="gap_t8_en.png"/>
          <p:cNvPicPr>
            <a:picLocks noChangeAspect="1"/>
          </p:cNvPicPr>
          <p:nvPr/>
        </p:nvPicPr>
        <p:blipFill>
          <a:blip r:embed="rId3"/>
          <a:stretch>
            <a:fillRect/>
          </a:stretch>
        </p:blipFill>
        <p:spPr>
          <a:xfrm>
            <a:off x="548640" y="1508760"/>
            <a:ext cx="11094720" cy="3698240"/>
          </a:xfrm>
          <a:prstGeom prst="rect">
            <a:avLst/>
          </a:prstGeom>
        </p:spPr>
      </p:pic>
      <p:sp>
        <p:nvSpPr>
          <p:cNvPr id="7" name="TextBox 6"/>
          <p:cNvSpPr txBox="1"/>
          <p:nvPr/>
        </p:nvSpPr>
        <p:spPr>
          <a:xfrm>
            <a:off x="548640" y="5288760"/>
            <a:ext cx="11094720" cy="700000"/>
          </a:xfrm>
          <a:prstGeom prst="rect">
            <a:avLst/>
          </a:prstGeom>
          <a:noFill/>
        </p:spPr>
        <p:txBody>
          <a:bodyPr wrap="square" lIns="0" tIns="0" rIns="0" bIns="0" anchor="t">
            <a:noAutofit/>
          </a:bodyPr>
          <a:lstStyle/>
          <a:p>
            <a:pPr algn="l"/>
            <a:r>
              <a:rPr sz="1500" b="0" i="0">
                <a:solidFill>
                  <a:srgbClr val="1B2A4A"/>
                </a:solidFill>
                <a:latin typeface="Calibri"/>
                <a:ea typeface="Calibri"/>
                <a:cs typeface="Calibri"/>
              </a:rPr>
              <a:t>Every run without a boundary hit has a group gap ≤ 0.0027; boundary hits in 9/288 runs (8 on M5 original route, 1 on the alternate route).</a:t>
            </a:r>
          </a:p>
          <a:p>
            <a:pPr algn="l">
              <a:spcBef>
                <a:spcPts val="300"/>
              </a:spcBef>
            </a:pPr>
            <a:r>
              <a:rPr sz="1500" b="0" i="0">
                <a:solidFill>
                  <a:srgbClr val="1B2A4A"/>
                </a:solidFill>
                <a:latin typeface="Calibri"/>
                <a:ea typeface="Calibri"/>
                <a:cs typeface="Calibri"/>
              </a:rPr>
              <a:t>Static calibration: about 8× larger gap (0.0074 vs. 0.0009 on M5).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COST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Cost: C³-OUT is not cheaper than the tuned B2 baseline, for any of the 8 models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29</a:t>
            </a:r>
          </a:p>
        </p:txBody>
      </p:sp>
      <p:pic>
        <p:nvPicPr>
          <p:cNvPr id="6" name="Picture 5" descr="cost_t10_en.png"/>
          <p:cNvPicPr>
            <a:picLocks noChangeAspect="1"/>
          </p:cNvPicPr>
          <p:nvPr/>
        </p:nvPicPr>
        <p:blipFill>
          <a:blip r:embed="rId3"/>
          <a:stretch>
            <a:fillRect/>
          </a:stretch>
        </p:blipFill>
        <p:spPr>
          <a:xfrm>
            <a:off x="798640" y="1508760"/>
            <a:ext cx="10600000" cy="3930833"/>
          </a:xfrm>
          <a:prstGeom prst="rect">
            <a:avLst/>
          </a:prstGeom>
        </p:spPr>
      </p:pic>
      <p:sp>
        <p:nvSpPr>
          <p:cNvPr id="7" name="TextBox 6"/>
          <p:cNvSpPr txBox="1"/>
          <p:nvPr/>
        </p:nvSpPr>
        <p:spPr>
          <a:xfrm>
            <a:off x="548640" y="5458760"/>
            <a:ext cx="11094720" cy="5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C³-OUT 0.95 costs more than B2 for 8/8 models (+0.12% to +4.00%), CI excludes 0 for 7/8. B2 picks a low τ* (0.90) for statistical models that already have surplus service; C³-OUT forces CSL to exactly 0.95.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COST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Daily review and the τ target: a wrong target adds 14–16% to cost</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30</a:t>
            </a:r>
          </a:p>
        </p:txBody>
      </p:sp>
      <p:pic>
        <p:nvPicPr>
          <p:cNvPr id="6" name="Picture 5" descr="review_t11_en.png"/>
          <p:cNvPicPr>
            <a:picLocks noChangeAspect="1"/>
          </p:cNvPicPr>
          <p:nvPr/>
        </p:nvPicPr>
        <p:blipFill>
          <a:blip r:embed="rId3"/>
          <a:stretch>
            <a:fillRect/>
          </a:stretch>
        </p:blipFill>
        <p:spPr>
          <a:xfrm>
            <a:off x="548640" y="1508760"/>
            <a:ext cx="6200000" cy="3616666"/>
          </a:xfrm>
          <a:prstGeom prst="rect">
            <a:avLst/>
          </a:prstGeom>
        </p:spPr>
      </p:pic>
      <p:sp>
        <p:nvSpPr>
          <p:cNvPr id="7" name="TextBox 6"/>
          <p:cNvSpPr txBox="1"/>
          <p:nvPr/>
        </p:nvSpPr>
        <p:spPr>
          <a:xfrm>
            <a:off x="6998640" y="1508760"/>
            <a:ext cx="4644720" cy="4300000"/>
          </a:xfrm>
          <a:prstGeom prst="rect">
            <a:avLst/>
          </a:prstGeom>
          <a:noFill/>
        </p:spPr>
        <p:txBody>
          <a:bodyPr wrap="square" lIns="0" tIns="0" rIns="0" bIns="0" anchor="t">
            <a:noAutofit/>
          </a:bodyPr>
          <a:lstStyle/>
          <a:p>
            <a:pPr algn="l"/>
            <a:r>
              <a:rPr sz="1650" b="1" i="0">
                <a:solidFill>
                  <a:srgbClr val="E0662B"/>
                </a:solidFill>
                <a:latin typeface="Cambria"/>
                <a:ea typeface="Cambria"/>
                <a:cs typeface="Cambria"/>
              </a:rPr>
              <a:t>Weekly review (R = 7)</a:t>
            </a:r>
          </a:p>
          <a:p>
            <a:pPr marL="228600" indent="-228600" algn="l">
              <a:spcBef>
                <a:spcPts val="300"/>
              </a:spcBef>
              <a:buClr>
                <a:srgbClr val="E0662B"/>
              </a:buClr>
              <a:buFont typeface="Arial"/>
              <a:buChar char="•"/>
            </a:pPr>
            <a:r>
              <a:rPr sz="1400" b="0" i="0">
                <a:solidFill>
                  <a:srgbClr val="1B2A4A"/>
                </a:solidFill>
                <a:latin typeface="Calibri"/>
                <a:ea typeface="Calibri"/>
                <a:cs typeface="Calibri"/>
              </a:rPr>
              <a:t>C³-OUT is only +1.31% to +1.69% dearer than B2; critical ratio 0.962.</a:t>
            </a:r>
          </a:p>
          <a:p>
            <a:pPr algn="l">
              <a:spcBef>
                <a:spcPts val="1000"/>
              </a:spcBef>
            </a:pPr>
            <a:r>
              <a:rPr sz="1650" b="1" i="0">
                <a:solidFill>
                  <a:srgbClr val="E0662B"/>
                </a:solidFill>
                <a:latin typeface="Cambria"/>
                <a:ea typeface="Cambria"/>
                <a:cs typeface="Cambria"/>
              </a:rPr>
              <a:t>Daily review (R = 1)</a:t>
            </a:r>
          </a:p>
          <a:p>
            <a:pPr marL="228600" indent="-228600" algn="l">
              <a:spcBef>
                <a:spcPts val="300"/>
              </a:spcBef>
              <a:buClr>
                <a:srgbClr val="E0662B"/>
              </a:buClr>
              <a:buFont typeface="Arial"/>
              <a:buChar char="•"/>
            </a:pPr>
            <a:r>
              <a:rPr sz="1400" b="0" i="0">
                <a:solidFill>
                  <a:srgbClr val="1B2A4A"/>
                </a:solidFill>
                <a:latin typeface="Calibri"/>
                <a:ea typeface="Calibri"/>
                <a:cs typeface="Calibri"/>
              </a:rPr>
              <a:t>Critical ratio 0.994: a 0.95 target is far too low, 14–16% dearer. Using the critical ratio as target: +1.15% to +5.21%.</a:t>
            </a:r>
          </a:p>
          <a:p>
            <a:pPr algn="l">
              <a:spcBef>
                <a:spcPts val="1000"/>
              </a:spcBef>
            </a:pPr>
            <a:r>
              <a:rPr sz="1650" b="1" i="0">
                <a:solidFill>
                  <a:srgbClr val="E0662B"/>
                </a:solidFill>
                <a:latin typeface="Cambria"/>
                <a:ea typeface="Cambria"/>
                <a:cs typeface="Cambria"/>
              </a:rPr>
              <a:t>Across all comparisons</a:t>
            </a:r>
          </a:p>
          <a:p>
            <a:pPr marL="228600" indent="-228600" algn="l">
              <a:spcBef>
                <a:spcPts val="300"/>
              </a:spcBef>
              <a:buClr>
                <a:srgbClr val="E0662B"/>
              </a:buClr>
              <a:buFont typeface="Arial"/>
              <a:buChar char="•"/>
            </a:pPr>
            <a:r>
              <a:rPr sz="1400" b="0" i="0">
                <a:solidFill>
                  <a:srgbClr val="1B2A4A"/>
                </a:solidFill>
                <a:latin typeface="Calibri"/>
                <a:ea typeface="Calibri"/>
                <a:cs typeface="Calibri"/>
              </a:rPr>
              <a:t>Significantly cheaper than B2 in 1/96 (τ = 0.95) and 4/96 (critical ratio) cases, all foundation models on route (b).</a:t>
            </a:r>
          </a:p>
          <a:p>
            <a:pPr marL="228600" indent="-228600" algn="l">
              <a:spcBef>
                <a:spcPts val="300"/>
              </a:spcBef>
              <a:buClr>
                <a:srgbClr val="E0662B"/>
              </a:buClr>
              <a:buFont typeface="Arial"/>
              <a:buChar char="•"/>
            </a:pPr>
            <a:r>
              <a:rPr sz="1400" b="0" i="0">
                <a:solidFill>
                  <a:srgbClr val="1B2A4A"/>
                </a:solidFill>
                <a:latin typeface="Calibri"/>
                <a:ea typeface="Calibri"/>
                <a:cs typeface="Calibri"/>
              </a:rPr>
              <a:t>216 cost-parameter sets: cheaper than B2 in 17.6%; from −13.7% to +41.7%, mean +2.4%.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ABLATION</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Ablation: pooling by ABC×XYZ with η = 1 is the best balance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31</a:t>
            </a:r>
          </a:p>
        </p:txBody>
      </p:sp>
      <p:pic>
        <p:nvPicPr>
          <p:cNvPr id="6" name="Picture 5" descr="ablation_t15_en.png"/>
          <p:cNvPicPr>
            <a:picLocks noChangeAspect="1"/>
          </p:cNvPicPr>
          <p:nvPr/>
        </p:nvPicPr>
        <p:blipFill>
          <a:blip r:embed="rId3"/>
          <a:stretch>
            <a:fillRect/>
          </a:stretch>
        </p:blipFill>
        <p:spPr>
          <a:xfrm>
            <a:off x="798640" y="1508760"/>
            <a:ext cx="10600000" cy="3886666"/>
          </a:xfrm>
          <a:prstGeom prst="rect">
            <a:avLst/>
          </a:prstGeom>
        </p:spPr>
      </p:pic>
      <p:sp>
        <p:nvSpPr>
          <p:cNvPr id="7" name="TextBox 6"/>
          <p:cNvSpPr txBox="1"/>
          <p:nvPr/>
        </p:nvSpPr>
        <p:spPr>
          <a:xfrm>
            <a:off x="548640" y="5458760"/>
            <a:ext cx="11094720" cy="5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Level-based ACI is 1.07% cheaper but weak when forecasts are too narrow (UNDER: gap 0.0818 and 280 boundary hits vs. 0.0102 for C³-OUT). Per SKU: cost +21.59%.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SINGLE-STORE CASE</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A real store (CA_1): only C³-OUT differentiates A/B/C service as asked</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32</a:t>
            </a:r>
          </a:p>
        </p:txBody>
      </p:sp>
      <p:pic>
        <p:nvPicPr>
          <p:cNvPr id="6" name="Picture 5" descr="ca1_csl_en.png"/>
          <p:cNvPicPr>
            <a:picLocks noChangeAspect="1"/>
          </p:cNvPicPr>
          <p:nvPr/>
        </p:nvPicPr>
        <p:blipFill>
          <a:blip r:embed="rId3"/>
          <a:stretch>
            <a:fillRect/>
          </a:stretch>
        </p:blipFill>
        <p:spPr>
          <a:xfrm>
            <a:off x="548640" y="1508760"/>
            <a:ext cx="5500000" cy="3583333"/>
          </a:xfrm>
          <a:prstGeom prst="rect">
            <a:avLst/>
          </a:prstGeom>
        </p:spPr>
      </p:pic>
      <p:pic>
        <p:nvPicPr>
          <p:cNvPr id="7" name="Picture 6" descr="ca1_cost_en.png"/>
          <p:cNvPicPr>
            <a:picLocks noChangeAspect="1"/>
          </p:cNvPicPr>
          <p:nvPr/>
        </p:nvPicPr>
        <p:blipFill>
          <a:blip r:embed="rId4"/>
          <a:stretch>
            <a:fillRect/>
          </a:stretch>
        </p:blipFill>
        <p:spPr>
          <a:xfrm>
            <a:off x="6248640" y="1508760"/>
            <a:ext cx="5394720" cy="3351265"/>
          </a:xfrm>
          <a:prstGeom prst="rect">
            <a:avLst/>
          </a:prstGeom>
        </p:spPr>
      </p:pic>
      <p:sp>
        <p:nvSpPr>
          <p:cNvPr id="8" name="TextBox 7"/>
          <p:cNvSpPr txBox="1"/>
          <p:nvPr/>
        </p:nvSpPr>
        <p:spPr>
          <a:xfrm>
            <a:off x="548640" y="5208760"/>
            <a:ext cx="11094720" cy="8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A fixed quantile gives every class nearly the same service (0.97–0.98), even class C that needs only 0.90; C³-OUT gives about 0.97 / 0.95 / 0.89.</a:t>
            </a:r>
          </a:p>
          <a:p>
            <a:pPr algn="l">
              <a:spcBef>
                <a:spcPts val="300"/>
              </a:spcBef>
            </a:pPr>
            <a:r>
              <a:rPr sz="1400" b="0" i="0">
                <a:solidFill>
                  <a:srgbClr val="1B2A4A"/>
                </a:solidFill>
                <a:latin typeface="Calibri"/>
                <a:ea typeface="Calibri"/>
                <a:cs typeface="Calibri"/>
              </a:rPr>
              <a:t>Economic target (≈ 0.985): C³-OUT is 0.6% cheaper than current, gap 0.002. Entered targets below the economic level: +5.3%. Order fees are about 77% of total cost.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EXTRA CHECK</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Extra check on our own Ensemble: a stronger result, because the baseline is weaker</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33</a:t>
            </a:r>
          </a:p>
        </p:txBody>
      </p:sp>
      <p:pic>
        <p:nvPicPr>
          <p:cNvPr id="6" name="Picture 5" descr="own_csl_en.png"/>
          <p:cNvPicPr>
            <a:picLocks noChangeAspect="1"/>
          </p:cNvPicPr>
          <p:nvPr/>
        </p:nvPicPr>
        <p:blipFill>
          <a:blip r:embed="rId3"/>
          <a:stretch>
            <a:fillRect/>
          </a:stretch>
        </p:blipFill>
        <p:spPr>
          <a:xfrm>
            <a:off x="548640" y="1508760"/>
            <a:ext cx="4900000" cy="3192424"/>
          </a:xfrm>
          <a:prstGeom prst="rect">
            <a:avLst/>
          </a:prstGeom>
        </p:spPr>
      </p:pic>
      <p:sp>
        <p:nvSpPr>
          <p:cNvPr id="7" name="TextBox 6"/>
          <p:cNvSpPr txBox="1"/>
          <p:nvPr/>
        </p:nvSpPr>
        <p:spPr>
          <a:xfrm>
            <a:off x="548640" y="4758760"/>
            <a:ext cx="4900000" cy="1100000"/>
          </a:xfrm>
          <a:prstGeom prst="rect">
            <a:avLst/>
          </a:prstGeom>
          <a:noFill/>
        </p:spPr>
        <p:txBody>
          <a:bodyPr wrap="square" lIns="0" tIns="0" rIns="0" bIns="0" anchor="t">
            <a:noAutofit/>
          </a:bodyPr>
          <a:lstStyle/>
          <a:p>
            <a:pPr algn="l"/>
            <a:r>
              <a:rPr sz="1300" b="0" i="0">
                <a:solidFill>
                  <a:srgbClr val="1B2A4A"/>
                </a:solidFill>
                <a:latin typeface="Calibri"/>
                <a:ea typeface="Calibri"/>
                <a:cs typeface="Calibri"/>
              </a:rPr>
              <a:t>51 test reviews, 25,950 SKUs, 9 classes. τ = 0.95: baseline CSL 0.907, gap 0.0463; C³-OUT CSL 0.949, gap 0.0010. Cost −6.19% (95% CI −6.59% to −5.79%) under the BIKIP cost-parameter set, −17.95% under PAPER (the two sets the team used).</a:t>
            </a:r>
          </a:p>
        </p:txBody>
      </p:sp>
      <p:sp>
        <p:nvSpPr>
          <p:cNvPr id="8" name="Rectangle 7"/>
          <p:cNvSpPr/>
          <p:nvPr/>
        </p:nvSpPr>
        <p:spPr>
          <a:xfrm>
            <a:off x="5648640" y="1508760"/>
            <a:ext cx="5994720" cy="380000"/>
          </a:xfrm>
          <a:prstGeom prst="rect">
            <a:avLst/>
          </a:prstGeom>
          <a:solidFill>
            <a:srgbClr val="1B2A4A"/>
          </a:solidFill>
          <a:ln>
            <a:noFill/>
          </a:ln>
          <a:effectLst/>
        </p:spPr>
        <p:txBody>
          <a:bodyPr rtlCol="0" anchor="ctr"/>
          <a:lstStyle/>
          <a:p>
            <a:pPr algn="ctr"/>
            <a:endParaRPr/>
          </a:p>
        </p:txBody>
      </p:sp>
      <p:sp>
        <p:nvSpPr>
          <p:cNvPr id="9" name="TextBox 8"/>
          <p:cNvSpPr txBox="1"/>
          <p:nvPr/>
        </p:nvSpPr>
        <p:spPr>
          <a:xfrm>
            <a:off x="5740080" y="1508760"/>
            <a:ext cx="1317120" cy="380000"/>
          </a:xfrm>
          <a:prstGeom prst="rect">
            <a:avLst/>
          </a:prstGeom>
          <a:noFill/>
        </p:spPr>
        <p:txBody>
          <a:bodyPr wrap="square" lIns="0" tIns="0" rIns="0" bIns="0" anchor="ctr">
            <a:noAutofit/>
          </a:bodyPr>
          <a:lstStyle/>
          <a:p>
            <a:pPr algn="l"/>
            <a:r>
              <a:rPr sz="1300" b="1" i="0">
                <a:solidFill>
                  <a:srgbClr val="FFFFFF"/>
                </a:solidFill>
                <a:latin typeface="Calibri"/>
                <a:ea typeface="Calibri"/>
                <a:cs typeface="Calibri"/>
              </a:rPr>
              <a:t>Aspect</a:t>
            </a:r>
          </a:p>
        </p:txBody>
      </p:sp>
      <p:sp>
        <p:nvSpPr>
          <p:cNvPr id="10" name="TextBox 9"/>
          <p:cNvSpPr txBox="1"/>
          <p:nvPr/>
        </p:nvSpPr>
        <p:spPr>
          <a:xfrm>
            <a:off x="7240080" y="1508760"/>
            <a:ext cx="2117120" cy="380000"/>
          </a:xfrm>
          <a:prstGeom prst="rect">
            <a:avLst/>
          </a:prstGeom>
          <a:noFill/>
        </p:spPr>
        <p:txBody>
          <a:bodyPr wrap="square" lIns="0" tIns="0" rIns="0" bIns="0" anchor="ctr">
            <a:noAutofit/>
          </a:bodyPr>
          <a:lstStyle/>
          <a:p>
            <a:pPr algn="l"/>
            <a:r>
              <a:rPr sz="1300" b="1" i="0">
                <a:solidFill>
                  <a:srgbClr val="FFFFFF"/>
                </a:solidFill>
                <a:latin typeface="Calibri"/>
                <a:ea typeface="Calibri"/>
                <a:cs typeface="Calibri"/>
              </a:rPr>
              <a:t>PDF (main)</a:t>
            </a:r>
          </a:p>
        </p:txBody>
      </p:sp>
      <p:sp>
        <p:nvSpPr>
          <p:cNvPr id="11" name="TextBox 10"/>
          <p:cNvSpPr txBox="1"/>
          <p:nvPr/>
        </p:nvSpPr>
        <p:spPr>
          <a:xfrm>
            <a:off x="9540080" y="1508760"/>
            <a:ext cx="2011840" cy="380000"/>
          </a:xfrm>
          <a:prstGeom prst="rect">
            <a:avLst/>
          </a:prstGeom>
          <a:noFill/>
        </p:spPr>
        <p:txBody>
          <a:bodyPr wrap="square" lIns="0" tIns="0" rIns="0" bIns="0" anchor="ctr">
            <a:noAutofit/>
          </a:bodyPr>
          <a:lstStyle/>
          <a:p>
            <a:pPr algn="l"/>
            <a:r>
              <a:rPr sz="1300" b="1" i="0">
                <a:solidFill>
                  <a:srgbClr val="FFFFFF"/>
                </a:solidFill>
                <a:latin typeface="Calibri"/>
                <a:ea typeface="Calibri"/>
                <a:cs typeface="Calibri"/>
              </a:rPr>
              <a:t>Team run (extra)</a:t>
            </a:r>
          </a:p>
        </p:txBody>
      </p:sp>
      <p:sp>
        <p:nvSpPr>
          <p:cNvPr id="12" name="TextBox 11"/>
          <p:cNvSpPr txBox="1"/>
          <p:nvPr/>
        </p:nvSpPr>
        <p:spPr>
          <a:xfrm>
            <a:off x="5740080" y="1888760"/>
            <a:ext cx="1317120" cy="900000"/>
          </a:xfrm>
          <a:prstGeom prst="rect">
            <a:avLst/>
          </a:prstGeom>
          <a:noFill/>
        </p:spPr>
        <p:txBody>
          <a:bodyPr wrap="square" lIns="0" tIns="0" rIns="0" bIns="0" anchor="ctr">
            <a:noAutofit/>
          </a:bodyPr>
          <a:lstStyle/>
          <a:p>
            <a:pPr algn="l"/>
            <a:r>
              <a:rPr sz="1300" b="1" i="0">
                <a:solidFill>
                  <a:srgbClr val="1B2A4A"/>
                </a:solidFill>
                <a:latin typeface="Calibri"/>
                <a:ea typeface="Calibri"/>
                <a:cs typeface="Calibri"/>
              </a:rPr>
              <a:t>Baseline</a:t>
            </a:r>
          </a:p>
        </p:txBody>
      </p:sp>
      <p:sp>
        <p:nvSpPr>
          <p:cNvPr id="13" name="TextBox 12"/>
          <p:cNvSpPr txBox="1"/>
          <p:nvPr/>
        </p:nvSpPr>
        <p:spPr>
          <a:xfrm>
            <a:off x="7240080" y="1888760"/>
            <a:ext cx="2117120" cy="90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B2: global-τ quantile tuned on a grid up to 0.999</a:t>
            </a:r>
          </a:p>
        </p:txBody>
      </p:sp>
      <p:sp>
        <p:nvSpPr>
          <p:cNvPr id="14" name="TextBox 13"/>
          <p:cNvSpPr txBox="1"/>
          <p:nvPr/>
        </p:nvSpPr>
        <p:spPr>
          <a:xfrm>
            <a:off x="9540080" y="1888760"/>
            <a:ext cx="2011840" cy="90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DFIOS formula: Ensemble + zσ√LT</a:t>
            </a:r>
          </a:p>
        </p:txBody>
      </p:sp>
      <p:sp>
        <p:nvSpPr>
          <p:cNvPr id="15" name="Rectangle 14"/>
          <p:cNvSpPr/>
          <p:nvPr/>
        </p:nvSpPr>
        <p:spPr>
          <a:xfrm>
            <a:off x="5648640" y="2788760"/>
            <a:ext cx="5994720" cy="820000"/>
          </a:xfrm>
          <a:prstGeom prst="rect">
            <a:avLst/>
          </a:prstGeom>
          <a:solidFill>
            <a:srgbClr val="E3DED3"/>
          </a:solidFill>
          <a:ln>
            <a:noFill/>
          </a:ln>
          <a:effectLst/>
        </p:spPr>
        <p:txBody>
          <a:bodyPr rtlCol="0" anchor="ctr"/>
          <a:lstStyle/>
          <a:p>
            <a:pPr algn="ctr"/>
            <a:endParaRPr/>
          </a:p>
        </p:txBody>
      </p:sp>
      <p:sp>
        <p:nvSpPr>
          <p:cNvPr id="16" name="TextBox 15"/>
          <p:cNvSpPr txBox="1"/>
          <p:nvPr/>
        </p:nvSpPr>
        <p:spPr>
          <a:xfrm>
            <a:off x="5740080" y="2788760"/>
            <a:ext cx="1317120" cy="820000"/>
          </a:xfrm>
          <a:prstGeom prst="rect">
            <a:avLst/>
          </a:prstGeom>
          <a:noFill/>
        </p:spPr>
        <p:txBody>
          <a:bodyPr wrap="square" lIns="0" tIns="0" rIns="0" bIns="0" anchor="ctr">
            <a:noAutofit/>
          </a:bodyPr>
          <a:lstStyle/>
          <a:p>
            <a:pPr algn="l"/>
            <a:r>
              <a:rPr sz="1300" b="1" i="0">
                <a:solidFill>
                  <a:srgbClr val="1B2A4A"/>
                </a:solidFill>
                <a:latin typeface="Calibri"/>
                <a:ea typeface="Calibri"/>
                <a:cs typeface="Calibri"/>
              </a:rPr>
              <a:t>Q0.95 coverage</a:t>
            </a:r>
          </a:p>
        </p:txBody>
      </p:sp>
      <p:sp>
        <p:nvSpPr>
          <p:cNvPr id="17" name="TextBox 16"/>
          <p:cNvSpPr txBox="1"/>
          <p:nvPr/>
        </p:nvSpPr>
        <p:spPr>
          <a:xfrm>
            <a:off x="7240080" y="2788760"/>
            <a:ext cx="2117120" cy="82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0.926–0.951 (4 point models; route c ≈ 0.95)</a:t>
            </a:r>
          </a:p>
        </p:txBody>
      </p:sp>
      <p:sp>
        <p:nvSpPr>
          <p:cNvPr id="18" name="TextBox 17"/>
          <p:cNvSpPr txBox="1"/>
          <p:nvPr/>
        </p:nvSpPr>
        <p:spPr>
          <a:xfrm>
            <a:off x="9540080" y="2788760"/>
            <a:ext cx="2011840" cy="82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0.831 on test (bias −4.4%)</a:t>
            </a:r>
          </a:p>
        </p:txBody>
      </p:sp>
      <p:sp>
        <p:nvSpPr>
          <p:cNvPr id="19" name="TextBox 18"/>
          <p:cNvSpPr txBox="1"/>
          <p:nvPr/>
        </p:nvSpPr>
        <p:spPr>
          <a:xfrm>
            <a:off x="5740080" y="3608760"/>
            <a:ext cx="1317120" cy="800000"/>
          </a:xfrm>
          <a:prstGeom prst="rect">
            <a:avLst/>
          </a:prstGeom>
          <a:noFill/>
        </p:spPr>
        <p:txBody>
          <a:bodyPr wrap="square" lIns="0" tIns="0" rIns="0" bIns="0" anchor="ctr">
            <a:noAutofit/>
          </a:bodyPr>
          <a:lstStyle/>
          <a:p>
            <a:pPr algn="l"/>
            <a:r>
              <a:rPr sz="1300" b="1" i="0">
                <a:solidFill>
                  <a:srgbClr val="1B2A4A"/>
                </a:solidFill>
                <a:latin typeface="Calibri"/>
                <a:ea typeface="Calibri"/>
                <a:cs typeface="Calibri"/>
              </a:rPr>
              <a:t>Cost</a:t>
            </a:r>
          </a:p>
        </p:txBody>
      </p:sp>
      <p:sp>
        <p:nvSpPr>
          <p:cNvPr id="20" name="TextBox 19"/>
          <p:cNvSpPr txBox="1"/>
          <p:nvPr/>
        </p:nvSpPr>
        <p:spPr>
          <a:xfrm>
            <a:off x="7240080" y="3608760"/>
            <a:ext cx="2117120" cy="80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C³-OUT +0.12% to +4.00% vs. B2</a:t>
            </a:r>
          </a:p>
        </p:txBody>
      </p:sp>
      <p:sp>
        <p:nvSpPr>
          <p:cNvPr id="21" name="TextBox 20"/>
          <p:cNvSpPr txBox="1"/>
          <p:nvPr/>
        </p:nvSpPr>
        <p:spPr>
          <a:xfrm>
            <a:off x="9540080" y="3608760"/>
            <a:ext cx="2011840" cy="80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−6.19% / −17.95% vs. τ = 0.95</a:t>
            </a:r>
          </a:p>
        </p:txBody>
      </p:sp>
      <p:sp>
        <p:nvSpPr>
          <p:cNvPr id="22" name="Rectangle 21"/>
          <p:cNvSpPr/>
          <p:nvPr/>
        </p:nvSpPr>
        <p:spPr>
          <a:xfrm>
            <a:off x="5648640" y="4408760"/>
            <a:ext cx="5994720" cy="500000"/>
          </a:xfrm>
          <a:prstGeom prst="rect">
            <a:avLst/>
          </a:prstGeom>
          <a:solidFill>
            <a:srgbClr val="E3DED3"/>
          </a:solidFill>
          <a:ln>
            <a:noFill/>
          </a:ln>
          <a:effectLst/>
        </p:spPr>
        <p:txBody>
          <a:bodyPr rtlCol="0" anchor="ctr"/>
          <a:lstStyle/>
          <a:p>
            <a:pPr algn="ctr"/>
            <a:endParaRPr/>
          </a:p>
        </p:txBody>
      </p:sp>
      <p:sp>
        <p:nvSpPr>
          <p:cNvPr id="23" name="TextBox 22"/>
          <p:cNvSpPr txBox="1"/>
          <p:nvPr/>
        </p:nvSpPr>
        <p:spPr>
          <a:xfrm>
            <a:off x="5740080" y="4408760"/>
            <a:ext cx="1317120" cy="500000"/>
          </a:xfrm>
          <a:prstGeom prst="rect">
            <a:avLst/>
          </a:prstGeom>
          <a:noFill/>
        </p:spPr>
        <p:txBody>
          <a:bodyPr wrap="square" lIns="0" tIns="0" rIns="0" bIns="0" anchor="ctr">
            <a:noAutofit/>
          </a:bodyPr>
          <a:lstStyle/>
          <a:p>
            <a:pPr algn="l"/>
            <a:r>
              <a:rPr sz="1300" b="1" i="0">
                <a:solidFill>
                  <a:srgbClr val="1B2A4A"/>
                </a:solidFill>
                <a:latin typeface="Calibri"/>
                <a:ea typeface="Calibri"/>
                <a:cs typeface="Calibri"/>
              </a:rPr>
              <a:t>Service</a:t>
            </a:r>
          </a:p>
        </p:txBody>
      </p:sp>
      <p:sp>
        <p:nvSpPr>
          <p:cNvPr id="24" name="TextBox 23"/>
          <p:cNvSpPr txBox="1"/>
          <p:nvPr/>
        </p:nvSpPr>
        <p:spPr>
          <a:xfrm>
            <a:off x="7240080" y="4408760"/>
            <a:ext cx="2117120" cy="50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Group gap ≤ 0.0027</a:t>
            </a:r>
          </a:p>
        </p:txBody>
      </p:sp>
      <p:sp>
        <p:nvSpPr>
          <p:cNvPr id="25" name="TextBox 24"/>
          <p:cNvSpPr txBox="1"/>
          <p:nvPr/>
        </p:nvSpPr>
        <p:spPr>
          <a:xfrm>
            <a:off x="9540080" y="4408760"/>
            <a:ext cx="2011840" cy="500000"/>
          </a:xfrm>
          <a:prstGeom prst="rect">
            <a:avLst/>
          </a:prstGeom>
          <a:noFill/>
        </p:spPr>
        <p:txBody>
          <a:bodyPr wrap="square" lIns="0" tIns="0" rIns="0" bIns="0" anchor="ctr">
            <a:noAutofit/>
          </a:bodyPr>
          <a:lstStyle/>
          <a:p>
            <a:pPr algn="l"/>
            <a:r>
              <a:rPr sz="1300" b="0" i="0">
                <a:solidFill>
                  <a:srgbClr val="1B2A4A"/>
                </a:solidFill>
                <a:latin typeface="Calibri"/>
                <a:ea typeface="Calibri"/>
                <a:cs typeface="Calibri"/>
              </a:rPr>
              <a:t>Group gap 0.0010</a:t>
            </a:r>
          </a:p>
        </p:txBody>
      </p:sp>
      <p:sp>
        <p:nvSpPr>
          <p:cNvPr id="26" name="TextBox 25"/>
          <p:cNvSpPr txBox="1"/>
          <p:nvPr/>
        </p:nvSpPr>
        <p:spPr>
          <a:xfrm>
            <a:off x="5648640" y="5008760"/>
            <a:ext cx="5994720" cy="800000"/>
          </a:xfrm>
          <a:prstGeom prst="rect">
            <a:avLst/>
          </a:prstGeom>
          <a:noFill/>
        </p:spPr>
        <p:txBody>
          <a:bodyPr wrap="square" lIns="0" tIns="0" rIns="0" bIns="0" anchor="t">
            <a:noAutofit/>
          </a:bodyPr>
          <a:lstStyle/>
          <a:p>
            <a:pPr algn="l"/>
            <a:r>
              <a:rPr sz="1400" b="1" i="0">
                <a:solidFill>
                  <a:srgbClr val="1B2A4A"/>
                </a:solidFill>
                <a:latin typeface="Calibri"/>
                <a:ea typeface="Calibri"/>
                <a:cs typeface="Calibri"/>
              </a:rPr>
              <a:t>Conclusion: both agree on service. On cost, a gain appears only when the baseline is weak; against a well-tuned baseline as in the PDF, the advantage vanishes.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STAGE 4 · VERDICT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Verdict: C³-OUT is a service controller, not a cost-cutting tool</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34</a:t>
            </a:r>
          </a:p>
        </p:txBody>
      </p:sp>
      <p:sp>
        <p:nvSpPr>
          <p:cNvPr id="6" name="Rectangle 5"/>
          <p:cNvSpPr/>
          <p:nvPr/>
        </p:nvSpPr>
        <p:spPr>
          <a:xfrm>
            <a:off x="548640" y="1508760"/>
            <a:ext cx="11094720" cy="400000"/>
          </a:xfrm>
          <a:prstGeom prst="rect">
            <a:avLst/>
          </a:prstGeom>
          <a:solidFill>
            <a:srgbClr val="1B2A4A"/>
          </a:solidFill>
          <a:ln>
            <a:noFill/>
          </a:ln>
          <a:effectLst/>
        </p:spPr>
        <p:txBody>
          <a:bodyPr rtlCol="0" anchor="ctr"/>
          <a:lstStyle/>
          <a:p>
            <a:pPr algn="ctr"/>
            <a:endParaRPr/>
          </a:p>
        </p:txBody>
      </p:sp>
      <p:sp>
        <p:nvSpPr>
          <p:cNvPr id="7" name="TextBox 6"/>
          <p:cNvSpPr txBox="1"/>
          <p:nvPr/>
        </p:nvSpPr>
        <p:spPr>
          <a:xfrm>
            <a:off x="640080" y="1508760"/>
            <a:ext cx="31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Aspect</a:t>
            </a:r>
          </a:p>
        </p:txBody>
      </p:sp>
      <p:sp>
        <p:nvSpPr>
          <p:cNvPr id="8" name="TextBox 7"/>
          <p:cNvSpPr txBox="1"/>
          <p:nvPr/>
        </p:nvSpPr>
        <p:spPr>
          <a:xfrm>
            <a:off x="3940080" y="1508760"/>
            <a:ext cx="181712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Verdict</a:t>
            </a:r>
          </a:p>
        </p:txBody>
      </p:sp>
      <p:sp>
        <p:nvSpPr>
          <p:cNvPr id="9" name="TextBox 8"/>
          <p:cNvSpPr txBox="1"/>
          <p:nvPr/>
        </p:nvSpPr>
        <p:spPr>
          <a:xfrm>
            <a:off x="5940080" y="1508760"/>
            <a:ext cx="5611840" cy="400000"/>
          </a:xfrm>
          <a:prstGeom prst="rect">
            <a:avLst/>
          </a:prstGeom>
          <a:noFill/>
        </p:spPr>
        <p:txBody>
          <a:bodyPr wrap="square" lIns="0" tIns="0" rIns="0" bIns="0" anchor="ctr">
            <a:noAutofit/>
          </a:bodyPr>
          <a:lstStyle/>
          <a:p>
            <a:pPr algn="l"/>
            <a:r>
              <a:rPr sz="1350" b="1" i="0">
                <a:solidFill>
                  <a:srgbClr val="FFFFFF"/>
                </a:solidFill>
                <a:latin typeface="Calibri"/>
                <a:ea typeface="Calibri"/>
                <a:cs typeface="Calibri"/>
              </a:rPr>
              <a:t>Evidence</a:t>
            </a:r>
          </a:p>
        </p:txBody>
      </p:sp>
      <p:sp>
        <p:nvSpPr>
          <p:cNvPr id="10" name="TextBox 9"/>
          <p:cNvSpPr txBox="1"/>
          <p:nvPr/>
        </p:nvSpPr>
        <p:spPr>
          <a:xfrm>
            <a:off x="640080" y="1908760"/>
            <a:ext cx="3117120" cy="6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Keep group CSL on target</a:t>
            </a:r>
          </a:p>
        </p:txBody>
      </p:sp>
      <p:sp>
        <p:nvSpPr>
          <p:cNvPr id="11" name="TextBox 10"/>
          <p:cNvSpPr txBox="1"/>
          <p:nvPr/>
        </p:nvSpPr>
        <p:spPr>
          <a:xfrm>
            <a:off x="3940080" y="1908760"/>
            <a:ext cx="1817120" cy="620000"/>
          </a:xfrm>
          <a:prstGeom prst="rect">
            <a:avLst/>
          </a:prstGeom>
          <a:noFill/>
        </p:spPr>
        <p:txBody>
          <a:bodyPr wrap="square" lIns="0" tIns="0" rIns="0" bIns="0" anchor="ctr">
            <a:noAutofit/>
          </a:bodyPr>
          <a:lstStyle/>
          <a:p>
            <a:pPr algn="l"/>
            <a:r>
              <a:rPr sz="1350" b="1" i="0">
                <a:solidFill>
                  <a:srgbClr val="E0662B"/>
                </a:solidFill>
                <a:latin typeface="Calibri"/>
                <a:ea typeface="Calibri"/>
                <a:cs typeface="Calibri"/>
              </a:rPr>
              <a:t>High</a:t>
            </a:r>
          </a:p>
        </p:txBody>
      </p:sp>
      <p:sp>
        <p:nvSpPr>
          <p:cNvPr id="12" name="TextBox 11"/>
          <p:cNvSpPr txBox="1"/>
          <p:nvPr/>
        </p:nvSpPr>
        <p:spPr>
          <a:xfrm>
            <a:off x="5940080" y="1908760"/>
            <a:ext cx="561184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Gap ≤ 0.0027 without boundary hits; RAW 0.006 to 0.069; static about 0.007</a:t>
            </a:r>
          </a:p>
        </p:txBody>
      </p:sp>
      <p:sp>
        <p:nvSpPr>
          <p:cNvPr id="13" name="Rectangle 12"/>
          <p:cNvSpPr/>
          <p:nvPr/>
        </p:nvSpPr>
        <p:spPr>
          <a:xfrm>
            <a:off x="548640" y="2528760"/>
            <a:ext cx="11094720" cy="580000"/>
          </a:xfrm>
          <a:prstGeom prst="rect">
            <a:avLst/>
          </a:prstGeom>
          <a:solidFill>
            <a:srgbClr val="E3DED3"/>
          </a:solidFill>
          <a:ln>
            <a:noFill/>
          </a:ln>
          <a:effectLst/>
        </p:spPr>
        <p:txBody>
          <a:bodyPr rtlCol="0" anchor="ctr"/>
          <a:lstStyle/>
          <a:p>
            <a:pPr algn="ctr"/>
            <a:endParaRPr/>
          </a:p>
        </p:txBody>
      </p:sp>
      <p:sp>
        <p:nvSpPr>
          <p:cNvPr id="14" name="TextBox 13"/>
          <p:cNvSpPr txBox="1"/>
          <p:nvPr/>
        </p:nvSpPr>
        <p:spPr>
          <a:xfrm>
            <a:off x="640080" y="2528760"/>
            <a:ext cx="3117120" cy="58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Differentiate service by group</a:t>
            </a:r>
          </a:p>
        </p:txBody>
      </p:sp>
      <p:sp>
        <p:nvSpPr>
          <p:cNvPr id="15" name="TextBox 14"/>
          <p:cNvSpPr txBox="1"/>
          <p:nvPr/>
        </p:nvSpPr>
        <p:spPr>
          <a:xfrm>
            <a:off x="3940080" y="2528760"/>
            <a:ext cx="1817120" cy="580000"/>
          </a:xfrm>
          <a:prstGeom prst="rect">
            <a:avLst/>
          </a:prstGeom>
          <a:noFill/>
        </p:spPr>
        <p:txBody>
          <a:bodyPr wrap="square" lIns="0" tIns="0" rIns="0" bIns="0" anchor="ctr">
            <a:noAutofit/>
          </a:bodyPr>
          <a:lstStyle/>
          <a:p>
            <a:pPr algn="l"/>
            <a:r>
              <a:rPr sz="1350" b="1" i="0">
                <a:solidFill>
                  <a:srgbClr val="E0662B"/>
                </a:solidFill>
                <a:latin typeface="Calibri"/>
                <a:ea typeface="Calibri"/>
                <a:cs typeface="Calibri"/>
              </a:rPr>
              <a:t>Only C³-OUT does it</a:t>
            </a:r>
          </a:p>
        </p:txBody>
      </p:sp>
      <p:sp>
        <p:nvSpPr>
          <p:cNvPr id="16" name="TextBox 15"/>
          <p:cNvSpPr txBox="1"/>
          <p:nvPr/>
        </p:nvSpPr>
        <p:spPr>
          <a:xfrm>
            <a:off x="5940080" y="2528760"/>
            <a:ext cx="5611840" cy="58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CA_1 case: 0.97 / 0.95 / 0.89 vs. a flat 0.97–0.98</a:t>
            </a:r>
          </a:p>
        </p:txBody>
      </p:sp>
      <p:sp>
        <p:nvSpPr>
          <p:cNvPr id="17" name="TextBox 16"/>
          <p:cNvSpPr txBox="1"/>
          <p:nvPr/>
        </p:nvSpPr>
        <p:spPr>
          <a:xfrm>
            <a:off x="640080" y="3108760"/>
            <a:ext cx="3117120" cy="6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Model-independent</a:t>
            </a:r>
          </a:p>
        </p:txBody>
      </p:sp>
      <p:sp>
        <p:nvSpPr>
          <p:cNvPr id="18" name="TextBox 17"/>
          <p:cNvSpPr txBox="1"/>
          <p:nvPr/>
        </p:nvSpPr>
        <p:spPr>
          <a:xfrm>
            <a:off x="3940080" y="3108760"/>
            <a:ext cx="181712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By construction</a:t>
            </a:r>
          </a:p>
        </p:txBody>
      </p:sp>
      <p:sp>
        <p:nvSpPr>
          <p:cNvPr id="19" name="TextBox 18"/>
          <p:cNvSpPr txBox="1"/>
          <p:nvPr/>
        </p:nvSpPr>
        <p:spPr>
          <a:xfrm>
            <a:off x="5940080" y="3108760"/>
            <a:ext cx="561184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Uses only output quantiles; ran on 8 models, 3 of them foundation models</a:t>
            </a:r>
          </a:p>
        </p:txBody>
      </p:sp>
      <p:sp>
        <p:nvSpPr>
          <p:cNvPr id="20" name="Rectangle 19"/>
          <p:cNvSpPr/>
          <p:nvPr/>
        </p:nvSpPr>
        <p:spPr>
          <a:xfrm>
            <a:off x="548640" y="3728760"/>
            <a:ext cx="11094720" cy="620000"/>
          </a:xfrm>
          <a:prstGeom prst="rect">
            <a:avLst/>
          </a:prstGeom>
          <a:solidFill>
            <a:srgbClr val="E3DED3"/>
          </a:solidFill>
          <a:ln>
            <a:noFill/>
          </a:ln>
          <a:effectLst/>
        </p:spPr>
        <p:txBody>
          <a:bodyPr rtlCol="0" anchor="ctr"/>
          <a:lstStyle/>
          <a:p>
            <a:pPr algn="ctr"/>
            <a:endParaRPr/>
          </a:p>
        </p:txBody>
      </p:sp>
      <p:sp>
        <p:nvSpPr>
          <p:cNvPr id="21" name="TextBox 20"/>
          <p:cNvSpPr txBox="1"/>
          <p:nvPr/>
        </p:nvSpPr>
        <p:spPr>
          <a:xfrm>
            <a:off x="640080" y="3728760"/>
            <a:ext cx="3117120" cy="6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Theoretical guarantee</a:t>
            </a:r>
          </a:p>
        </p:txBody>
      </p:sp>
      <p:sp>
        <p:nvSpPr>
          <p:cNvPr id="22" name="TextBox 21"/>
          <p:cNvSpPr txBox="1"/>
          <p:nvPr/>
        </p:nvSpPr>
        <p:spPr>
          <a:xfrm>
            <a:off x="3940080" y="3728760"/>
            <a:ext cx="181712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Conditional</a:t>
            </a:r>
          </a:p>
        </p:txBody>
      </p:sp>
      <p:sp>
        <p:nvSpPr>
          <p:cNvPr id="23" name="TextBox 22"/>
          <p:cNvSpPr txBox="1"/>
          <p:nvPr/>
        </p:nvSpPr>
        <p:spPr>
          <a:xfrm>
            <a:off x="5940080" y="3728760"/>
            <a:ext cx="5611840" cy="6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Recorded error only; loose bound; proof not independently reviewed</a:t>
            </a:r>
          </a:p>
        </p:txBody>
      </p:sp>
      <p:sp>
        <p:nvSpPr>
          <p:cNvPr id="24" name="TextBox 23"/>
          <p:cNvSpPr txBox="1"/>
          <p:nvPr/>
        </p:nvSpPr>
        <p:spPr>
          <a:xfrm>
            <a:off x="640080" y="4348760"/>
            <a:ext cx="3117120" cy="58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Cost vs. a tuned baseline</a:t>
            </a:r>
          </a:p>
        </p:txBody>
      </p:sp>
      <p:sp>
        <p:nvSpPr>
          <p:cNvPr id="25" name="TextBox 24"/>
          <p:cNvSpPr txBox="1"/>
          <p:nvPr/>
        </p:nvSpPr>
        <p:spPr>
          <a:xfrm>
            <a:off x="3940080" y="4348760"/>
            <a:ext cx="1817120" cy="580000"/>
          </a:xfrm>
          <a:prstGeom prst="rect">
            <a:avLst/>
          </a:prstGeom>
          <a:noFill/>
        </p:spPr>
        <p:txBody>
          <a:bodyPr wrap="square" lIns="0" tIns="0" rIns="0" bIns="0" anchor="ctr">
            <a:noAutofit/>
          </a:bodyPr>
          <a:lstStyle/>
          <a:p>
            <a:pPr algn="l"/>
            <a:r>
              <a:rPr sz="1350" b="1" i="0">
                <a:solidFill>
                  <a:srgbClr val="E0662B"/>
                </a:solidFill>
                <a:latin typeface="Calibri"/>
                <a:ea typeface="Calibri"/>
                <a:cs typeface="Calibri"/>
              </a:rPr>
              <a:t>No</a:t>
            </a:r>
          </a:p>
        </p:txBody>
      </p:sp>
      <p:sp>
        <p:nvSpPr>
          <p:cNvPr id="26" name="TextBox 25"/>
          <p:cNvSpPr txBox="1"/>
          <p:nvPr/>
        </p:nvSpPr>
        <p:spPr>
          <a:xfrm>
            <a:off x="5940080" y="4348760"/>
            <a:ext cx="5611840" cy="58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+0.1% to +4.0% (weekly review); cheaper in 1/96 and 4/96 cases</a:t>
            </a:r>
          </a:p>
        </p:txBody>
      </p:sp>
      <p:sp>
        <p:nvSpPr>
          <p:cNvPr id="27" name="Rectangle 26"/>
          <p:cNvSpPr/>
          <p:nvPr/>
        </p:nvSpPr>
        <p:spPr>
          <a:xfrm>
            <a:off x="548640" y="4928760"/>
            <a:ext cx="11094720" cy="520000"/>
          </a:xfrm>
          <a:prstGeom prst="rect">
            <a:avLst/>
          </a:prstGeom>
          <a:solidFill>
            <a:srgbClr val="E3DED3"/>
          </a:solidFill>
          <a:ln>
            <a:noFill/>
          </a:ln>
          <a:effectLst/>
        </p:spPr>
        <p:txBody>
          <a:bodyPr rtlCol="0" anchor="ctr"/>
          <a:lstStyle/>
          <a:p>
            <a:pPr algn="ctr"/>
            <a:endParaRPr/>
          </a:p>
        </p:txBody>
      </p:sp>
      <p:sp>
        <p:nvSpPr>
          <p:cNvPr id="28" name="TextBox 27"/>
          <p:cNvSpPr txBox="1"/>
          <p:nvPr/>
        </p:nvSpPr>
        <p:spPr>
          <a:xfrm>
            <a:off x="640080" y="4928760"/>
            <a:ext cx="3117120" cy="520000"/>
          </a:xfrm>
          <a:prstGeom prst="rect">
            <a:avLst/>
          </a:prstGeom>
          <a:noFill/>
        </p:spPr>
        <p:txBody>
          <a:bodyPr wrap="square" lIns="0" tIns="0" rIns="0" bIns="0" anchor="ctr">
            <a:noAutofit/>
          </a:bodyPr>
          <a:lstStyle/>
          <a:p>
            <a:pPr algn="l"/>
            <a:r>
              <a:rPr sz="1350" b="1" i="0">
                <a:solidFill>
                  <a:srgbClr val="1B2A4A"/>
                </a:solidFill>
                <a:latin typeface="Calibri"/>
                <a:ea typeface="Calibri"/>
                <a:cs typeface="Calibri"/>
              </a:rPr>
              <a:t>Beats static calibration</a:t>
            </a:r>
          </a:p>
        </p:txBody>
      </p:sp>
      <p:sp>
        <p:nvSpPr>
          <p:cNvPr id="29" name="TextBox 28"/>
          <p:cNvSpPr txBox="1"/>
          <p:nvPr/>
        </p:nvSpPr>
        <p:spPr>
          <a:xfrm>
            <a:off x="3940080" y="4928760"/>
            <a:ext cx="1817120" cy="5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Yes, on service</a:t>
            </a:r>
          </a:p>
        </p:txBody>
      </p:sp>
      <p:sp>
        <p:nvSpPr>
          <p:cNvPr id="30" name="TextBox 29"/>
          <p:cNvSpPr txBox="1"/>
          <p:nvPr/>
        </p:nvSpPr>
        <p:spPr>
          <a:xfrm>
            <a:off x="5940080" y="4928760"/>
            <a:ext cx="5611840" cy="520000"/>
          </a:xfrm>
          <a:prstGeom prst="rect">
            <a:avLst/>
          </a:prstGeom>
          <a:noFill/>
        </p:spPr>
        <p:txBody>
          <a:bodyPr wrap="square" lIns="0" tIns="0" rIns="0" bIns="0" anchor="ctr">
            <a:noAutofit/>
          </a:bodyPr>
          <a:lstStyle/>
          <a:p>
            <a:pPr algn="l"/>
            <a:r>
              <a:rPr sz="1350" b="0" i="0">
                <a:solidFill>
                  <a:srgbClr val="1B2A4A"/>
                </a:solidFill>
                <a:latin typeface="Calibri"/>
                <a:ea typeface="Calibri"/>
                <a:cs typeface="Calibri"/>
              </a:rPr>
              <a:t>Gap about 8× smaller; equal cost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CLOSING</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Limitations and next steps, including stage 5</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35</a:t>
            </a:r>
          </a:p>
        </p:txBody>
      </p:sp>
      <p:sp>
        <p:nvSpPr>
          <p:cNvPr id="6" name="Rectangle 5"/>
          <p:cNvSpPr/>
          <p:nvPr/>
        </p:nvSpPr>
        <p:spPr>
          <a:xfrm>
            <a:off x="548640" y="1508760"/>
            <a:ext cx="5450000" cy="4250000"/>
          </a:xfrm>
          <a:prstGeom prst="rect">
            <a:avLst/>
          </a:prstGeom>
          <a:solidFill>
            <a:srgbClr val="F1EDE4"/>
          </a:solidFill>
          <a:ln>
            <a:noFill/>
          </a:ln>
          <a:effectLst/>
        </p:spPr>
        <p:txBody>
          <a:bodyPr rtlCol="0" anchor="ctr"/>
          <a:lstStyle/>
          <a:p>
            <a:pPr algn="ctr"/>
            <a:endParaRPr/>
          </a:p>
        </p:txBody>
      </p:sp>
      <p:sp>
        <p:nvSpPr>
          <p:cNvPr id="7" name="TextBox 6"/>
          <p:cNvSpPr txBox="1"/>
          <p:nvPr/>
        </p:nvSpPr>
        <p:spPr>
          <a:xfrm>
            <a:off x="698640" y="1608760"/>
            <a:ext cx="515000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Limitations</a:t>
            </a:r>
          </a:p>
        </p:txBody>
      </p:sp>
      <p:sp>
        <p:nvSpPr>
          <p:cNvPr id="8" name="TextBox 7"/>
          <p:cNvSpPr txBox="1"/>
          <p:nvPr/>
        </p:nvSpPr>
        <p:spPr>
          <a:xfrm>
            <a:off x="698640" y="1923085"/>
            <a:ext cx="5150000" cy="3775675"/>
          </a:xfrm>
          <a:prstGeom prst="rect">
            <a:avLst/>
          </a:prstGeom>
          <a:noFill/>
        </p:spPr>
        <p:txBody>
          <a:bodyPr wrap="square" lIns="0" tIns="0" rIns="0" bIns="0" anchor="t">
            <a:noAutofit/>
          </a:bodyPr>
          <a:lstStyle/>
          <a:p>
            <a:pPr marL="228600" indent="-228600" algn="l">
              <a:spcBef>
                <a:spcPts val="600"/>
              </a:spcBef>
              <a:buClr>
                <a:srgbClr val="E0662B"/>
              </a:buClr>
              <a:buFont typeface="Arial"/>
              <a:buChar char="•"/>
            </a:pPr>
            <a:r>
              <a:rPr sz="1600" b="0" i="0">
                <a:solidFill>
                  <a:srgbClr val="1B2A4A"/>
                </a:solidFill>
                <a:latin typeface="Calibri"/>
                <a:ea typeface="Calibri"/>
                <a:cs typeface="Calibri"/>
              </a:rPr>
              <a:t>M5: one 52-week test period, 3 of 10 stores; foundation models may have seen M5.</a:t>
            </a:r>
          </a:p>
          <a:p>
            <a:pPr marL="228600" indent="-228600" algn="l">
              <a:spcBef>
                <a:spcPts val="600"/>
              </a:spcBef>
              <a:buClr>
                <a:srgbClr val="E0662B"/>
              </a:buClr>
              <a:buFont typeface="Arial"/>
              <a:buChar char="•"/>
            </a:pPr>
            <a:r>
              <a:rPr sz="1600" b="0" i="0">
                <a:solidFill>
                  <a:srgbClr val="1B2A4A"/>
                </a:solidFill>
                <a:latin typeface="Calibri"/>
                <a:ea typeface="Calibri"/>
                <a:cs typeface="Calibri"/>
              </a:rPr>
              <a:t>Sales stand in for demand (censored by stockouts); lost sales are unobservable in practice.</a:t>
            </a:r>
          </a:p>
          <a:p>
            <a:pPr marL="228600" indent="-228600" algn="l">
              <a:spcBef>
                <a:spcPts val="600"/>
              </a:spcBef>
              <a:buClr>
                <a:srgbClr val="E0662B"/>
              </a:buClr>
              <a:buFont typeface="Arial"/>
              <a:buChar char="•"/>
            </a:pPr>
            <a:r>
              <a:rPr sz="1600" b="0" i="0">
                <a:solidFill>
                  <a:srgbClr val="1B2A4A"/>
                </a:solidFill>
                <a:latin typeface="Calibri"/>
                <a:ea typeface="Calibri"/>
                <a:cs typeface="Calibri"/>
              </a:rPr>
              <a:t>Pooling moves stock between SKUs: SKU-level gap is still about 0.03.</a:t>
            </a:r>
          </a:p>
          <a:p>
            <a:pPr marL="228600" indent="-228600" algn="l">
              <a:spcBef>
                <a:spcPts val="600"/>
              </a:spcBef>
              <a:buClr>
                <a:srgbClr val="E0662B"/>
              </a:buClr>
              <a:buFont typeface="Arial"/>
              <a:buChar char="•"/>
            </a:pPr>
            <a:r>
              <a:rPr sz="1600" b="0" i="0">
                <a:solidFill>
                  <a:srgbClr val="1B2A4A"/>
                </a:solidFill>
                <a:latin typeface="Calibri"/>
                <a:ea typeface="Calibri"/>
                <a:cs typeface="Calibri"/>
              </a:rPr>
              <a:t>The proof is not independently reviewed; the CA_1 case has no confidence intervals.</a:t>
            </a:r>
          </a:p>
          <a:p>
            <a:pPr marL="228600" indent="-228600" algn="l">
              <a:spcBef>
                <a:spcPts val="600"/>
              </a:spcBef>
              <a:buClr>
                <a:srgbClr val="E0662B"/>
              </a:buClr>
              <a:buFont typeface="Arial"/>
              <a:buChar char="•"/>
            </a:pPr>
            <a:r>
              <a:rPr sz="1600" b="0" i="0">
                <a:solidFill>
                  <a:srgbClr val="1B2A4A"/>
                </a:solidFill>
                <a:latin typeface="Calibri"/>
                <a:ea typeface="Calibri"/>
                <a:cs typeface="Calibri"/>
              </a:rPr>
              <a:t>The team’s own run uses a weaker baseline than the PDF.</a:t>
            </a:r>
          </a:p>
        </p:txBody>
      </p:sp>
      <p:sp>
        <p:nvSpPr>
          <p:cNvPr id="9" name="Rectangle 8"/>
          <p:cNvSpPr/>
          <p:nvPr/>
        </p:nvSpPr>
        <p:spPr>
          <a:xfrm>
            <a:off x="6193640" y="1508760"/>
            <a:ext cx="5449720" cy="2550000"/>
          </a:xfrm>
          <a:prstGeom prst="rect">
            <a:avLst/>
          </a:prstGeom>
          <a:solidFill>
            <a:srgbClr val="F1EDE4"/>
          </a:solidFill>
          <a:ln>
            <a:noFill/>
          </a:ln>
          <a:effectLst/>
        </p:spPr>
        <p:txBody>
          <a:bodyPr rtlCol="0" anchor="ctr"/>
          <a:lstStyle/>
          <a:p>
            <a:pPr algn="ctr"/>
            <a:endParaRPr/>
          </a:p>
        </p:txBody>
      </p:sp>
      <p:sp>
        <p:nvSpPr>
          <p:cNvPr id="10" name="Rectangle 9"/>
          <p:cNvSpPr/>
          <p:nvPr/>
        </p:nvSpPr>
        <p:spPr>
          <a:xfrm>
            <a:off x="6193640" y="1508760"/>
            <a:ext cx="54864" cy="2550000"/>
          </a:xfrm>
          <a:prstGeom prst="rect">
            <a:avLst/>
          </a:prstGeom>
          <a:solidFill>
            <a:srgbClr val="E0662B"/>
          </a:solidFill>
          <a:ln>
            <a:noFill/>
          </a:ln>
          <a:effectLst/>
        </p:spPr>
        <p:txBody>
          <a:bodyPr rtlCol="0" anchor="ctr"/>
          <a:lstStyle/>
          <a:p>
            <a:pPr algn="ctr"/>
            <a:endParaRPr/>
          </a:p>
        </p:txBody>
      </p:sp>
      <p:sp>
        <p:nvSpPr>
          <p:cNvPr id="11" name="TextBox 10"/>
          <p:cNvSpPr txBox="1"/>
          <p:nvPr/>
        </p:nvSpPr>
        <p:spPr>
          <a:xfrm>
            <a:off x="6343640" y="1608760"/>
            <a:ext cx="5149720" cy="28575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Future work (PDF)</a:t>
            </a:r>
          </a:p>
        </p:txBody>
      </p:sp>
      <p:sp>
        <p:nvSpPr>
          <p:cNvPr id="12" name="TextBox 11"/>
          <p:cNvSpPr txBox="1"/>
          <p:nvPr/>
        </p:nvSpPr>
        <p:spPr>
          <a:xfrm>
            <a:off x="6343640" y="1923085"/>
            <a:ext cx="5149720" cy="2075675"/>
          </a:xfrm>
          <a:prstGeom prst="rect">
            <a:avLst/>
          </a:prstGeom>
          <a:noFill/>
        </p:spPr>
        <p:txBody>
          <a:bodyPr wrap="square" lIns="0" tIns="0" rIns="0" bIns="0" anchor="t">
            <a:noAutofit/>
          </a:bodyPr>
          <a:lstStyle/>
          <a:p>
            <a:pPr marL="228600" indent="-228600" algn="l">
              <a:spcBef>
                <a:spcPts val="400"/>
              </a:spcBef>
              <a:buClr>
                <a:srgbClr val="E0662B"/>
              </a:buClr>
              <a:buFont typeface="Arial"/>
              <a:buChar char="•"/>
            </a:pPr>
            <a:r>
              <a:rPr sz="1400" b="0" i="0">
                <a:solidFill>
                  <a:srgbClr val="1B2A4A"/>
                </a:solidFill>
                <a:latin typeface="Calibri"/>
                <a:ea typeface="Calibri"/>
                <a:cs typeface="Calibri"/>
              </a:rPr>
              <a:t>Repeat over more time windows, all 10 stores, and data after the pretraining cutoff.</a:t>
            </a:r>
          </a:p>
          <a:p>
            <a:pPr marL="228600" indent="-228600" algn="l">
              <a:spcBef>
                <a:spcPts val="400"/>
              </a:spcBef>
              <a:buClr>
                <a:srgbClr val="E0662B"/>
              </a:buClr>
              <a:buFont typeface="Arial"/>
              <a:buChar char="•"/>
            </a:pPr>
            <a:r>
              <a:rPr sz="1400" b="0" i="0">
                <a:solidFill>
                  <a:srgbClr val="1B2A4A"/>
                </a:solidFill>
                <a:latin typeface="Calibri"/>
                <a:ea typeface="Calibri"/>
                <a:cs typeface="Calibri"/>
              </a:rPr>
              <a:t>An additive term for items with a zero quantile; tune target and factor jointly.</a:t>
            </a:r>
          </a:p>
          <a:p>
            <a:pPr marL="228600" indent="-228600" algn="l">
              <a:spcBef>
                <a:spcPts val="400"/>
              </a:spcBef>
              <a:buClr>
                <a:srgbClr val="E0662B"/>
              </a:buClr>
              <a:buFont typeface="Arial"/>
              <a:buChar char="•"/>
            </a:pPr>
            <a:r>
              <a:rPr sz="1400" b="0" i="0">
                <a:solidFill>
                  <a:srgbClr val="1B2A4A"/>
                </a:solidFill>
                <a:latin typeface="Calibri"/>
                <a:ea typeface="Calibri"/>
                <a:cs typeface="Calibri"/>
              </a:rPr>
              <a:t>Compare with conformal prediction and in-model calibrations.</a:t>
            </a:r>
          </a:p>
        </p:txBody>
      </p:sp>
      <p:sp>
        <p:nvSpPr>
          <p:cNvPr id="13" name="Rectangle 12"/>
          <p:cNvSpPr/>
          <p:nvPr/>
        </p:nvSpPr>
        <p:spPr>
          <a:xfrm>
            <a:off x="6193640" y="4208760"/>
            <a:ext cx="5449720" cy="1550000"/>
          </a:xfrm>
          <a:prstGeom prst="rect">
            <a:avLst/>
          </a:prstGeom>
          <a:noFill/>
          <a:ln w="9525">
            <a:solidFill>
              <a:srgbClr val="9AA2B4"/>
            </a:solidFill>
            <a:prstDash val="dash"/>
          </a:ln>
          <a:effectLst/>
        </p:spPr>
        <p:txBody>
          <a:bodyPr rtlCol="0" anchor="ctr"/>
          <a:lstStyle/>
          <a:p>
            <a:pPr algn="ctr"/>
            <a:endParaRPr/>
          </a:p>
        </p:txBody>
      </p:sp>
      <p:sp>
        <p:nvSpPr>
          <p:cNvPr id="14" name="TextBox 13"/>
          <p:cNvSpPr txBox="1"/>
          <p:nvPr/>
        </p:nvSpPr>
        <p:spPr>
          <a:xfrm>
            <a:off x="6343640" y="4298760"/>
            <a:ext cx="5150000" cy="350000"/>
          </a:xfrm>
          <a:prstGeom prst="rect">
            <a:avLst/>
          </a:prstGeom>
          <a:noFill/>
        </p:spPr>
        <p:txBody>
          <a:bodyPr wrap="square" lIns="0" tIns="0" rIns="0" bIns="0" anchor="t">
            <a:noAutofit/>
          </a:bodyPr>
          <a:lstStyle/>
          <a:p>
            <a:pPr algn="l"/>
            <a:r>
              <a:rPr sz="1650" b="1" i="0">
                <a:solidFill>
                  <a:srgbClr val="50596C"/>
                </a:solidFill>
                <a:latin typeface="Cambria"/>
                <a:ea typeface="Cambria"/>
                <a:cs typeface="Cambria"/>
              </a:rPr>
              <a:t>Stage 5 · Deploy + Test (planned)</a:t>
            </a:r>
          </a:p>
        </p:txBody>
      </p:sp>
      <p:sp>
        <p:nvSpPr>
          <p:cNvPr id="15" name="TextBox 14"/>
          <p:cNvSpPr txBox="1"/>
          <p:nvPr/>
        </p:nvSpPr>
        <p:spPr>
          <a:xfrm>
            <a:off x="6343640" y="4678760"/>
            <a:ext cx="5150000" cy="1050000"/>
          </a:xfrm>
          <a:prstGeom prst="rect">
            <a:avLst/>
          </a:prstGeom>
          <a:noFill/>
        </p:spPr>
        <p:txBody>
          <a:bodyPr wrap="square" lIns="0" tIns="0" rIns="0" bIns="0" anchor="t">
            <a:noAutofit/>
          </a:bodyPr>
          <a:lstStyle/>
          <a:p>
            <a:pPr algn="l"/>
            <a:r>
              <a:rPr sz="1400" b="0" i="0">
                <a:solidFill>
                  <a:srgbClr val="50596C"/>
                </a:solidFill>
                <a:latin typeface="Calibri"/>
                <a:ea typeface="Calibri"/>
                <a:cs typeface="Calibri"/>
              </a:rPr>
              <a:t>Run it operationally and test on real data from a business with real stock and stockout records. A prototype web app (c3out_webapp) exists for the single-store case; it is not deployed.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2200000"/>
            <a:ext cx="10700000" cy="1100000"/>
          </a:xfrm>
          <a:prstGeom prst="rect">
            <a:avLst/>
          </a:prstGeom>
          <a:noFill/>
        </p:spPr>
        <p:txBody>
          <a:bodyPr wrap="square" lIns="0" tIns="0" rIns="0" bIns="0" anchor="t">
            <a:noAutofit/>
          </a:bodyPr>
          <a:lstStyle/>
          <a:p>
            <a:pPr algn="l"/>
            <a:r>
              <a:rPr sz="4000" b="1" i="0">
                <a:solidFill>
                  <a:srgbClr val="FFFFFF"/>
                </a:solidFill>
                <a:latin typeface="Cambria"/>
                <a:ea typeface="Cambria"/>
                <a:cs typeface="Cambria"/>
              </a:rPr>
              <a:t>Thank you for listening</a:t>
            </a:r>
          </a:p>
        </p:txBody>
      </p:sp>
      <p:sp>
        <p:nvSpPr>
          <p:cNvPr id="3" name="Rectangle 2"/>
          <p:cNvSpPr/>
          <p:nvPr/>
        </p:nvSpPr>
        <p:spPr>
          <a:xfrm>
            <a:off x="731520" y="3400000"/>
            <a:ext cx="1100000" cy="45720"/>
          </a:xfrm>
          <a:prstGeom prst="rect">
            <a:avLst/>
          </a:prstGeom>
          <a:solidFill>
            <a:srgbClr val="E0662B"/>
          </a:solidFill>
          <a:ln>
            <a:noFill/>
          </a:ln>
          <a:effectLst/>
        </p:spPr>
        <p:txBody>
          <a:bodyPr rtlCol="0" anchor="ctr"/>
          <a:lstStyle/>
          <a:p>
            <a:pPr algn="ctr"/>
            <a:endParaRPr/>
          </a:p>
        </p:txBody>
      </p:sp>
      <p:sp>
        <p:nvSpPr>
          <p:cNvPr id="4" name="TextBox 3"/>
          <p:cNvSpPr txBox="1"/>
          <p:nvPr/>
        </p:nvSpPr>
        <p:spPr>
          <a:xfrm>
            <a:off x="731520" y="3600000"/>
            <a:ext cx="10300000" cy="1200000"/>
          </a:xfrm>
          <a:prstGeom prst="rect">
            <a:avLst/>
          </a:prstGeom>
          <a:noFill/>
        </p:spPr>
        <p:txBody>
          <a:bodyPr wrap="square" lIns="0" tIns="0" rIns="0" bIns="0" anchor="t">
            <a:noAutofit/>
          </a:bodyPr>
          <a:lstStyle/>
          <a:p>
            <a:pPr algn="l">
              <a:spcBef>
                <a:spcPts val="600"/>
              </a:spcBef>
            </a:pPr>
            <a:r>
              <a:rPr sz="1800" b="0" i="0">
                <a:solidFill>
                  <a:srgbClr val="D8DCE6"/>
                </a:solidFill>
                <a:latin typeface="Calibri"/>
                <a:ea typeface="Calibri"/>
                <a:cs typeface="Calibri"/>
              </a:rPr>
              <a:t>Questions and feedback</a:t>
            </a:r>
          </a:p>
          <a:p>
            <a:pPr algn="l">
              <a:spcBef>
                <a:spcPts val="600"/>
              </a:spcBef>
            </a:pPr>
            <a:r>
              <a:rPr sz="1800" b="0" i="0">
                <a:solidFill>
                  <a:srgbClr val="D8DCE6"/>
                </a:solidFill>
                <a:latin typeface="Calibri"/>
                <a:ea typeface="Calibri"/>
                <a:cs typeface="Calibri"/>
              </a:rPr>
              <a:t>Team SE_18 · FPT University Da Nang · Supervisor: Dr. Nguyễn Gia Trí</a:t>
            </a:r>
          </a:p>
        </p:txBody>
      </p:sp>
      <p:sp>
        <p:nvSpPr>
          <p:cNvPr id="5" name="TextBox 4"/>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9AA2B4"/>
                </a:solidFill>
                <a:latin typeface="Calibri"/>
                <a:ea typeface="Calibri"/>
                <a:cs typeface="Calibri"/>
              </a:rPr>
              <a:t>DFIOS · SE_18 · FPT University Da Nang · SET490</a:t>
            </a:r>
          </a:p>
        </p:txBody>
      </p:sp>
      <p:sp>
        <p:nvSpPr>
          <p:cNvPr id="6" name="TextBox 5"/>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9AA2B4"/>
                </a:solidFill>
                <a:latin typeface="Calibri"/>
                <a:ea typeface="Calibri"/>
                <a:cs typeface="Calibri"/>
              </a:rPr>
              <a:t>36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1F38"/>
        </a:solidFill>
        <a:effectLst/>
      </p:bgPr>
    </p:bg>
    <p:spTree>
      <p:nvGrpSpPr>
        <p:cNvPr id="1" name=""/>
        <p:cNvGrpSpPr/>
        <p:nvPr/>
      </p:nvGrpSpPr>
      <p:grpSpPr>
        <a:xfrm>
          <a:off x="0" y="0"/>
          <a:ext cx="0" cy="0"/>
          <a:chOff x="0" y="0"/>
          <a:chExt cx="0" cy="0"/>
        </a:xfrm>
      </p:grpSpPr>
      <p:sp>
        <p:nvSpPr>
          <p:cNvPr id="2" name="TextBox 1"/>
          <p:cNvSpPr txBox="1"/>
          <p:nvPr/>
        </p:nvSpPr>
        <p:spPr>
          <a:xfrm>
            <a:off x="731520" y="2400000"/>
            <a:ext cx="10700000" cy="1100000"/>
          </a:xfrm>
          <a:prstGeom prst="rect">
            <a:avLst/>
          </a:prstGeom>
          <a:noFill/>
        </p:spPr>
        <p:txBody>
          <a:bodyPr wrap="square" lIns="0" tIns="0" rIns="0" bIns="0" anchor="t">
            <a:noAutofit/>
          </a:bodyPr>
          <a:lstStyle/>
          <a:p>
            <a:pPr algn="l"/>
            <a:r>
              <a:rPr sz="4400" b="1" i="0">
                <a:solidFill>
                  <a:srgbClr val="FFFFFF"/>
                </a:solidFill>
                <a:latin typeface="Cambria"/>
                <a:ea typeface="Cambria"/>
                <a:cs typeface="Cambria"/>
              </a:rPr>
              <a:t>Appendix</a:t>
            </a:r>
          </a:p>
        </p:txBody>
      </p:sp>
      <p:sp>
        <p:nvSpPr>
          <p:cNvPr id="3" name="Rectangle 2"/>
          <p:cNvSpPr/>
          <p:nvPr/>
        </p:nvSpPr>
        <p:spPr>
          <a:xfrm>
            <a:off x="731520" y="3500000"/>
            <a:ext cx="1100000" cy="45720"/>
          </a:xfrm>
          <a:prstGeom prst="rect">
            <a:avLst/>
          </a:prstGeom>
          <a:solidFill>
            <a:srgbClr val="E0662B"/>
          </a:solidFill>
          <a:ln>
            <a:noFill/>
          </a:ln>
          <a:effectLst/>
        </p:spPr>
        <p:txBody>
          <a:bodyPr rtlCol="0" anchor="ctr"/>
          <a:lstStyle/>
          <a:p>
            <a:pPr algn="ctr"/>
            <a:endParaRPr/>
          </a:p>
        </p:txBody>
      </p:sp>
      <p:sp>
        <p:nvSpPr>
          <p:cNvPr id="4" name="TextBox 3"/>
          <p:cNvSpPr txBox="1"/>
          <p:nvPr/>
        </p:nvSpPr>
        <p:spPr>
          <a:xfrm>
            <a:off x="731520" y="3700000"/>
            <a:ext cx="10300000" cy="1200000"/>
          </a:xfrm>
          <a:prstGeom prst="rect">
            <a:avLst/>
          </a:prstGeom>
          <a:noFill/>
        </p:spPr>
        <p:txBody>
          <a:bodyPr wrap="square" lIns="0" tIns="0" rIns="0" bIns="0" anchor="t">
            <a:noAutofit/>
          </a:bodyPr>
          <a:lstStyle/>
          <a:p>
            <a:pPr algn="l"/>
            <a:r>
              <a:rPr sz="1800" b="0" i="0">
                <a:solidFill>
                  <a:srgbClr val="D8DCE6"/>
                </a:solidFill>
                <a:latin typeface="Calibri"/>
                <a:ea typeface="Calibri"/>
                <a:cs typeface="Calibri"/>
              </a:rPr>
              <a:t>Full tables behind the charts: calibration, service, per-model cost, Tier 1 detail, CA_1, extra check.</a:t>
            </a:r>
          </a:p>
        </p:txBody>
      </p:sp>
      <p:sp>
        <p:nvSpPr>
          <p:cNvPr id="5" name="TextBox 4"/>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9AA2B4"/>
                </a:solidFill>
                <a:latin typeface="Calibri"/>
                <a:ea typeface="Calibri"/>
                <a:cs typeface="Calibri"/>
              </a:rPr>
              <a:t>DFIOS · SE_18 · FPT University Da Nang · SET490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CALIBRATION</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How the distribution is aggregated matters more for coverage than the model</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pic>
        <p:nvPicPr>
          <p:cNvPr id="5" name="Picture 4" descr="cov_t7_en.png"/>
          <p:cNvPicPr>
            <a:picLocks noChangeAspect="1"/>
          </p:cNvPicPr>
          <p:nvPr/>
        </p:nvPicPr>
        <p:blipFill>
          <a:blip r:embed="rId3"/>
          <a:stretch>
            <a:fillRect/>
          </a:stretch>
        </p:blipFill>
        <p:spPr>
          <a:xfrm>
            <a:off x="548640" y="1508760"/>
            <a:ext cx="6300000" cy="4200000"/>
          </a:xfrm>
          <a:prstGeom prst="rect">
            <a:avLst/>
          </a:prstGeom>
        </p:spPr>
      </p:pic>
      <p:sp>
        <p:nvSpPr>
          <p:cNvPr id="6" name="TextBox 5"/>
          <p:cNvSpPr txBox="1"/>
          <p:nvPr/>
        </p:nvSpPr>
        <p:spPr>
          <a:xfrm>
            <a:off x="7098640" y="1508760"/>
            <a:ext cx="4544720" cy="4300000"/>
          </a:xfrm>
          <a:prstGeom prst="rect">
            <a:avLst/>
          </a:prstGeom>
          <a:noFill/>
        </p:spPr>
        <p:txBody>
          <a:bodyPr wrap="square" lIns="0" tIns="0" rIns="0" bIns="0" anchor="t">
            <a:noAutofit/>
          </a:bodyPr>
          <a:lstStyle/>
          <a:p>
            <a:pPr marL="228600" indent="-228600" algn="l">
              <a:buClr>
                <a:srgbClr val="E0662B"/>
              </a:buClr>
              <a:buFont typeface="Arial"/>
              <a:buChar char="•"/>
            </a:pPr>
            <a:r>
              <a:rPr sz="1500" b="0" i="0">
                <a:solidFill>
                  <a:srgbClr val="1B2A4A"/>
                </a:solidFill>
                <a:latin typeface="Calibri"/>
                <a:ea typeface="Calibri"/>
                <a:cs typeface="Calibri"/>
              </a:rPr>
              <a:t>Route (b): interpolate daily quantiles, sum 1,000 independent Monte Carlo draws.</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Route (c): point forecast of the window plus a quantile of window error at the 364 prior origins.</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Chronos-Bolt: 0.820 → 0.945; TimesFM-2.5: 0.775 → 0.945. SPL falls from 0.523 and 0.497 to 0.397 and 0.376.</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On route (c), TimesFM-2.5 and Chronos-2 do not differ significantly from the most accurate model, LightGBM-Q (p = 0.21 and 0.13).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SERVICE</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Full group gap by (L, R) setting and target level</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Rectangle 4"/>
          <p:cNvSpPr/>
          <p:nvPr/>
        </p:nvSpPr>
        <p:spPr>
          <a:xfrm>
            <a:off x="548640" y="1508760"/>
            <a:ext cx="9000000" cy="420000"/>
          </a:xfrm>
          <a:prstGeom prst="rect">
            <a:avLst/>
          </a:prstGeom>
          <a:solidFill>
            <a:srgbClr val="1B2A4A"/>
          </a:solidFill>
          <a:ln>
            <a:noFill/>
          </a:ln>
          <a:effectLst/>
        </p:spPr>
        <p:txBody>
          <a:bodyPr rtlCol="0" anchor="ctr"/>
          <a:lstStyle/>
          <a:p>
            <a:pPr algn="ctr"/>
            <a:endParaRPr/>
          </a:p>
        </p:txBody>
      </p:sp>
      <p:sp>
        <p:nvSpPr>
          <p:cNvPr id="6" name="TextBox 5"/>
          <p:cNvSpPr txBox="1"/>
          <p:nvPr/>
        </p:nvSpPr>
        <p:spPr>
          <a:xfrm>
            <a:off x="640080" y="1508760"/>
            <a:ext cx="31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L</a:t>
            </a:r>
          </a:p>
        </p:txBody>
      </p:sp>
      <p:sp>
        <p:nvSpPr>
          <p:cNvPr id="7" name="TextBox 6"/>
          <p:cNvSpPr txBox="1"/>
          <p:nvPr/>
        </p:nvSpPr>
        <p:spPr>
          <a:xfrm>
            <a:off x="1140080" y="1508760"/>
            <a:ext cx="31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R</a:t>
            </a:r>
          </a:p>
        </p:txBody>
      </p:sp>
      <p:sp>
        <p:nvSpPr>
          <p:cNvPr id="8" name="TextBox 7"/>
          <p:cNvSpPr txBox="1"/>
          <p:nvPr/>
        </p:nvSpPr>
        <p:spPr>
          <a:xfrm>
            <a:off x="1640080" y="1508760"/>
            <a:ext cx="31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d</a:t>
            </a:r>
          </a:p>
        </p:txBody>
      </p:sp>
      <p:sp>
        <p:nvSpPr>
          <p:cNvPr id="9" name="TextBox 8"/>
          <p:cNvSpPr txBox="1"/>
          <p:nvPr/>
        </p:nvSpPr>
        <p:spPr>
          <a:xfrm>
            <a:off x="2140080" y="1508760"/>
            <a:ext cx="116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τ = 0.90 RAW</a:t>
            </a:r>
          </a:p>
        </p:txBody>
      </p:sp>
      <p:sp>
        <p:nvSpPr>
          <p:cNvPr id="10" name="TextBox 9"/>
          <p:cNvSpPr txBox="1"/>
          <p:nvPr/>
        </p:nvSpPr>
        <p:spPr>
          <a:xfrm>
            <a:off x="3490080" y="1508760"/>
            <a:ext cx="96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C³-OUT</a:t>
            </a:r>
          </a:p>
        </p:txBody>
      </p:sp>
      <p:sp>
        <p:nvSpPr>
          <p:cNvPr id="11" name="TextBox 10"/>
          <p:cNvSpPr txBox="1"/>
          <p:nvPr/>
        </p:nvSpPr>
        <p:spPr>
          <a:xfrm>
            <a:off x="4640080" y="1508760"/>
            <a:ext cx="116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τ = 0.95 RAW</a:t>
            </a:r>
          </a:p>
        </p:txBody>
      </p:sp>
      <p:sp>
        <p:nvSpPr>
          <p:cNvPr id="12" name="TextBox 11"/>
          <p:cNvSpPr txBox="1"/>
          <p:nvPr/>
        </p:nvSpPr>
        <p:spPr>
          <a:xfrm>
            <a:off x="5990080" y="1508760"/>
            <a:ext cx="96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C³-OUT</a:t>
            </a:r>
          </a:p>
        </p:txBody>
      </p:sp>
      <p:sp>
        <p:nvSpPr>
          <p:cNvPr id="13" name="TextBox 12"/>
          <p:cNvSpPr txBox="1"/>
          <p:nvPr/>
        </p:nvSpPr>
        <p:spPr>
          <a:xfrm>
            <a:off x="7140080" y="1508760"/>
            <a:ext cx="116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τ = 0.99 RAW</a:t>
            </a:r>
          </a:p>
        </p:txBody>
      </p:sp>
      <p:sp>
        <p:nvSpPr>
          <p:cNvPr id="14" name="TextBox 13"/>
          <p:cNvSpPr txBox="1"/>
          <p:nvPr/>
        </p:nvSpPr>
        <p:spPr>
          <a:xfrm>
            <a:off x="8490080" y="1508760"/>
            <a:ext cx="967120" cy="420000"/>
          </a:xfrm>
          <a:prstGeom prst="rect">
            <a:avLst/>
          </a:prstGeom>
          <a:noFill/>
        </p:spPr>
        <p:txBody>
          <a:bodyPr wrap="square" lIns="0" tIns="0" rIns="0" bIns="0" anchor="ctr">
            <a:noAutofit/>
          </a:bodyPr>
          <a:lstStyle/>
          <a:p>
            <a:pPr algn="ctr"/>
            <a:r>
              <a:rPr sz="1400" b="1" i="0">
                <a:solidFill>
                  <a:srgbClr val="FFFFFF"/>
                </a:solidFill>
                <a:latin typeface="Calibri"/>
                <a:ea typeface="Calibri"/>
                <a:cs typeface="Calibri"/>
              </a:rPr>
              <a:t>C³-OUT</a:t>
            </a:r>
          </a:p>
        </p:txBody>
      </p:sp>
      <p:sp>
        <p:nvSpPr>
          <p:cNvPr id="15" name="TextBox 14"/>
          <p:cNvSpPr txBox="1"/>
          <p:nvPr/>
        </p:nvSpPr>
        <p:spPr>
          <a:xfrm>
            <a:off x="640080" y="192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1</a:t>
            </a:r>
          </a:p>
        </p:txBody>
      </p:sp>
      <p:sp>
        <p:nvSpPr>
          <p:cNvPr id="16" name="TextBox 15"/>
          <p:cNvSpPr txBox="1"/>
          <p:nvPr/>
        </p:nvSpPr>
        <p:spPr>
          <a:xfrm>
            <a:off x="1140080" y="192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7</a:t>
            </a:r>
          </a:p>
        </p:txBody>
      </p:sp>
      <p:sp>
        <p:nvSpPr>
          <p:cNvPr id="17" name="TextBox 16"/>
          <p:cNvSpPr txBox="1"/>
          <p:nvPr/>
        </p:nvSpPr>
        <p:spPr>
          <a:xfrm>
            <a:off x="1640080" y="192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2</a:t>
            </a:r>
          </a:p>
        </p:txBody>
      </p:sp>
      <p:sp>
        <p:nvSpPr>
          <p:cNvPr id="18" name="TextBox 17"/>
          <p:cNvSpPr txBox="1"/>
          <p:nvPr/>
        </p:nvSpPr>
        <p:spPr>
          <a:xfrm>
            <a:off x="2140080" y="192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0.0401</a:t>
            </a:r>
          </a:p>
        </p:txBody>
      </p:sp>
      <p:sp>
        <p:nvSpPr>
          <p:cNvPr id="19" name="TextBox 18"/>
          <p:cNvSpPr txBox="1"/>
          <p:nvPr/>
        </p:nvSpPr>
        <p:spPr>
          <a:xfrm>
            <a:off x="3490080" y="192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0.0018</a:t>
            </a:r>
          </a:p>
        </p:txBody>
      </p:sp>
      <p:sp>
        <p:nvSpPr>
          <p:cNvPr id="20" name="TextBox 19"/>
          <p:cNvSpPr txBox="1"/>
          <p:nvPr/>
        </p:nvSpPr>
        <p:spPr>
          <a:xfrm>
            <a:off x="4640080" y="192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0.0264</a:t>
            </a:r>
          </a:p>
        </p:txBody>
      </p:sp>
      <p:sp>
        <p:nvSpPr>
          <p:cNvPr id="21" name="TextBox 20"/>
          <p:cNvSpPr txBox="1"/>
          <p:nvPr/>
        </p:nvSpPr>
        <p:spPr>
          <a:xfrm>
            <a:off x="5990080" y="192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0.0013</a:t>
            </a:r>
          </a:p>
        </p:txBody>
      </p:sp>
      <p:sp>
        <p:nvSpPr>
          <p:cNvPr id="22" name="TextBox 21"/>
          <p:cNvSpPr txBox="1"/>
          <p:nvPr/>
        </p:nvSpPr>
        <p:spPr>
          <a:xfrm>
            <a:off x="7140080" y="192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0.0124</a:t>
            </a:r>
          </a:p>
        </p:txBody>
      </p:sp>
      <p:sp>
        <p:nvSpPr>
          <p:cNvPr id="23" name="TextBox 22"/>
          <p:cNvSpPr txBox="1"/>
          <p:nvPr/>
        </p:nvSpPr>
        <p:spPr>
          <a:xfrm>
            <a:off x="8490080" y="192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0.0011</a:t>
            </a:r>
          </a:p>
        </p:txBody>
      </p:sp>
      <p:sp>
        <p:nvSpPr>
          <p:cNvPr id="24" name="Rectangle 23"/>
          <p:cNvSpPr/>
          <p:nvPr/>
        </p:nvSpPr>
        <p:spPr>
          <a:xfrm>
            <a:off x="548640" y="2408760"/>
            <a:ext cx="9000000" cy="480000"/>
          </a:xfrm>
          <a:prstGeom prst="rect">
            <a:avLst/>
          </a:prstGeom>
          <a:solidFill>
            <a:srgbClr val="E3DED3"/>
          </a:solidFill>
          <a:ln>
            <a:noFill/>
          </a:ln>
          <a:effectLst/>
        </p:spPr>
        <p:txBody>
          <a:bodyPr rtlCol="0" anchor="ctr"/>
          <a:lstStyle/>
          <a:p>
            <a:pPr algn="ctr"/>
            <a:endParaRPr/>
          </a:p>
        </p:txBody>
      </p:sp>
      <p:sp>
        <p:nvSpPr>
          <p:cNvPr id="25" name="TextBox 24"/>
          <p:cNvSpPr txBox="1"/>
          <p:nvPr/>
        </p:nvSpPr>
        <p:spPr>
          <a:xfrm>
            <a:off x="640080" y="240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3</a:t>
            </a:r>
          </a:p>
        </p:txBody>
      </p:sp>
      <p:sp>
        <p:nvSpPr>
          <p:cNvPr id="26" name="TextBox 25"/>
          <p:cNvSpPr txBox="1"/>
          <p:nvPr/>
        </p:nvSpPr>
        <p:spPr>
          <a:xfrm>
            <a:off x="1140080" y="240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7</a:t>
            </a:r>
          </a:p>
        </p:txBody>
      </p:sp>
      <p:sp>
        <p:nvSpPr>
          <p:cNvPr id="27" name="TextBox 26"/>
          <p:cNvSpPr txBox="1"/>
          <p:nvPr/>
        </p:nvSpPr>
        <p:spPr>
          <a:xfrm>
            <a:off x="1640080" y="240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2</a:t>
            </a:r>
          </a:p>
        </p:txBody>
      </p:sp>
      <p:sp>
        <p:nvSpPr>
          <p:cNvPr id="28" name="TextBox 27"/>
          <p:cNvSpPr txBox="1"/>
          <p:nvPr/>
        </p:nvSpPr>
        <p:spPr>
          <a:xfrm>
            <a:off x="2140080" y="240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0.0435</a:t>
            </a:r>
          </a:p>
        </p:txBody>
      </p:sp>
      <p:sp>
        <p:nvSpPr>
          <p:cNvPr id="29" name="TextBox 28"/>
          <p:cNvSpPr txBox="1"/>
          <p:nvPr/>
        </p:nvSpPr>
        <p:spPr>
          <a:xfrm>
            <a:off x="3490080" y="2408760"/>
            <a:ext cx="967120" cy="480000"/>
          </a:xfrm>
          <a:prstGeom prst="rect">
            <a:avLst/>
          </a:prstGeom>
          <a:noFill/>
        </p:spPr>
        <p:txBody>
          <a:bodyPr wrap="square" lIns="0" tIns="0" rIns="0" bIns="0" anchor="ctr">
            <a:noAutofit/>
          </a:bodyPr>
          <a:lstStyle/>
          <a:p>
            <a:pPr algn="ctr"/>
            <a:r>
              <a:rPr sz="1400" b="1" i="0">
                <a:solidFill>
                  <a:srgbClr val="E0662B"/>
                </a:solidFill>
                <a:latin typeface="Calibri"/>
                <a:ea typeface="Calibri"/>
                <a:cs typeface="Calibri"/>
              </a:rPr>
              <a:t>0.0017</a:t>
            </a:r>
          </a:p>
        </p:txBody>
      </p:sp>
      <p:sp>
        <p:nvSpPr>
          <p:cNvPr id="30" name="TextBox 29"/>
          <p:cNvSpPr txBox="1"/>
          <p:nvPr/>
        </p:nvSpPr>
        <p:spPr>
          <a:xfrm>
            <a:off x="4640080" y="240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0.0275</a:t>
            </a:r>
          </a:p>
        </p:txBody>
      </p:sp>
      <p:sp>
        <p:nvSpPr>
          <p:cNvPr id="31" name="TextBox 30"/>
          <p:cNvSpPr txBox="1"/>
          <p:nvPr/>
        </p:nvSpPr>
        <p:spPr>
          <a:xfrm>
            <a:off x="5990080" y="2408760"/>
            <a:ext cx="967120" cy="480000"/>
          </a:xfrm>
          <a:prstGeom prst="rect">
            <a:avLst/>
          </a:prstGeom>
          <a:noFill/>
        </p:spPr>
        <p:txBody>
          <a:bodyPr wrap="square" lIns="0" tIns="0" rIns="0" bIns="0" anchor="ctr">
            <a:noAutofit/>
          </a:bodyPr>
          <a:lstStyle/>
          <a:p>
            <a:pPr algn="ctr"/>
            <a:r>
              <a:rPr sz="1400" b="1" i="0">
                <a:solidFill>
                  <a:srgbClr val="E0662B"/>
                </a:solidFill>
                <a:latin typeface="Calibri"/>
                <a:ea typeface="Calibri"/>
                <a:cs typeface="Calibri"/>
              </a:rPr>
              <a:t>0.0012</a:t>
            </a:r>
          </a:p>
        </p:txBody>
      </p:sp>
      <p:sp>
        <p:nvSpPr>
          <p:cNvPr id="32" name="TextBox 31"/>
          <p:cNvSpPr txBox="1"/>
          <p:nvPr/>
        </p:nvSpPr>
        <p:spPr>
          <a:xfrm>
            <a:off x="7140080" y="240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0.0130</a:t>
            </a:r>
          </a:p>
        </p:txBody>
      </p:sp>
      <p:sp>
        <p:nvSpPr>
          <p:cNvPr id="33" name="TextBox 32"/>
          <p:cNvSpPr txBox="1"/>
          <p:nvPr/>
        </p:nvSpPr>
        <p:spPr>
          <a:xfrm>
            <a:off x="8490080" y="2408760"/>
            <a:ext cx="967120" cy="480000"/>
          </a:xfrm>
          <a:prstGeom prst="rect">
            <a:avLst/>
          </a:prstGeom>
          <a:noFill/>
        </p:spPr>
        <p:txBody>
          <a:bodyPr wrap="square" lIns="0" tIns="0" rIns="0" bIns="0" anchor="ctr">
            <a:noAutofit/>
          </a:bodyPr>
          <a:lstStyle/>
          <a:p>
            <a:pPr algn="ctr"/>
            <a:r>
              <a:rPr sz="1400" b="1" i="0">
                <a:solidFill>
                  <a:srgbClr val="E0662B"/>
                </a:solidFill>
                <a:latin typeface="Calibri"/>
                <a:ea typeface="Calibri"/>
                <a:cs typeface="Calibri"/>
              </a:rPr>
              <a:t>0.0011</a:t>
            </a:r>
          </a:p>
        </p:txBody>
      </p:sp>
      <p:sp>
        <p:nvSpPr>
          <p:cNvPr id="34" name="TextBox 33"/>
          <p:cNvSpPr txBox="1"/>
          <p:nvPr/>
        </p:nvSpPr>
        <p:spPr>
          <a:xfrm>
            <a:off x="640080" y="288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7</a:t>
            </a:r>
          </a:p>
        </p:txBody>
      </p:sp>
      <p:sp>
        <p:nvSpPr>
          <p:cNvPr id="35" name="TextBox 34"/>
          <p:cNvSpPr txBox="1"/>
          <p:nvPr/>
        </p:nvSpPr>
        <p:spPr>
          <a:xfrm>
            <a:off x="1140080" y="288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7</a:t>
            </a:r>
          </a:p>
        </p:txBody>
      </p:sp>
      <p:sp>
        <p:nvSpPr>
          <p:cNvPr id="36" name="TextBox 35"/>
          <p:cNvSpPr txBox="1"/>
          <p:nvPr/>
        </p:nvSpPr>
        <p:spPr>
          <a:xfrm>
            <a:off x="1640080" y="288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2</a:t>
            </a:r>
          </a:p>
        </p:txBody>
      </p:sp>
      <p:sp>
        <p:nvSpPr>
          <p:cNvPr id="37" name="TextBox 36"/>
          <p:cNvSpPr txBox="1"/>
          <p:nvPr/>
        </p:nvSpPr>
        <p:spPr>
          <a:xfrm>
            <a:off x="2140080" y="288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0.0445</a:t>
            </a:r>
          </a:p>
        </p:txBody>
      </p:sp>
      <p:sp>
        <p:nvSpPr>
          <p:cNvPr id="38" name="TextBox 37"/>
          <p:cNvSpPr txBox="1"/>
          <p:nvPr/>
        </p:nvSpPr>
        <p:spPr>
          <a:xfrm>
            <a:off x="3490080" y="288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0.0018</a:t>
            </a:r>
          </a:p>
        </p:txBody>
      </p:sp>
      <p:sp>
        <p:nvSpPr>
          <p:cNvPr id="39" name="TextBox 38"/>
          <p:cNvSpPr txBox="1"/>
          <p:nvPr/>
        </p:nvSpPr>
        <p:spPr>
          <a:xfrm>
            <a:off x="4640080" y="288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0.0300</a:t>
            </a:r>
          </a:p>
        </p:txBody>
      </p:sp>
      <p:sp>
        <p:nvSpPr>
          <p:cNvPr id="40" name="TextBox 39"/>
          <p:cNvSpPr txBox="1"/>
          <p:nvPr/>
        </p:nvSpPr>
        <p:spPr>
          <a:xfrm>
            <a:off x="5990080" y="288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0.0013</a:t>
            </a:r>
          </a:p>
        </p:txBody>
      </p:sp>
      <p:sp>
        <p:nvSpPr>
          <p:cNvPr id="41" name="TextBox 40"/>
          <p:cNvSpPr txBox="1"/>
          <p:nvPr/>
        </p:nvSpPr>
        <p:spPr>
          <a:xfrm>
            <a:off x="7140080" y="288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0.0165</a:t>
            </a:r>
          </a:p>
        </p:txBody>
      </p:sp>
      <p:sp>
        <p:nvSpPr>
          <p:cNvPr id="42" name="TextBox 41"/>
          <p:cNvSpPr txBox="1"/>
          <p:nvPr/>
        </p:nvSpPr>
        <p:spPr>
          <a:xfrm>
            <a:off x="8490080" y="288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0.0012</a:t>
            </a:r>
          </a:p>
        </p:txBody>
      </p:sp>
      <p:sp>
        <p:nvSpPr>
          <p:cNvPr id="43" name="Rectangle 42"/>
          <p:cNvSpPr/>
          <p:nvPr/>
        </p:nvSpPr>
        <p:spPr>
          <a:xfrm>
            <a:off x="548640" y="3368760"/>
            <a:ext cx="9000000" cy="480000"/>
          </a:xfrm>
          <a:prstGeom prst="rect">
            <a:avLst/>
          </a:prstGeom>
          <a:solidFill>
            <a:srgbClr val="E3DED3"/>
          </a:solidFill>
          <a:ln>
            <a:noFill/>
          </a:ln>
          <a:effectLst/>
        </p:spPr>
        <p:txBody>
          <a:bodyPr rtlCol="0" anchor="ctr"/>
          <a:lstStyle/>
          <a:p>
            <a:pPr algn="ctr"/>
            <a:endParaRPr/>
          </a:p>
        </p:txBody>
      </p:sp>
      <p:sp>
        <p:nvSpPr>
          <p:cNvPr id="44" name="TextBox 43"/>
          <p:cNvSpPr txBox="1"/>
          <p:nvPr/>
        </p:nvSpPr>
        <p:spPr>
          <a:xfrm>
            <a:off x="640080" y="336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1</a:t>
            </a:r>
          </a:p>
        </p:txBody>
      </p:sp>
      <p:sp>
        <p:nvSpPr>
          <p:cNvPr id="45" name="TextBox 44"/>
          <p:cNvSpPr txBox="1"/>
          <p:nvPr/>
        </p:nvSpPr>
        <p:spPr>
          <a:xfrm>
            <a:off x="1140080" y="336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1</a:t>
            </a:r>
          </a:p>
        </p:txBody>
      </p:sp>
      <p:sp>
        <p:nvSpPr>
          <p:cNvPr id="46" name="TextBox 45"/>
          <p:cNvSpPr txBox="1"/>
          <p:nvPr/>
        </p:nvSpPr>
        <p:spPr>
          <a:xfrm>
            <a:off x="1640080" y="336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2</a:t>
            </a:r>
          </a:p>
        </p:txBody>
      </p:sp>
      <p:sp>
        <p:nvSpPr>
          <p:cNvPr id="47" name="TextBox 46"/>
          <p:cNvSpPr txBox="1"/>
          <p:nvPr/>
        </p:nvSpPr>
        <p:spPr>
          <a:xfrm>
            <a:off x="2140080" y="336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0.0616</a:t>
            </a:r>
          </a:p>
        </p:txBody>
      </p:sp>
      <p:sp>
        <p:nvSpPr>
          <p:cNvPr id="48" name="TextBox 47"/>
          <p:cNvSpPr txBox="1"/>
          <p:nvPr/>
        </p:nvSpPr>
        <p:spPr>
          <a:xfrm>
            <a:off x="3490080" y="336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0.0003</a:t>
            </a:r>
          </a:p>
        </p:txBody>
      </p:sp>
      <p:sp>
        <p:nvSpPr>
          <p:cNvPr id="49" name="TextBox 48"/>
          <p:cNvSpPr txBox="1"/>
          <p:nvPr/>
        </p:nvSpPr>
        <p:spPr>
          <a:xfrm>
            <a:off x="4640080" y="336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0.0280</a:t>
            </a:r>
          </a:p>
        </p:txBody>
      </p:sp>
      <p:sp>
        <p:nvSpPr>
          <p:cNvPr id="50" name="TextBox 49"/>
          <p:cNvSpPr txBox="1"/>
          <p:nvPr/>
        </p:nvSpPr>
        <p:spPr>
          <a:xfrm>
            <a:off x="5990080" y="336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0.0003</a:t>
            </a:r>
          </a:p>
        </p:txBody>
      </p:sp>
      <p:sp>
        <p:nvSpPr>
          <p:cNvPr id="51" name="TextBox 50"/>
          <p:cNvSpPr txBox="1"/>
          <p:nvPr/>
        </p:nvSpPr>
        <p:spPr>
          <a:xfrm>
            <a:off x="7140080" y="336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0.0063</a:t>
            </a:r>
          </a:p>
        </p:txBody>
      </p:sp>
      <p:sp>
        <p:nvSpPr>
          <p:cNvPr id="52" name="TextBox 51"/>
          <p:cNvSpPr txBox="1"/>
          <p:nvPr/>
        </p:nvSpPr>
        <p:spPr>
          <a:xfrm>
            <a:off x="8490080" y="336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0.0002</a:t>
            </a:r>
          </a:p>
        </p:txBody>
      </p:sp>
      <p:sp>
        <p:nvSpPr>
          <p:cNvPr id="53" name="TextBox 52"/>
          <p:cNvSpPr txBox="1"/>
          <p:nvPr/>
        </p:nvSpPr>
        <p:spPr>
          <a:xfrm>
            <a:off x="640080" y="384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3</a:t>
            </a:r>
          </a:p>
        </p:txBody>
      </p:sp>
      <p:sp>
        <p:nvSpPr>
          <p:cNvPr id="54" name="TextBox 53"/>
          <p:cNvSpPr txBox="1"/>
          <p:nvPr/>
        </p:nvSpPr>
        <p:spPr>
          <a:xfrm>
            <a:off x="1140080" y="384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1</a:t>
            </a:r>
          </a:p>
        </p:txBody>
      </p:sp>
      <p:sp>
        <p:nvSpPr>
          <p:cNvPr id="55" name="TextBox 54"/>
          <p:cNvSpPr txBox="1"/>
          <p:nvPr/>
        </p:nvSpPr>
        <p:spPr>
          <a:xfrm>
            <a:off x="1640080" y="384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4</a:t>
            </a:r>
          </a:p>
        </p:txBody>
      </p:sp>
      <p:sp>
        <p:nvSpPr>
          <p:cNvPr id="56" name="TextBox 55"/>
          <p:cNvSpPr txBox="1"/>
          <p:nvPr/>
        </p:nvSpPr>
        <p:spPr>
          <a:xfrm>
            <a:off x="2140080" y="384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0.0652</a:t>
            </a:r>
          </a:p>
        </p:txBody>
      </p:sp>
      <p:sp>
        <p:nvSpPr>
          <p:cNvPr id="57" name="TextBox 56"/>
          <p:cNvSpPr txBox="1"/>
          <p:nvPr/>
        </p:nvSpPr>
        <p:spPr>
          <a:xfrm>
            <a:off x="3490080" y="384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0.0012</a:t>
            </a:r>
          </a:p>
        </p:txBody>
      </p:sp>
      <p:sp>
        <p:nvSpPr>
          <p:cNvPr id="58" name="TextBox 57"/>
          <p:cNvSpPr txBox="1"/>
          <p:nvPr/>
        </p:nvSpPr>
        <p:spPr>
          <a:xfrm>
            <a:off x="4640080" y="384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0.0293</a:t>
            </a:r>
          </a:p>
        </p:txBody>
      </p:sp>
      <p:sp>
        <p:nvSpPr>
          <p:cNvPr id="59" name="TextBox 58"/>
          <p:cNvSpPr txBox="1"/>
          <p:nvPr/>
        </p:nvSpPr>
        <p:spPr>
          <a:xfrm>
            <a:off x="5990080" y="384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0.0003</a:t>
            </a:r>
          </a:p>
        </p:txBody>
      </p:sp>
      <p:sp>
        <p:nvSpPr>
          <p:cNvPr id="60" name="TextBox 59"/>
          <p:cNvSpPr txBox="1"/>
          <p:nvPr/>
        </p:nvSpPr>
        <p:spPr>
          <a:xfrm>
            <a:off x="7140080" y="384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0.0065</a:t>
            </a:r>
          </a:p>
        </p:txBody>
      </p:sp>
      <p:sp>
        <p:nvSpPr>
          <p:cNvPr id="61" name="TextBox 60"/>
          <p:cNvSpPr txBox="1"/>
          <p:nvPr/>
        </p:nvSpPr>
        <p:spPr>
          <a:xfrm>
            <a:off x="8490080" y="384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0.0002</a:t>
            </a:r>
          </a:p>
        </p:txBody>
      </p:sp>
      <p:sp>
        <p:nvSpPr>
          <p:cNvPr id="62" name="Rectangle 61"/>
          <p:cNvSpPr/>
          <p:nvPr/>
        </p:nvSpPr>
        <p:spPr>
          <a:xfrm>
            <a:off x="548640" y="4328760"/>
            <a:ext cx="9000000" cy="480000"/>
          </a:xfrm>
          <a:prstGeom prst="rect">
            <a:avLst/>
          </a:prstGeom>
          <a:solidFill>
            <a:srgbClr val="E3DED3"/>
          </a:solidFill>
          <a:ln>
            <a:noFill/>
          </a:ln>
          <a:effectLst/>
        </p:spPr>
        <p:txBody>
          <a:bodyPr rtlCol="0" anchor="ctr"/>
          <a:lstStyle/>
          <a:p>
            <a:pPr algn="ctr"/>
            <a:endParaRPr/>
          </a:p>
        </p:txBody>
      </p:sp>
      <p:sp>
        <p:nvSpPr>
          <p:cNvPr id="63" name="TextBox 62"/>
          <p:cNvSpPr txBox="1"/>
          <p:nvPr/>
        </p:nvSpPr>
        <p:spPr>
          <a:xfrm>
            <a:off x="640080" y="432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7</a:t>
            </a:r>
          </a:p>
        </p:txBody>
      </p:sp>
      <p:sp>
        <p:nvSpPr>
          <p:cNvPr id="64" name="TextBox 63"/>
          <p:cNvSpPr txBox="1"/>
          <p:nvPr/>
        </p:nvSpPr>
        <p:spPr>
          <a:xfrm>
            <a:off x="1140080" y="432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1</a:t>
            </a:r>
          </a:p>
        </p:txBody>
      </p:sp>
      <p:sp>
        <p:nvSpPr>
          <p:cNvPr id="65" name="TextBox 64"/>
          <p:cNvSpPr txBox="1"/>
          <p:nvPr/>
        </p:nvSpPr>
        <p:spPr>
          <a:xfrm>
            <a:off x="1640080" y="4328760"/>
            <a:ext cx="31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8</a:t>
            </a:r>
          </a:p>
        </p:txBody>
      </p:sp>
      <p:sp>
        <p:nvSpPr>
          <p:cNvPr id="66" name="TextBox 65"/>
          <p:cNvSpPr txBox="1"/>
          <p:nvPr/>
        </p:nvSpPr>
        <p:spPr>
          <a:xfrm>
            <a:off x="2140080" y="432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0.0695</a:t>
            </a:r>
          </a:p>
        </p:txBody>
      </p:sp>
      <p:sp>
        <p:nvSpPr>
          <p:cNvPr id="67" name="TextBox 66"/>
          <p:cNvSpPr txBox="1"/>
          <p:nvPr/>
        </p:nvSpPr>
        <p:spPr>
          <a:xfrm>
            <a:off x="3490080" y="4328760"/>
            <a:ext cx="967120" cy="480000"/>
          </a:xfrm>
          <a:prstGeom prst="rect">
            <a:avLst/>
          </a:prstGeom>
          <a:noFill/>
        </p:spPr>
        <p:txBody>
          <a:bodyPr wrap="square" lIns="0" tIns="0" rIns="0" bIns="0" anchor="ctr">
            <a:noAutofit/>
          </a:bodyPr>
          <a:lstStyle/>
          <a:p>
            <a:pPr algn="ctr"/>
            <a:r>
              <a:rPr sz="1400" b="1" i="0">
                <a:solidFill>
                  <a:srgbClr val="E0662B"/>
                </a:solidFill>
                <a:latin typeface="Calibri"/>
                <a:ea typeface="Calibri"/>
                <a:cs typeface="Calibri"/>
              </a:rPr>
              <a:t>0.0068</a:t>
            </a:r>
          </a:p>
        </p:txBody>
      </p:sp>
      <p:sp>
        <p:nvSpPr>
          <p:cNvPr id="68" name="TextBox 67"/>
          <p:cNvSpPr txBox="1"/>
          <p:nvPr/>
        </p:nvSpPr>
        <p:spPr>
          <a:xfrm>
            <a:off x="4640080" y="432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0.0312</a:t>
            </a:r>
          </a:p>
        </p:txBody>
      </p:sp>
      <p:sp>
        <p:nvSpPr>
          <p:cNvPr id="69" name="TextBox 68"/>
          <p:cNvSpPr txBox="1"/>
          <p:nvPr/>
        </p:nvSpPr>
        <p:spPr>
          <a:xfrm>
            <a:off x="5990080" y="432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0.0007</a:t>
            </a:r>
          </a:p>
        </p:txBody>
      </p:sp>
      <p:sp>
        <p:nvSpPr>
          <p:cNvPr id="70" name="TextBox 69"/>
          <p:cNvSpPr txBox="1"/>
          <p:nvPr/>
        </p:nvSpPr>
        <p:spPr>
          <a:xfrm>
            <a:off x="7140080" y="4328760"/>
            <a:ext cx="11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0.0065</a:t>
            </a:r>
          </a:p>
        </p:txBody>
      </p:sp>
      <p:sp>
        <p:nvSpPr>
          <p:cNvPr id="71" name="TextBox 70"/>
          <p:cNvSpPr txBox="1"/>
          <p:nvPr/>
        </p:nvSpPr>
        <p:spPr>
          <a:xfrm>
            <a:off x="8490080" y="4328760"/>
            <a:ext cx="967120" cy="480000"/>
          </a:xfrm>
          <a:prstGeom prst="rect">
            <a:avLst/>
          </a:prstGeom>
          <a:noFill/>
        </p:spPr>
        <p:txBody>
          <a:bodyPr wrap="square" lIns="0" tIns="0" rIns="0" bIns="0" anchor="ctr">
            <a:noAutofit/>
          </a:bodyPr>
          <a:lstStyle/>
          <a:p>
            <a:pPr algn="ctr"/>
            <a:r>
              <a:rPr sz="1400" b="0" i="0">
                <a:solidFill>
                  <a:srgbClr val="1B2A4A"/>
                </a:solidFill>
                <a:latin typeface="Calibri"/>
                <a:ea typeface="Calibri"/>
                <a:cs typeface="Calibri"/>
              </a:rPr>
              <a:t>0.0003</a:t>
            </a:r>
          </a:p>
        </p:txBody>
      </p:sp>
      <p:sp>
        <p:nvSpPr>
          <p:cNvPr id="72" name="TextBox 71"/>
          <p:cNvSpPr txBox="1"/>
          <p:nvPr/>
        </p:nvSpPr>
        <p:spPr>
          <a:xfrm>
            <a:off x="548640" y="4958760"/>
            <a:ext cx="11094720" cy="300000"/>
          </a:xfrm>
          <a:prstGeom prst="rect">
            <a:avLst/>
          </a:prstGeom>
          <a:noFill/>
        </p:spPr>
        <p:txBody>
          <a:bodyPr wrap="square" lIns="0" tIns="0" rIns="0" bIns="0" anchor="t">
            <a:noAutofit/>
          </a:bodyPr>
          <a:lstStyle/>
          <a:p>
            <a:pPr algn="l"/>
            <a:r>
              <a:rPr sz="1500" b="1" i="0">
                <a:solidFill>
                  <a:srgbClr val="E0662B"/>
                </a:solidFill>
                <a:latin typeface="Calibri"/>
                <a:ea typeface="Calibri"/>
                <a:cs typeface="Calibri"/>
              </a:rPr>
              <a:t>M5 runs with boundary hits (mean gap / CSL)</a:t>
            </a:r>
          </a:p>
        </p:txBody>
      </p:sp>
      <p:sp>
        <p:nvSpPr>
          <p:cNvPr id="73" name="TextBox 72"/>
          <p:cNvSpPr txBox="1"/>
          <p:nvPr/>
        </p:nvSpPr>
        <p:spPr>
          <a:xfrm>
            <a:off x="548640" y="5258760"/>
            <a:ext cx="11094720" cy="700000"/>
          </a:xfrm>
          <a:prstGeom prst="rect">
            <a:avLst/>
          </a:prstGeom>
          <a:noFill/>
        </p:spPr>
        <p:txBody>
          <a:bodyPr wrap="square" lIns="0" tIns="0" rIns="0" bIns="0" anchor="t">
            <a:noAutofit/>
          </a:bodyPr>
          <a:lstStyle/>
          <a:p>
            <a:pPr algn="l"/>
            <a:r>
              <a:rPr sz="1350" b="0" i="0">
                <a:solidFill>
                  <a:srgbClr val="1B2A4A"/>
                </a:solidFill>
                <a:latin typeface="Calibri"/>
                <a:ea typeface="Calibri"/>
                <a:cs typeface="Calibri"/>
              </a:rPr>
              <a:t>τ = 0.90, R = 1: Chronos-2 (L = 3, 7), LightGBM-Q, Croston-SBA, Seasonal Naive (L = 7); cause: slow movers, S cannot go below 1 unit. τ = 0.99, R = 7: Chronos-Bolt (L = 1, 3, 7); cause: the extrapolated tail is too short.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COST</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Cost and group gap of each model against B2</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Rectangle 4"/>
          <p:cNvSpPr/>
          <p:nvPr/>
        </p:nvSpPr>
        <p:spPr>
          <a:xfrm>
            <a:off x="548640" y="1508760"/>
            <a:ext cx="11094720" cy="420000"/>
          </a:xfrm>
          <a:prstGeom prst="rect">
            <a:avLst/>
          </a:prstGeom>
          <a:solidFill>
            <a:srgbClr val="1B2A4A"/>
          </a:solidFill>
          <a:ln>
            <a:noFill/>
          </a:ln>
          <a:effectLst/>
        </p:spPr>
        <p:txBody>
          <a:bodyPr rtlCol="0" anchor="ctr"/>
          <a:lstStyle/>
          <a:p>
            <a:pPr algn="ctr"/>
            <a:endParaRPr/>
          </a:p>
        </p:txBody>
      </p:sp>
      <p:sp>
        <p:nvSpPr>
          <p:cNvPr id="6" name="TextBox 5"/>
          <p:cNvSpPr txBox="1"/>
          <p:nvPr/>
        </p:nvSpPr>
        <p:spPr>
          <a:xfrm>
            <a:off x="640080" y="1508760"/>
            <a:ext cx="181712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Model</a:t>
            </a:r>
          </a:p>
        </p:txBody>
      </p:sp>
      <p:sp>
        <p:nvSpPr>
          <p:cNvPr id="7" name="TextBox 6"/>
          <p:cNvSpPr txBox="1"/>
          <p:nvPr/>
        </p:nvSpPr>
        <p:spPr>
          <a:xfrm>
            <a:off x="2640080" y="1508760"/>
            <a:ext cx="917120" cy="42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B2 τ*</a:t>
            </a:r>
          </a:p>
        </p:txBody>
      </p:sp>
      <p:sp>
        <p:nvSpPr>
          <p:cNvPr id="8" name="TextBox 7"/>
          <p:cNvSpPr txBox="1"/>
          <p:nvPr/>
        </p:nvSpPr>
        <p:spPr>
          <a:xfrm>
            <a:off x="3740080" y="1508760"/>
            <a:ext cx="2717120" cy="42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C³-OUT 0.95 vs. B2 [CI]</a:t>
            </a:r>
          </a:p>
        </p:txBody>
      </p:sp>
      <p:sp>
        <p:nvSpPr>
          <p:cNvPr id="9" name="TextBox 8"/>
          <p:cNvSpPr txBox="1"/>
          <p:nvPr/>
        </p:nvSpPr>
        <p:spPr>
          <a:xfrm>
            <a:off x="6640080" y="1508760"/>
            <a:ext cx="1517120" cy="42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Static 0.95 vs. B2</a:t>
            </a:r>
          </a:p>
        </p:txBody>
      </p:sp>
      <p:sp>
        <p:nvSpPr>
          <p:cNvPr id="10" name="TextBox 9"/>
          <p:cNvSpPr txBox="1"/>
          <p:nvPr/>
        </p:nvSpPr>
        <p:spPr>
          <a:xfrm>
            <a:off x="8340080" y="1508760"/>
            <a:ext cx="1517120" cy="42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Gap C³-OUT</a:t>
            </a:r>
          </a:p>
        </p:txBody>
      </p:sp>
      <p:sp>
        <p:nvSpPr>
          <p:cNvPr id="11" name="TextBox 10"/>
          <p:cNvSpPr txBox="1"/>
          <p:nvPr/>
        </p:nvSpPr>
        <p:spPr>
          <a:xfrm>
            <a:off x="10040080" y="1508760"/>
            <a:ext cx="1511840" cy="42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Gap static</a:t>
            </a:r>
          </a:p>
        </p:txBody>
      </p:sp>
      <p:sp>
        <p:nvSpPr>
          <p:cNvPr id="12" name="TextBox 11"/>
          <p:cNvSpPr txBox="1"/>
          <p:nvPr/>
        </p:nvSpPr>
        <p:spPr>
          <a:xfrm>
            <a:off x="640080" y="192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Seasonal Naive</a:t>
            </a:r>
          </a:p>
        </p:txBody>
      </p:sp>
      <p:sp>
        <p:nvSpPr>
          <p:cNvPr id="13" name="TextBox 12"/>
          <p:cNvSpPr txBox="1"/>
          <p:nvPr/>
        </p:nvSpPr>
        <p:spPr>
          <a:xfrm>
            <a:off x="2640080" y="192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0.900</a:t>
            </a:r>
          </a:p>
        </p:txBody>
      </p:sp>
      <p:sp>
        <p:nvSpPr>
          <p:cNvPr id="14" name="TextBox 13"/>
          <p:cNvSpPr txBox="1"/>
          <p:nvPr/>
        </p:nvSpPr>
        <p:spPr>
          <a:xfrm>
            <a:off x="3740080" y="192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+4.00% [3.74; 4.30]</a:t>
            </a:r>
          </a:p>
        </p:txBody>
      </p:sp>
      <p:sp>
        <p:nvSpPr>
          <p:cNvPr id="15" name="TextBox 14"/>
          <p:cNvSpPr txBox="1"/>
          <p:nvPr/>
        </p:nvSpPr>
        <p:spPr>
          <a:xfrm>
            <a:off x="6640080" y="192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+3.51%</a:t>
            </a:r>
          </a:p>
        </p:txBody>
      </p:sp>
      <p:sp>
        <p:nvSpPr>
          <p:cNvPr id="16" name="TextBox 15"/>
          <p:cNvSpPr txBox="1"/>
          <p:nvPr/>
        </p:nvSpPr>
        <p:spPr>
          <a:xfrm>
            <a:off x="8340080" y="192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0.0009</a:t>
            </a:r>
          </a:p>
        </p:txBody>
      </p:sp>
      <p:sp>
        <p:nvSpPr>
          <p:cNvPr id="17" name="TextBox 16"/>
          <p:cNvSpPr txBox="1"/>
          <p:nvPr/>
        </p:nvSpPr>
        <p:spPr>
          <a:xfrm>
            <a:off x="10040080" y="192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0.0052</a:t>
            </a:r>
          </a:p>
        </p:txBody>
      </p:sp>
      <p:sp>
        <p:nvSpPr>
          <p:cNvPr id="18" name="Rectangle 17"/>
          <p:cNvSpPr/>
          <p:nvPr/>
        </p:nvSpPr>
        <p:spPr>
          <a:xfrm>
            <a:off x="548640" y="2358760"/>
            <a:ext cx="11094720" cy="430000"/>
          </a:xfrm>
          <a:prstGeom prst="rect">
            <a:avLst/>
          </a:prstGeom>
          <a:solidFill>
            <a:srgbClr val="E3DED3"/>
          </a:solidFill>
          <a:ln>
            <a:noFill/>
          </a:ln>
          <a:effectLst/>
        </p:spPr>
        <p:txBody>
          <a:bodyPr rtlCol="0" anchor="ctr"/>
          <a:lstStyle/>
          <a:p>
            <a:pPr algn="ctr"/>
            <a:endParaRPr/>
          </a:p>
        </p:txBody>
      </p:sp>
      <p:sp>
        <p:nvSpPr>
          <p:cNvPr id="19" name="TextBox 18"/>
          <p:cNvSpPr txBox="1"/>
          <p:nvPr/>
        </p:nvSpPr>
        <p:spPr>
          <a:xfrm>
            <a:off x="640080" y="235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Croston-SBA</a:t>
            </a:r>
          </a:p>
        </p:txBody>
      </p:sp>
      <p:sp>
        <p:nvSpPr>
          <p:cNvPr id="20" name="TextBox 19"/>
          <p:cNvSpPr txBox="1"/>
          <p:nvPr/>
        </p:nvSpPr>
        <p:spPr>
          <a:xfrm>
            <a:off x="2640080" y="235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0.900</a:t>
            </a:r>
          </a:p>
        </p:txBody>
      </p:sp>
      <p:sp>
        <p:nvSpPr>
          <p:cNvPr id="21" name="TextBox 20"/>
          <p:cNvSpPr txBox="1"/>
          <p:nvPr/>
        </p:nvSpPr>
        <p:spPr>
          <a:xfrm>
            <a:off x="3740080" y="235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+0.38% [0.12; 0.68]</a:t>
            </a:r>
          </a:p>
        </p:txBody>
      </p:sp>
      <p:sp>
        <p:nvSpPr>
          <p:cNvPr id="22" name="TextBox 21"/>
          <p:cNvSpPr txBox="1"/>
          <p:nvPr/>
        </p:nvSpPr>
        <p:spPr>
          <a:xfrm>
            <a:off x="6640080" y="235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a:t>
            </a:r>
          </a:p>
        </p:txBody>
      </p:sp>
      <p:sp>
        <p:nvSpPr>
          <p:cNvPr id="23" name="TextBox 22"/>
          <p:cNvSpPr txBox="1"/>
          <p:nvPr/>
        </p:nvSpPr>
        <p:spPr>
          <a:xfrm>
            <a:off x="8340080" y="235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0.0016</a:t>
            </a:r>
          </a:p>
        </p:txBody>
      </p:sp>
      <p:sp>
        <p:nvSpPr>
          <p:cNvPr id="24" name="TextBox 23"/>
          <p:cNvSpPr txBox="1"/>
          <p:nvPr/>
        </p:nvSpPr>
        <p:spPr>
          <a:xfrm>
            <a:off x="10040080" y="235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0.0063</a:t>
            </a:r>
          </a:p>
        </p:txBody>
      </p:sp>
      <p:sp>
        <p:nvSpPr>
          <p:cNvPr id="25" name="TextBox 24"/>
          <p:cNvSpPr txBox="1"/>
          <p:nvPr/>
        </p:nvSpPr>
        <p:spPr>
          <a:xfrm>
            <a:off x="640080" y="278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TSB</a:t>
            </a:r>
          </a:p>
        </p:txBody>
      </p:sp>
      <p:sp>
        <p:nvSpPr>
          <p:cNvPr id="26" name="TextBox 25"/>
          <p:cNvSpPr txBox="1"/>
          <p:nvPr/>
        </p:nvSpPr>
        <p:spPr>
          <a:xfrm>
            <a:off x="2640080" y="278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0.900</a:t>
            </a:r>
          </a:p>
        </p:txBody>
      </p:sp>
      <p:sp>
        <p:nvSpPr>
          <p:cNvPr id="27" name="TextBox 26"/>
          <p:cNvSpPr txBox="1"/>
          <p:nvPr/>
        </p:nvSpPr>
        <p:spPr>
          <a:xfrm>
            <a:off x="3740080" y="278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+2.15% [1.91; 2.37]</a:t>
            </a:r>
          </a:p>
        </p:txBody>
      </p:sp>
      <p:sp>
        <p:nvSpPr>
          <p:cNvPr id="28" name="TextBox 27"/>
          <p:cNvSpPr txBox="1"/>
          <p:nvPr/>
        </p:nvSpPr>
        <p:spPr>
          <a:xfrm>
            <a:off x="6640080" y="278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+2.00%</a:t>
            </a:r>
          </a:p>
        </p:txBody>
      </p:sp>
      <p:sp>
        <p:nvSpPr>
          <p:cNvPr id="29" name="TextBox 28"/>
          <p:cNvSpPr txBox="1"/>
          <p:nvPr/>
        </p:nvSpPr>
        <p:spPr>
          <a:xfrm>
            <a:off x="8340080" y="278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0.0009</a:t>
            </a:r>
          </a:p>
        </p:txBody>
      </p:sp>
      <p:sp>
        <p:nvSpPr>
          <p:cNvPr id="30" name="TextBox 29"/>
          <p:cNvSpPr txBox="1"/>
          <p:nvPr/>
        </p:nvSpPr>
        <p:spPr>
          <a:xfrm>
            <a:off x="10040080" y="278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0.0056</a:t>
            </a:r>
          </a:p>
        </p:txBody>
      </p:sp>
      <p:sp>
        <p:nvSpPr>
          <p:cNvPr id="31" name="Rectangle 30"/>
          <p:cNvSpPr/>
          <p:nvPr/>
        </p:nvSpPr>
        <p:spPr>
          <a:xfrm>
            <a:off x="548640" y="3218760"/>
            <a:ext cx="11094720" cy="430000"/>
          </a:xfrm>
          <a:prstGeom prst="rect">
            <a:avLst/>
          </a:prstGeom>
          <a:solidFill>
            <a:srgbClr val="E3DED3"/>
          </a:solidFill>
          <a:ln>
            <a:noFill/>
          </a:ln>
          <a:effectLst/>
        </p:spPr>
        <p:txBody>
          <a:bodyPr rtlCol="0" anchor="ctr"/>
          <a:lstStyle/>
          <a:p>
            <a:pPr algn="ctr"/>
            <a:endParaRPr/>
          </a:p>
        </p:txBody>
      </p:sp>
      <p:sp>
        <p:nvSpPr>
          <p:cNvPr id="32" name="TextBox 31"/>
          <p:cNvSpPr txBox="1"/>
          <p:nvPr/>
        </p:nvSpPr>
        <p:spPr>
          <a:xfrm>
            <a:off x="640080" y="321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ETS(A,N,N)</a:t>
            </a:r>
          </a:p>
        </p:txBody>
      </p:sp>
      <p:sp>
        <p:nvSpPr>
          <p:cNvPr id="33" name="TextBox 32"/>
          <p:cNvSpPr txBox="1"/>
          <p:nvPr/>
        </p:nvSpPr>
        <p:spPr>
          <a:xfrm>
            <a:off x="2640080" y="321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0.900</a:t>
            </a:r>
          </a:p>
        </p:txBody>
      </p:sp>
      <p:sp>
        <p:nvSpPr>
          <p:cNvPr id="34" name="TextBox 33"/>
          <p:cNvSpPr txBox="1"/>
          <p:nvPr/>
        </p:nvSpPr>
        <p:spPr>
          <a:xfrm>
            <a:off x="3740080" y="321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+1.13% [0.91; 1.36]</a:t>
            </a:r>
          </a:p>
        </p:txBody>
      </p:sp>
      <p:sp>
        <p:nvSpPr>
          <p:cNvPr id="35" name="TextBox 34"/>
          <p:cNvSpPr txBox="1"/>
          <p:nvPr/>
        </p:nvSpPr>
        <p:spPr>
          <a:xfrm>
            <a:off x="6640080" y="321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+1.01%</a:t>
            </a:r>
          </a:p>
        </p:txBody>
      </p:sp>
      <p:sp>
        <p:nvSpPr>
          <p:cNvPr id="36" name="TextBox 35"/>
          <p:cNvSpPr txBox="1"/>
          <p:nvPr/>
        </p:nvSpPr>
        <p:spPr>
          <a:xfrm>
            <a:off x="8340080" y="321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0.0014</a:t>
            </a:r>
          </a:p>
        </p:txBody>
      </p:sp>
      <p:sp>
        <p:nvSpPr>
          <p:cNvPr id="37" name="TextBox 36"/>
          <p:cNvSpPr txBox="1"/>
          <p:nvPr/>
        </p:nvSpPr>
        <p:spPr>
          <a:xfrm>
            <a:off x="10040080" y="321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0.0050</a:t>
            </a:r>
          </a:p>
        </p:txBody>
      </p:sp>
      <p:sp>
        <p:nvSpPr>
          <p:cNvPr id="38" name="TextBox 37"/>
          <p:cNvSpPr txBox="1"/>
          <p:nvPr/>
        </p:nvSpPr>
        <p:spPr>
          <a:xfrm>
            <a:off x="640080" y="364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LightGBM-Q</a:t>
            </a:r>
          </a:p>
        </p:txBody>
      </p:sp>
      <p:sp>
        <p:nvSpPr>
          <p:cNvPr id="39" name="TextBox 38"/>
          <p:cNvSpPr txBox="1"/>
          <p:nvPr/>
        </p:nvSpPr>
        <p:spPr>
          <a:xfrm>
            <a:off x="2640080" y="364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0.975</a:t>
            </a:r>
          </a:p>
        </p:txBody>
      </p:sp>
      <p:sp>
        <p:nvSpPr>
          <p:cNvPr id="40" name="TextBox 39"/>
          <p:cNvSpPr txBox="1"/>
          <p:nvPr/>
        </p:nvSpPr>
        <p:spPr>
          <a:xfrm>
            <a:off x="3740080" y="364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+1.06% [0.79; 1.28]</a:t>
            </a:r>
          </a:p>
        </p:txBody>
      </p:sp>
      <p:sp>
        <p:nvSpPr>
          <p:cNvPr id="41" name="TextBox 40"/>
          <p:cNvSpPr txBox="1"/>
          <p:nvPr/>
        </p:nvSpPr>
        <p:spPr>
          <a:xfrm>
            <a:off x="6640080" y="364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+1.07%</a:t>
            </a:r>
          </a:p>
        </p:txBody>
      </p:sp>
      <p:sp>
        <p:nvSpPr>
          <p:cNvPr id="42" name="TextBox 41"/>
          <p:cNvSpPr txBox="1"/>
          <p:nvPr/>
        </p:nvSpPr>
        <p:spPr>
          <a:xfrm>
            <a:off x="8340080" y="364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0.0004</a:t>
            </a:r>
          </a:p>
        </p:txBody>
      </p:sp>
      <p:sp>
        <p:nvSpPr>
          <p:cNvPr id="43" name="TextBox 42"/>
          <p:cNvSpPr txBox="1"/>
          <p:nvPr/>
        </p:nvSpPr>
        <p:spPr>
          <a:xfrm>
            <a:off x="10040080" y="364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0.0065</a:t>
            </a:r>
          </a:p>
        </p:txBody>
      </p:sp>
      <p:sp>
        <p:nvSpPr>
          <p:cNvPr id="44" name="Rectangle 43"/>
          <p:cNvSpPr/>
          <p:nvPr/>
        </p:nvSpPr>
        <p:spPr>
          <a:xfrm>
            <a:off x="548640" y="4078760"/>
            <a:ext cx="11094720" cy="430000"/>
          </a:xfrm>
          <a:prstGeom prst="rect">
            <a:avLst/>
          </a:prstGeom>
          <a:solidFill>
            <a:srgbClr val="E3DED3"/>
          </a:solidFill>
          <a:ln>
            <a:noFill/>
          </a:ln>
          <a:effectLst/>
        </p:spPr>
        <p:txBody>
          <a:bodyPr rtlCol="0" anchor="ctr"/>
          <a:lstStyle/>
          <a:p>
            <a:pPr algn="ctr"/>
            <a:endParaRPr/>
          </a:p>
        </p:txBody>
      </p:sp>
      <p:sp>
        <p:nvSpPr>
          <p:cNvPr id="45" name="TextBox 44"/>
          <p:cNvSpPr txBox="1"/>
          <p:nvPr/>
        </p:nvSpPr>
        <p:spPr>
          <a:xfrm>
            <a:off x="640080" y="407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Chronos-Bolt</a:t>
            </a:r>
          </a:p>
        </p:txBody>
      </p:sp>
      <p:sp>
        <p:nvSpPr>
          <p:cNvPr id="46" name="TextBox 45"/>
          <p:cNvSpPr txBox="1"/>
          <p:nvPr/>
        </p:nvSpPr>
        <p:spPr>
          <a:xfrm>
            <a:off x="2640080" y="407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0.995</a:t>
            </a:r>
          </a:p>
        </p:txBody>
      </p:sp>
      <p:sp>
        <p:nvSpPr>
          <p:cNvPr id="47" name="TextBox 46"/>
          <p:cNvSpPr txBox="1"/>
          <p:nvPr/>
        </p:nvSpPr>
        <p:spPr>
          <a:xfrm>
            <a:off x="3740080" y="407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+1.21% [0.89; 1.51]</a:t>
            </a:r>
          </a:p>
        </p:txBody>
      </p:sp>
      <p:sp>
        <p:nvSpPr>
          <p:cNvPr id="48" name="TextBox 47"/>
          <p:cNvSpPr txBox="1"/>
          <p:nvPr/>
        </p:nvSpPr>
        <p:spPr>
          <a:xfrm>
            <a:off x="6640080" y="407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+1.97%</a:t>
            </a:r>
          </a:p>
        </p:txBody>
      </p:sp>
      <p:sp>
        <p:nvSpPr>
          <p:cNvPr id="49" name="TextBox 48"/>
          <p:cNvSpPr txBox="1"/>
          <p:nvPr/>
        </p:nvSpPr>
        <p:spPr>
          <a:xfrm>
            <a:off x="8340080" y="407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0.0025</a:t>
            </a:r>
          </a:p>
        </p:txBody>
      </p:sp>
      <p:sp>
        <p:nvSpPr>
          <p:cNvPr id="50" name="TextBox 49"/>
          <p:cNvSpPr txBox="1"/>
          <p:nvPr/>
        </p:nvSpPr>
        <p:spPr>
          <a:xfrm>
            <a:off x="10040080" y="407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0.0102</a:t>
            </a:r>
          </a:p>
        </p:txBody>
      </p:sp>
      <p:sp>
        <p:nvSpPr>
          <p:cNvPr id="51" name="TextBox 50"/>
          <p:cNvSpPr txBox="1"/>
          <p:nvPr/>
        </p:nvSpPr>
        <p:spPr>
          <a:xfrm>
            <a:off x="640080" y="450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Chronos-2</a:t>
            </a:r>
          </a:p>
        </p:txBody>
      </p:sp>
      <p:sp>
        <p:nvSpPr>
          <p:cNvPr id="52" name="TextBox 51"/>
          <p:cNvSpPr txBox="1"/>
          <p:nvPr/>
        </p:nvSpPr>
        <p:spPr>
          <a:xfrm>
            <a:off x="2640080" y="450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0.950</a:t>
            </a:r>
          </a:p>
        </p:txBody>
      </p:sp>
      <p:sp>
        <p:nvSpPr>
          <p:cNvPr id="53" name="TextBox 52"/>
          <p:cNvSpPr txBox="1"/>
          <p:nvPr/>
        </p:nvSpPr>
        <p:spPr>
          <a:xfrm>
            <a:off x="3740080" y="4508760"/>
            <a:ext cx="27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+1.28% [0.99; 1.54]</a:t>
            </a:r>
          </a:p>
        </p:txBody>
      </p:sp>
      <p:sp>
        <p:nvSpPr>
          <p:cNvPr id="54" name="TextBox 53"/>
          <p:cNvSpPr txBox="1"/>
          <p:nvPr/>
        </p:nvSpPr>
        <p:spPr>
          <a:xfrm>
            <a:off x="6640080" y="450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+1.23%</a:t>
            </a:r>
          </a:p>
        </p:txBody>
      </p:sp>
      <p:sp>
        <p:nvSpPr>
          <p:cNvPr id="55" name="TextBox 54"/>
          <p:cNvSpPr txBox="1"/>
          <p:nvPr/>
        </p:nvSpPr>
        <p:spPr>
          <a:xfrm>
            <a:off x="8340080" y="450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0.0013</a:t>
            </a:r>
          </a:p>
        </p:txBody>
      </p:sp>
      <p:sp>
        <p:nvSpPr>
          <p:cNvPr id="56" name="TextBox 55"/>
          <p:cNvSpPr txBox="1"/>
          <p:nvPr/>
        </p:nvSpPr>
        <p:spPr>
          <a:xfrm>
            <a:off x="10040080" y="450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0.0024</a:t>
            </a:r>
          </a:p>
        </p:txBody>
      </p:sp>
      <p:sp>
        <p:nvSpPr>
          <p:cNvPr id="57" name="Rectangle 56"/>
          <p:cNvSpPr/>
          <p:nvPr/>
        </p:nvSpPr>
        <p:spPr>
          <a:xfrm>
            <a:off x="548640" y="4938760"/>
            <a:ext cx="11094720" cy="430000"/>
          </a:xfrm>
          <a:prstGeom prst="rect">
            <a:avLst/>
          </a:prstGeom>
          <a:solidFill>
            <a:srgbClr val="E3DED3"/>
          </a:solidFill>
          <a:ln>
            <a:noFill/>
          </a:ln>
          <a:effectLst/>
        </p:spPr>
        <p:txBody>
          <a:bodyPr rtlCol="0" anchor="ctr"/>
          <a:lstStyle/>
          <a:p>
            <a:pPr algn="ctr"/>
            <a:endParaRPr/>
          </a:p>
        </p:txBody>
      </p:sp>
      <p:sp>
        <p:nvSpPr>
          <p:cNvPr id="58" name="TextBox 57"/>
          <p:cNvSpPr txBox="1"/>
          <p:nvPr/>
        </p:nvSpPr>
        <p:spPr>
          <a:xfrm>
            <a:off x="640080" y="4938760"/>
            <a:ext cx="1817120" cy="43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TimesFM-2.5</a:t>
            </a:r>
          </a:p>
        </p:txBody>
      </p:sp>
      <p:sp>
        <p:nvSpPr>
          <p:cNvPr id="59" name="TextBox 58"/>
          <p:cNvSpPr txBox="1"/>
          <p:nvPr/>
        </p:nvSpPr>
        <p:spPr>
          <a:xfrm>
            <a:off x="2640080" y="4938760"/>
            <a:ext cx="9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0.999</a:t>
            </a:r>
          </a:p>
        </p:txBody>
      </p:sp>
      <p:sp>
        <p:nvSpPr>
          <p:cNvPr id="60" name="TextBox 59"/>
          <p:cNvSpPr txBox="1"/>
          <p:nvPr/>
        </p:nvSpPr>
        <p:spPr>
          <a:xfrm>
            <a:off x="3740080" y="4938760"/>
            <a:ext cx="2717120" cy="43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+0.12% [−0.25; 0.44]</a:t>
            </a:r>
          </a:p>
        </p:txBody>
      </p:sp>
      <p:sp>
        <p:nvSpPr>
          <p:cNvPr id="61" name="TextBox 60"/>
          <p:cNvSpPr txBox="1"/>
          <p:nvPr/>
        </p:nvSpPr>
        <p:spPr>
          <a:xfrm>
            <a:off x="6640080" y="493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+0.42%</a:t>
            </a:r>
          </a:p>
        </p:txBody>
      </p:sp>
      <p:sp>
        <p:nvSpPr>
          <p:cNvPr id="62" name="TextBox 61"/>
          <p:cNvSpPr txBox="1"/>
          <p:nvPr/>
        </p:nvSpPr>
        <p:spPr>
          <a:xfrm>
            <a:off x="8340080" y="4938760"/>
            <a:ext cx="151712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0.0010</a:t>
            </a:r>
          </a:p>
        </p:txBody>
      </p:sp>
      <p:sp>
        <p:nvSpPr>
          <p:cNvPr id="63" name="TextBox 62"/>
          <p:cNvSpPr txBox="1"/>
          <p:nvPr/>
        </p:nvSpPr>
        <p:spPr>
          <a:xfrm>
            <a:off x="10040080" y="4938760"/>
            <a:ext cx="1511840" cy="43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0.0084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TIER 1 DETAIL</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WRMSSE by the 12 hierarchy levels and SHAP share by feature family</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pic>
        <p:nvPicPr>
          <p:cNvPr id="5" name="Picture 4" descr="t1_levels_en.png"/>
          <p:cNvPicPr>
            <a:picLocks noChangeAspect="1"/>
          </p:cNvPicPr>
          <p:nvPr/>
        </p:nvPicPr>
        <p:blipFill>
          <a:blip r:embed="rId3"/>
          <a:stretch>
            <a:fillRect/>
          </a:stretch>
        </p:blipFill>
        <p:spPr>
          <a:xfrm>
            <a:off x="548640" y="1508760"/>
            <a:ext cx="5400000" cy="2771052"/>
          </a:xfrm>
          <a:prstGeom prst="rect">
            <a:avLst/>
          </a:prstGeom>
        </p:spPr>
      </p:pic>
      <p:pic>
        <p:nvPicPr>
          <p:cNvPr id="6" name="Picture 5" descr="shap_family_en.png"/>
          <p:cNvPicPr>
            <a:picLocks noChangeAspect="1"/>
          </p:cNvPicPr>
          <p:nvPr/>
        </p:nvPicPr>
        <p:blipFill>
          <a:blip r:embed="rId4"/>
          <a:stretch>
            <a:fillRect/>
          </a:stretch>
        </p:blipFill>
        <p:spPr>
          <a:xfrm>
            <a:off x="6148640" y="1508760"/>
            <a:ext cx="5494720" cy="3456356"/>
          </a:xfrm>
          <a:prstGeom prst="rect">
            <a:avLst/>
          </a:prstGeom>
        </p:spPr>
      </p:pic>
      <p:sp>
        <p:nvSpPr>
          <p:cNvPr id="7" name="TextBox 6"/>
          <p:cNvSpPr txBox="1"/>
          <p:nvPr/>
        </p:nvSpPr>
        <p:spPr>
          <a:xfrm>
            <a:off x="548640" y="4758760"/>
            <a:ext cx="11094720" cy="1000000"/>
          </a:xfrm>
          <a:prstGeom prst="rect">
            <a:avLst/>
          </a:prstGeom>
          <a:noFill/>
        </p:spPr>
        <p:txBody>
          <a:bodyPr wrap="square" lIns="0" tIns="0" rIns="0" bIns="0" anchor="t">
            <a:noAutofit/>
          </a:bodyPr>
          <a:lstStyle/>
          <a:p>
            <a:pPr algn="l"/>
            <a:r>
              <a:rPr sz="1400" b="0" i="0">
                <a:solidFill>
                  <a:srgbClr val="1B2A4A"/>
                </a:solidFill>
                <a:latin typeface="Calibri"/>
                <a:ea typeface="Calibri"/>
                <a:cs typeface="Calibri"/>
              </a:rPr>
              <a:t>SHAP by single feature: rmean_28 18.2%; rmean_180 8.4%; item_id 7.8%; days_since_last_sale 7.5%; rmean_56 7.2%; rmean_14 6.9%; wday 5.7%.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COST RANKING</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Seasonal Naive has the worst MASE but the best cost rank because it orders less</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pic>
        <p:nvPicPr>
          <p:cNvPr id="5" name="Picture 4" descr="orders_t14_en.png"/>
          <p:cNvPicPr>
            <a:picLocks noChangeAspect="1"/>
          </p:cNvPicPr>
          <p:nvPr/>
        </p:nvPicPr>
        <p:blipFill>
          <a:blip r:embed="rId3"/>
          <a:stretch>
            <a:fillRect/>
          </a:stretch>
        </p:blipFill>
        <p:spPr>
          <a:xfrm>
            <a:off x="548640" y="1508760"/>
            <a:ext cx="6200000" cy="4300000"/>
          </a:xfrm>
          <a:prstGeom prst="rect">
            <a:avLst/>
          </a:prstGeom>
        </p:spPr>
      </p:pic>
      <p:sp>
        <p:nvSpPr>
          <p:cNvPr id="6" name="TextBox 5"/>
          <p:cNvSpPr txBox="1"/>
          <p:nvPr/>
        </p:nvSpPr>
        <p:spPr>
          <a:xfrm>
            <a:off x="6998640" y="1508760"/>
            <a:ext cx="4644720" cy="4300000"/>
          </a:xfrm>
          <a:prstGeom prst="rect">
            <a:avLst/>
          </a:prstGeom>
          <a:noFill/>
        </p:spPr>
        <p:txBody>
          <a:bodyPr wrap="square" lIns="0" tIns="0" rIns="0" bIns="0" anchor="t">
            <a:noAutofit/>
          </a:bodyPr>
          <a:lstStyle/>
          <a:p>
            <a:pPr marL="228600" indent="-228600" algn="l">
              <a:buClr>
                <a:srgbClr val="E0662B"/>
              </a:buClr>
              <a:buFont typeface="Arial"/>
              <a:buChar char="•"/>
            </a:pPr>
            <a:r>
              <a:rPr sz="1500" b="0" i="0">
                <a:solidFill>
                  <a:srgbClr val="1B2A4A"/>
                </a:solidFill>
                <a:latin typeface="Calibri"/>
                <a:ea typeface="Calibri"/>
                <a:cs typeface="Calibri"/>
              </a:rPr>
              <a:t>Order fees are 54% to 63% of total cost.</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Seasonal Naive places about 28.4 orders/SKU, below the 34.5 to 38.0 of the others, so it ranks 1st on cost when c = 2.</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When c = 0 it drops to last and Chronos-2 is cheapest.</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Consequence: comparing models by inventory cost requires fixing and publishing the aggregation route and cost parameters.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CA_1</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CA_1 case: six policies over a 26-week backtest</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Rectangle 4"/>
          <p:cNvSpPr/>
          <p:nvPr/>
        </p:nvSpPr>
        <p:spPr>
          <a:xfrm>
            <a:off x="548640" y="1508760"/>
            <a:ext cx="11094720" cy="450000"/>
          </a:xfrm>
          <a:prstGeom prst="rect">
            <a:avLst/>
          </a:prstGeom>
          <a:solidFill>
            <a:srgbClr val="1B2A4A"/>
          </a:solidFill>
          <a:ln>
            <a:noFill/>
          </a:ln>
          <a:effectLst/>
        </p:spPr>
        <p:txBody>
          <a:bodyPr rtlCol="0" anchor="ctr"/>
          <a:lstStyle/>
          <a:p>
            <a:pPr algn="ctr"/>
            <a:endParaRPr/>
          </a:p>
        </p:txBody>
      </p:sp>
      <p:sp>
        <p:nvSpPr>
          <p:cNvPr id="6" name="TextBox 5"/>
          <p:cNvSpPr txBox="1"/>
          <p:nvPr/>
        </p:nvSpPr>
        <p:spPr>
          <a:xfrm>
            <a:off x="640080" y="1508760"/>
            <a:ext cx="2817120" cy="45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Policy</a:t>
            </a:r>
          </a:p>
        </p:txBody>
      </p:sp>
      <p:sp>
        <p:nvSpPr>
          <p:cNvPr id="7" name="TextBox 6"/>
          <p:cNvSpPr txBox="1"/>
          <p:nvPr/>
        </p:nvSpPr>
        <p:spPr>
          <a:xfrm>
            <a:off x="3640080" y="1508760"/>
            <a:ext cx="121712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Total (USD)</a:t>
            </a:r>
          </a:p>
        </p:txBody>
      </p:sp>
      <p:sp>
        <p:nvSpPr>
          <p:cNvPr id="8" name="TextBox 7"/>
          <p:cNvSpPr txBox="1"/>
          <p:nvPr/>
        </p:nvSpPr>
        <p:spPr>
          <a:xfrm>
            <a:off x="5040080" y="1508760"/>
            <a:ext cx="106712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vs. current</a:t>
            </a:r>
          </a:p>
        </p:txBody>
      </p:sp>
      <p:sp>
        <p:nvSpPr>
          <p:cNvPr id="9" name="TextBox 8"/>
          <p:cNvSpPr txBox="1"/>
          <p:nvPr/>
        </p:nvSpPr>
        <p:spPr>
          <a:xfrm>
            <a:off x="6290080" y="1508760"/>
            <a:ext cx="96712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Holding</a:t>
            </a:r>
          </a:p>
        </p:txBody>
      </p:sp>
      <p:sp>
        <p:nvSpPr>
          <p:cNvPr id="10" name="TextBox 9"/>
          <p:cNvSpPr txBox="1"/>
          <p:nvPr/>
        </p:nvSpPr>
        <p:spPr>
          <a:xfrm>
            <a:off x="7440080" y="1508760"/>
            <a:ext cx="96712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Lost sales</a:t>
            </a:r>
          </a:p>
        </p:txBody>
      </p:sp>
      <p:sp>
        <p:nvSpPr>
          <p:cNvPr id="11" name="TextBox 10"/>
          <p:cNvSpPr txBox="1"/>
          <p:nvPr/>
        </p:nvSpPr>
        <p:spPr>
          <a:xfrm>
            <a:off x="8590080" y="1508760"/>
            <a:ext cx="106712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Ordering</a:t>
            </a:r>
          </a:p>
        </p:txBody>
      </p:sp>
      <p:sp>
        <p:nvSpPr>
          <p:cNvPr id="12" name="TextBox 11"/>
          <p:cNvSpPr txBox="1"/>
          <p:nvPr/>
        </p:nvSpPr>
        <p:spPr>
          <a:xfrm>
            <a:off x="9840080" y="1508760"/>
            <a:ext cx="71712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CSL</a:t>
            </a:r>
          </a:p>
        </p:txBody>
      </p:sp>
      <p:sp>
        <p:nvSpPr>
          <p:cNvPr id="13" name="TextBox 12"/>
          <p:cNvSpPr txBox="1"/>
          <p:nvPr/>
        </p:nvSpPr>
        <p:spPr>
          <a:xfrm>
            <a:off x="10740080" y="1508760"/>
            <a:ext cx="811840" cy="450000"/>
          </a:xfrm>
          <a:prstGeom prst="rect">
            <a:avLst/>
          </a:prstGeom>
          <a:noFill/>
        </p:spPr>
        <p:txBody>
          <a:bodyPr wrap="square" lIns="0" tIns="0" rIns="0" bIns="0" anchor="ctr">
            <a:noAutofit/>
          </a:bodyPr>
          <a:lstStyle/>
          <a:p>
            <a:pPr algn="r"/>
            <a:r>
              <a:rPr sz="1400" b="1" i="0">
                <a:solidFill>
                  <a:srgbClr val="FFFFFF"/>
                </a:solidFill>
                <a:latin typeface="Calibri"/>
                <a:ea typeface="Calibri"/>
                <a:cs typeface="Calibri"/>
              </a:rPr>
              <a:t>Gap</a:t>
            </a:r>
          </a:p>
        </p:txBody>
      </p:sp>
      <p:sp>
        <p:nvSpPr>
          <p:cNvPr id="14" name="TextBox 13"/>
          <p:cNvSpPr txBox="1"/>
          <p:nvPr/>
        </p:nvSpPr>
        <p:spPr>
          <a:xfrm>
            <a:off x="640080" y="1958760"/>
            <a:ext cx="2817120" cy="52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Current (quantile 0.95)</a:t>
            </a:r>
          </a:p>
        </p:txBody>
      </p:sp>
      <p:sp>
        <p:nvSpPr>
          <p:cNvPr id="15" name="TextBox 14"/>
          <p:cNvSpPr txBox="1"/>
          <p:nvPr/>
        </p:nvSpPr>
        <p:spPr>
          <a:xfrm>
            <a:off x="3640080" y="1958760"/>
            <a:ext cx="12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145,672</a:t>
            </a:r>
          </a:p>
        </p:txBody>
      </p:sp>
      <p:sp>
        <p:nvSpPr>
          <p:cNvPr id="16" name="TextBox 15"/>
          <p:cNvSpPr txBox="1"/>
          <p:nvPr/>
        </p:nvSpPr>
        <p:spPr>
          <a:xfrm>
            <a:off x="5040080" y="195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a:t>
            </a:r>
          </a:p>
        </p:txBody>
      </p:sp>
      <p:sp>
        <p:nvSpPr>
          <p:cNvPr id="17" name="TextBox 16"/>
          <p:cNvSpPr txBox="1"/>
          <p:nvPr/>
        </p:nvSpPr>
        <p:spPr>
          <a:xfrm>
            <a:off x="6290080" y="195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21,920</a:t>
            </a:r>
          </a:p>
        </p:txBody>
      </p:sp>
      <p:sp>
        <p:nvSpPr>
          <p:cNvPr id="18" name="TextBox 17"/>
          <p:cNvSpPr txBox="1"/>
          <p:nvPr/>
        </p:nvSpPr>
        <p:spPr>
          <a:xfrm>
            <a:off x="7440080" y="195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11,477</a:t>
            </a:r>
          </a:p>
        </p:txBody>
      </p:sp>
      <p:sp>
        <p:nvSpPr>
          <p:cNvPr id="19" name="TextBox 18"/>
          <p:cNvSpPr txBox="1"/>
          <p:nvPr/>
        </p:nvSpPr>
        <p:spPr>
          <a:xfrm>
            <a:off x="8590080" y="195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112,276</a:t>
            </a:r>
          </a:p>
        </p:txBody>
      </p:sp>
      <p:sp>
        <p:nvSpPr>
          <p:cNvPr id="20" name="TextBox 19"/>
          <p:cNvSpPr txBox="1"/>
          <p:nvPr/>
        </p:nvSpPr>
        <p:spPr>
          <a:xfrm>
            <a:off x="9840080" y="1958760"/>
            <a:ext cx="7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0.974</a:t>
            </a:r>
          </a:p>
        </p:txBody>
      </p:sp>
      <p:sp>
        <p:nvSpPr>
          <p:cNvPr id="21" name="TextBox 20"/>
          <p:cNvSpPr txBox="1"/>
          <p:nvPr/>
        </p:nvSpPr>
        <p:spPr>
          <a:xfrm>
            <a:off x="10740080" y="1958760"/>
            <a:ext cx="81184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0.030</a:t>
            </a:r>
          </a:p>
        </p:txBody>
      </p:sp>
      <p:sp>
        <p:nvSpPr>
          <p:cNvPr id="22" name="Rectangle 21"/>
          <p:cNvSpPr/>
          <p:nvPr/>
        </p:nvSpPr>
        <p:spPr>
          <a:xfrm>
            <a:off x="548640" y="2478760"/>
            <a:ext cx="11094720" cy="520000"/>
          </a:xfrm>
          <a:prstGeom prst="rect">
            <a:avLst/>
          </a:prstGeom>
          <a:solidFill>
            <a:srgbClr val="E3DED3"/>
          </a:solidFill>
          <a:ln>
            <a:noFill/>
          </a:ln>
          <a:effectLst/>
        </p:spPr>
        <p:txBody>
          <a:bodyPr rtlCol="0" anchor="ctr"/>
          <a:lstStyle/>
          <a:p>
            <a:pPr algn="ctr"/>
            <a:endParaRPr/>
          </a:p>
        </p:txBody>
      </p:sp>
      <p:sp>
        <p:nvSpPr>
          <p:cNvPr id="23" name="TextBox 22"/>
          <p:cNvSpPr txBox="1"/>
          <p:nvPr/>
        </p:nvSpPr>
        <p:spPr>
          <a:xfrm>
            <a:off x="640080" y="2478760"/>
            <a:ext cx="2817120" cy="52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Quantile = group target</a:t>
            </a:r>
          </a:p>
        </p:txBody>
      </p:sp>
      <p:sp>
        <p:nvSpPr>
          <p:cNvPr id="24" name="TextBox 23"/>
          <p:cNvSpPr txBox="1"/>
          <p:nvPr/>
        </p:nvSpPr>
        <p:spPr>
          <a:xfrm>
            <a:off x="3640080" y="2478760"/>
            <a:ext cx="12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146,218</a:t>
            </a:r>
          </a:p>
        </p:txBody>
      </p:sp>
      <p:sp>
        <p:nvSpPr>
          <p:cNvPr id="25" name="TextBox 24"/>
          <p:cNvSpPr txBox="1"/>
          <p:nvPr/>
        </p:nvSpPr>
        <p:spPr>
          <a:xfrm>
            <a:off x="5040080" y="247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+0.4%</a:t>
            </a:r>
          </a:p>
        </p:txBody>
      </p:sp>
      <p:sp>
        <p:nvSpPr>
          <p:cNvPr id="26" name="TextBox 25"/>
          <p:cNvSpPr txBox="1"/>
          <p:nvPr/>
        </p:nvSpPr>
        <p:spPr>
          <a:xfrm>
            <a:off x="6290080" y="247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23,341</a:t>
            </a:r>
          </a:p>
        </p:txBody>
      </p:sp>
      <p:sp>
        <p:nvSpPr>
          <p:cNvPr id="27" name="TextBox 26"/>
          <p:cNvSpPr txBox="1"/>
          <p:nvPr/>
        </p:nvSpPr>
        <p:spPr>
          <a:xfrm>
            <a:off x="7440080" y="247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10,747</a:t>
            </a:r>
          </a:p>
        </p:txBody>
      </p:sp>
      <p:sp>
        <p:nvSpPr>
          <p:cNvPr id="28" name="TextBox 27"/>
          <p:cNvSpPr txBox="1"/>
          <p:nvPr/>
        </p:nvSpPr>
        <p:spPr>
          <a:xfrm>
            <a:off x="8590080" y="247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112,130</a:t>
            </a:r>
          </a:p>
        </p:txBody>
      </p:sp>
      <p:sp>
        <p:nvSpPr>
          <p:cNvPr id="29" name="TextBox 28"/>
          <p:cNvSpPr txBox="1"/>
          <p:nvPr/>
        </p:nvSpPr>
        <p:spPr>
          <a:xfrm>
            <a:off x="9840080" y="2478760"/>
            <a:ext cx="7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0.972</a:t>
            </a:r>
          </a:p>
        </p:txBody>
      </p:sp>
      <p:sp>
        <p:nvSpPr>
          <p:cNvPr id="30" name="TextBox 29"/>
          <p:cNvSpPr txBox="1"/>
          <p:nvPr/>
        </p:nvSpPr>
        <p:spPr>
          <a:xfrm>
            <a:off x="10740080" y="2478760"/>
            <a:ext cx="81184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0.028</a:t>
            </a:r>
          </a:p>
        </p:txBody>
      </p:sp>
      <p:sp>
        <p:nvSpPr>
          <p:cNvPr id="31" name="TextBox 30"/>
          <p:cNvSpPr txBox="1"/>
          <p:nvPr/>
        </p:nvSpPr>
        <p:spPr>
          <a:xfrm>
            <a:off x="640080" y="2998760"/>
            <a:ext cx="2817120" cy="52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Cost-optimal (0.975)</a:t>
            </a:r>
          </a:p>
        </p:txBody>
      </p:sp>
      <p:sp>
        <p:nvSpPr>
          <p:cNvPr id="32" name="TextBox 31"/>
          <p:cNvSpPr txBox="1"/>
          <p:nvPr/>
        </p:nvSpPr>
        <p:spPr>
          <a:xfrm>
            <a:off x="3640080" y="2998760"/>
            <a:ext cx="12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144,654</a:t>
            </a:r>
          </a:p>
        </p:txBody>
      </p:sp>
      <p:sp>
        <p:nvSpPr>
          <p:cNvPr id="33" name="TextBox 32"/>
          <p:cNvSpPr txBox="1"/>
          <p:nvPr/>
        </p:nvSpPr>
        <p:spPr>
          <a:xfrm>
            <a:off x="5040080" y="299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−0.7%</a:t>
            </a:r>
          </a:p>
        </p:txBody>
      </p:sp>
      <p:sp>
        <p:nvSpPr>
          <p:cNvPr id="34" name="TextBox 33"/>
          <p:cNvSpPr txBox="1"/>
          <p:nvPr/>
        </p:nvSpPr>
        <p:spPr>
          <a:xfrm>
            <a:off x="6290080" y="299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25,586</a:t>
            </a:r>
          </a:p>
        </p:txBody>
      </p:sp>
      <p:sp>
        <p:nvSpPr>
          <p:cNvPr id="35" name="TextBox 34"/>
          <p:cNvSpPr txBox="1"/>
          <p:nvPr/>
        </p:nvSpPr>
        <p:spPr>
          <a:xfrm>
            <a:off x="7440080" y="299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6,718</a:t>
            </a:r>
          </a:p>
        </p:txBody>
      </p:sp>
      <p:sp>
        <p:nvSpPr>
          <p:cNvPr id="36" name="TextBox 35"/>
          <p:cNvSpPr txBox="1"/>
          <p:nvPr/>
        </p:nvSpPr>
        <p:spPr>
          <a:xfrm>
            <a:off x="8590080" y="299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112,350</a:t>
            </a:r>
          </a:p>
        </p:txBody>
      </p:sp>
      <p:sp>
        <p:nvSpPr>
          <p:cNvPr id="37" name="TextBox 36"/>
          <p:cNvSpPr txBox="1"/>
          <p:nvPr/>
        </p:nvSpPr>
        <p:spPr>
          <a:xfrm>
            <a:off x="9840080" y="2998760"/>
            <a:ext cx="7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0.986</a:t>
            </a:r>
          </a:p>
        </p:txBody>
      </p:sp>
      <p:sp>
        <p:nvSpPr>
          <p:cNvPr id="38" name="TextBox 37"/>
          <p:cNvSpPr txBox="1"/>
          <p:nvPr/>
        </p:nvSpPr>
        <p:spPr>
          <a:xfrm>
            <a:off x="10740080" y="2998760"/>
            <a:ext cx="81184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0.041</a:t>
            </a:r>
          </a:p>
        </p:txBody>
      </p:sp>
      <p:sp>
        <p:nvSpPr>
          <p:cNvPr id="39" name="Rectangle 38"/>
          <p:cNvSpPr/>
          <p:nvPr/>
        </p:nvSpPr>
        <p:spPr>
          <a:xfrm>
            <a:off x="548640" y="3518760"/>
            <a:ext cx="11094720" cy="520000"/>
          </a:xfrm>
          <a:prstGeom prst="rect">
            <a:avLst/>
          </a:prstGeom>
          <a:solidFill>
            <a:srgbClr val="E3DED3"/>
          </a:solidFill>
          <a:ln>
            <a:noFill/>
          </a:ln>
          <a:effectLst/>
        </p:spPr>
        <p:txBody>
          <a:bodyPr rtlCol="0" anchor="ctr"/>
          <a:lstStyle/>
          <a:p>
            <a:pPr algn="ctr"/>
            <a:endParaRPr/>
          </a:p>
        </p:txBody>
      </p:sp>
      <p:sp>
        <p:nvSpPr>
          <p:cNvPr id="40" name="TextBox 39"/>
          <p:cNvSpPr txBox="1"/>
          <p:nvPr/>
        </p:nvSpPr>
        <p:spPr>
          <a:xfrm>
            <a:off x="640080" y="3518760"/>
            <a:ext cx="2817120" cy="52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Static calibration</a:t>
            </a:r>
          </a:p>
        </p:txBody>
      </p:sp>
      <p:sp>
        <p:nvSpPr>
          <p:cNvPr id="41" name="TextBox 40"/>
          <p:cNvSpPr txBox="1"/>
          <p:nvPr/>
        </p:nvSpPr>
        <p:spPr>
          <a:xfrm>
            <a:off x="3640080" y="3518760"/>
            <a:ext cx="12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152,640</a:t>
            </a:r>
          </a:p>
        </p:txBody>
      </p:sp>
      <p:sp>
        <p:nvSpPr>
          <p:cNvPr id="42" name="TextBox 41"/>
          <p:cNvSpPr txBox="1"/>
          <p:nvPr/>
        </p:nvSpPr>
        <p:spPr>
          <a:xfrm>
            <a:off x="5040080" y="351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+4.8%</a:t>
            </a:r>
          </a:p>
        </p:txBody>
      </p:sp>
      <p:sp>
        <p:nvSpPr>
          <p:cNvPr id="43" name="TextBox 42"/>
          <p:cNvSpPr txBox="1"/>
          <p:nvPr/>
        </p:nvSpPr>
        <p:spPr>
          <a:xfrm>
            <a:off x="6290080" y="351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19,968</a:t>
            </a:r>
          </a:p>
        </p:txBody>
      </p:sp>
      <p:sp>
        <p:nvSpPr>
          <p:cNvPr id="44" name="TextBox 43"/>
          <p:cNvSpPr txBox="1"/>
          <p:nvPr/>
        </p:nvSpPr>
        <p:spPr>
          <a:xfrm>
            <a:off x="7440080" y="351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19,267</a:t>
            </a:r>
          </a:p>
        </p:txBody>
      </p:sp>
      <p:sp>
        <p:nvSpPr>
          <p:cNvPr id="45" name="TextBox 44"/>
          <p:cNvSpPr txBox="1"/>
          <p:nvPr/>
        </p:nvSpPr>
        <p:spPr>
          <a:xfrm>
            <a:off x="8590080" y="351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113,406</a:t>
            </a:r>
          </a:p>
        </p:txBody>
      </p:sp>
      <p:sp>
        <p:nvSpPr>
          <p:cNvPr id="46" name="TextBox 45"/>
          <p:cNvSpPr txBox="1"/>
          <p:nvPr/>
        </p:nvSpPr>
        <p:spPr>
          <a:xfrm>
            <a:off x="9840080" y="3518760"/>
            <a:ext cx="7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0.946</a:t>
            </a:r>
          </a:p>
        </p:txBody>
      </p:sp>
      <p:sp>
        <p:nvSpPr>
          <p:cNvPr id="47" name="TextBox 46"/>
          <p:cNvSpPr txBox="1"/>
          <p:nvPr/>
        </p:nvSpPr>
        <p:spPr>
          <a:xfrm>
            <a:off x="10740080" y="3518760"/>
            <a:ext cx="81184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0.006</a:t>
            </a:r>
          </a:p>
        </p:txBody>
      </p:sp>
      <p:sp>
        <p:nvSpPr>
          <p:cNvPr id="48" name="TextBox 47"/>
          <p:cNvSpPr txBox="1"/>
          <p:nvPr/>
        </p:nvSpPr>
        <p:spPr>
          <a:xfrm>
            <a:off x="640080" y="4038760"/>
            <a:ext cx="2817120" cy="52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C³-OUT, entered targets</a:t>
            </a:r>
          </a:p>
        </p:txBody>
      </p:sp>
      <p:sp>
        <p:nvSpPr>
          <p:cNvPr id="49" name="TextBox 48"/>
          <p:cNvSpPr txBox="1"/>
          <p:nvPr/>
        </p:nvSpPr>
        <p:spPr>
          <a:xfrm>
            <a:off x="3640080" y="4038760"/>
            <a:ext cx="12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153,453</a:t>
            </a:r>
          </a:p>
        </p:txBody>
      </p:sp>
      <p:sp>
        <p:nvSpPr>
          <p:cNvPr id="50" name="TextBox 49"/>
          <p:cNvSpPr txBox="1"/>
          <p:nvPr/>
        </p:nvSpPr>
        <p:spPr>
          <a:xfrm>
            <a:off x="5040080" y="403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+5.3%</a:t>
            </a:r>
          </a:p>
        </p:txBody>
      </p:sp>
      <p:sp>
        <p:nvSpPr>
          <p:cNvPr id="51" name="TextBox 50"/>
          <p:cNvSpPr txBox="1"/>
          <p:nvPr/>
        </p:nvSpPr>
        <p:spPr>
          <a:xfrm>
            <a:off x="6290080" y="403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19,819</a:t>
            </a:r>
          </a:p>
        </p:txBody>
      </p:sp>
      <p:sp>
        <p:nvSpPr>
          <p:cNvPr id="52" name="TextBox 51"/>
          <p:cNvSpPr txBox="1"/>
          <p:nvPr/>
        </p:nvSpPr>
        <p:spPr>
          <a:xfrm>
            <a:off x="7440080" y="403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20,068</a:t>
            </a:r>
          </a:p>
        </p:txBody>
      </p:sp>
      <p:sp>
        <p:nvSpPr>
          <p:cNvPr id="53" name="TextBox 52"/>
          <p:cNvSpPr txBox="1"/>
          <p:nvPr/>
        </p:nvSpPr>
        <p:spPr>
          <a:xfrm>
            <a:off x="8590080" y="403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113,566</a:t>
            </a:r>
          </a:p>
        </p:txBody>
      </p:sp>
      <p:sp>
        <p:nvSpPr>
          <p:cNvPr id="54" name="TextBox 53"/>
          <p:cNvSpPr txBox="1"/>
          <p:nvPr/>
        </p:nvSpPr>
        <p:spPr>
          <a:xfrm>
            <a:off x="9840080" y="4038760"/>
            <a:ext cx="7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0.942</a:t>
            </a:r>
          </a:p>
        </p:txBody>
      </p:sp>
      <p:sp>
        <p:nvSpPr>
          <p:cNvPr id="55" name="TextBox 54"/>
          <p:cNvSpPr txBox="1"/>
          <p:nvPr/>
        </p:nvSpPr>
        <p:spPr>
          <a:xfrm>
            <a:off x="10740080" y="4038760"/>
            <a:ext cx="81184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0.003</a:t>
            </a:r>
          </a:p>
        </p:txBody>
      </p:sp>
      <p:sp>
        <p:nvSpPr>
          <p:cNvPr id="56" name="Rectangle 55"/>
          <p:cNvSpPr/>
          <p:nvPr/>
        </p:nvSpPr>
        <p:spPr>
          <a:xfrm>
            <a:off x="548640" y="4558760"/>
            <a:ext cx="11094720" cy="520000"/>
          </a:xfrm>
          <a:prstGeom prst="rect">
            <a:avLst/>
          </a:prstGeom>
          <a:solidFill>
            <a:srgbClr val="E3DED3"/>
          </a:solidFill>
          <a:ln>
            <a:noFill/>
          </a:ln>
          <a:effectLst/>
        </p:spPr>
        <p:txBody>
          <a:bodyPr rtlCol="0" anchor="ctr"/>
          <a:lstStyle/>
          <a:p>
            <a:pPr algn="ctr"/>
            <a:endParaRPr/>
          </a:p>
        </p:txBody>
      </p:sp>
      <p:sp>
        <p:nvSpPr>
          <p:cNvPr id="57" name="TextBox 56"/>
          <p:cNvSpPr txBox="1"/>
          <p:nvPr/>
        </p:nvSpPr>
        <p:spPr>
          <a:xfrm>
            <a:off x="640080" y="4558760"/>
            <a:ext cx="2817120" cy="52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C³-OUT, economic target</a:t>
            </a:r>
          </a:p>
        </p:txBody>
      </p:sp>
      <p:sp>
        <p:nvSpPr>
          <p:cNvPr id="58" name="TextBox 57"/>
          <p:cNvSpPr txBox="1"/>
          <p:nvPr/>
        </p:nvSpPr>
        <p:spPr>
          <a:xfrm>
            <a:off x="3640080" y="4558760"/>
            <a:ext cx="12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144,811</a:t>
            </a:r>
          </a:p>
        </p:txBody>
      </p:sp>
      <p:sp>
        <p:nvSpPr>
          <p:cNvPr id="59" name="TextBox 58"/>
          <p:cNvSpPr txBox="1"/>
          <p:nvPr/>
        </p:nvSpPr>
        <p:spPr>
          <a:xfrm>
            <a:off x="5040080" y="4558760"/>
            <a:ext cx="1067120" cy="520000"/>
          </a:xfrm>
          <a:prstGeom prst="rect">
            <a:avLst/>
          </a:prstGeom>
          <a:noFill/>
        </p:spPr>
        <p:txBody>
          <a:bodyPr wrap="square" lIns="0" tIns="0" rIns="0" bIns="0" anchor="ctr">
            <a:noAutofit/>
          </a:bodyPr>
          <a:lstStyle/>
          <a:p>
            <a:pPr algn="r"/>
            <a:r>
              <a:rPr sz="1400" b="1" i="0">
                <a:solidFill>
                  <a:srgbClr val="E0662B"/>
                </a:solidFill>
                <a:latin typeface="Calibri"/>
                <a:ea typeface="Calibri"/>
                <a:cs typeface="Calibri"/>
              </a:rPr>
              <a:t>−0.6%</a:t>
            </a:r>
          </a:p>
        </p:txBody>
      </p:sp>
      <p:sp>
        <p:nvSpPr>
          <p:cNvPr id="60" name="TextBox 59"/>
          <p:cNvSpPr txBox="1"/>
          <p:nvPr/>
        </p:nvSpPr>
        <p:spPr>
          <a:xfrm>
            <a:off x="6290080" y="455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25,920</a:t>
            </a:r>
          </a:p>
        </p:txBody>
      </p:sp>
      <p:sp>
        <p:nvSpPr>
          <p:cNvPr id="61" name="TextBox 60"/>
          <p:cNvSpPr txBox="1"/>
          <p:nvPr/>
        </p:nvSpPr>
        <p:spPr>
          <a:xfrm>
            <a:off x="7440080" y="4558760"/>
            <a:ext cx="9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6,485</a:t>
            </a:r>
          </a:p>
        </p:txBody>
      </p:sp>
      <p:sp>
        <p:nvSpPr>
          <p:cNvPr id="62" name="TextBox 61"/>
          <p:cNvSpPr txBox="1"/>
          <p:nvPr/>
        </p:nvSpPr>
        <p:spPr>
          <a:xfrm>
            <a:off x="8590080" y="4558760"/>
            <a:ext cx="106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112,406</a:t>
            </a:r>
          </a:p>
        </p:txBody>
      </p:sp>
      <p:sp>
        <p:nvSpPr>
          <p:cNvPr id="63" name="TextBox 62"/>
          <p:cNvSpPr txBox="1"/>
          <p:nvPr/>
        </p:nvSpPr>
        <p:spPr>
          <a:xfrm>
            <a:off x="9840080" y="4558760"/>
            <a:ext cx="71712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0.986</a:t>
            </a:r>
          </a:p>
        </p:txBody>
      </p:sp>
      <p:sp>
        <p:nvSpPr>
          <p:cNvPr id="64" name="TextBox 63"/>
          <p:cNvSpPr txBox="1"/>
          <p:nvPr/>
        </p:nvSpPr>
        <p:spPr>
          <a:xfrm>
            <a:off x="10740080" y="4558760"/>
            <a:ext cx="811840" cy="520000"/>
          </a:xfrm>
          <a:prstGeom prst="rect">
            <a:avLst/>
          </a:prstGeom>
          <a:noFill/>
        </p:spPr>
        <p:txBody>
          <a:bodyPr wrap="square" lIns="0" tIns="0" rIns="0" bIns="0" anchor="ctr">
            <a:noAutofit/>
          </a:bodyPr>
          <a:lstStyle/>
          <a:p>
            <a:pPr algn="r"/>
            <a:r>
              <a:rPr sz="1400" b="0" i="0">
                <a:solidFill>
                  <a:srgbClr val="1B2A4A"/>
                </a:solidFill>
                <a:latin typeface="Calibri"/>
                <a:ea typeface="Calibri"/>
                <a:cs typeface="Calibri"/>
              </a:rPr>
              <a:t>0.002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TIER 1 DETAIL</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MASE on the 200-SKU sample: ARIMA is below every ML model</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Rectangle 4"/>
          <p:cNvSpPr/>
          <p:nvPr/>
        </p:nvSpPr>
        <p:spPr>
          <a:xfrm>
            <a:off x="548640" y="1508760"/>
            <a:ext cx="10200000" cy="420000"/>
          </a:xfrm>
          <a:prstGeom prst="rect">
            <a:avLst/>
          </a:prstGeom>
          <a:solidFill>
            <a:srgbClr val="1B2A4A"/>
          </a:solidFill>
          <a:ln>
            <a:noFill/>
          </a:ln>
          <a:effectLst/>
        </p:spPr>
        <p:txBody>
          <a:bodyPr rtlCol="0" anchor="ctr"/>
          <a:lstStyle/>
          <a:p>
            <a:pPr algn="ctr"/>
            <a:endParaRPr/>
          </a:p>
        </p:txBody>
      </p:sp>
      <p:sp>
        <p:nvSpPr>
          <p:cNvPr id="6" name="TextBox 5"/>
          <p:cNvSpPr txBox="1"/>
          <p:nvPr/>
        </p:nvSpPr>
        <p:spPr>
          <a:xfrm>
            <a:off x="640080" y="1508760"/>
            <a:ext cx="2817120" cy="420000"/>
          </a:xfrm>
          <a:prstGeom prst="rect">
            <a:avLst/>
          </a:prstGeom>
          <a:noFill/>
        </p:spPr>
        <p:txBody>
          <a:bodyPr wrap="square" lIns="0" tIns="0" rIns="0" bIns="0" anchor="ctr">
            <a:noAutofit/>
          </a:bodyPr>
          <a:lstStyle/>
          <a:p>
            <a:pPr algn="l"/>
            <a:r>
              <a:rPr sz="1500" b="1" i="0">
                <a:solidFill>
                  <a:srgbClr val="FFFFFF"/>
                </a:solidFill>
                <a:latin typeface="Calibri"/>
                <a:ea typeface="Calibri"/>
                <a:cs typeface="Calibri"/>
              </a:rPr>
              <a:t>Model</a:t>
            </a:r>
          </a:p>
        </p:txBody>
      </p:sp>
      <p:sp>
        <p:nvSpPr>
          <p:cNvPr id="7" name="TextBox 6"/>
          <p:cNvSpPr txBox="1"/>
          <p:nvPr/>
        </p:nvSpPr>
        <p:spPr>
          <a:xfrm>
            <a:off x="3640080" y="1508760"/>
            <a:ext cx="2217120" cy="420000"/>
          </a:xfrm>
          <a:prstGeom prst="rect">
            <a:avLst/>
          </a:prstGeom>
          <a:noFill/>
        </p:spPr>
        <p:txBody>
          <a:bodyPr wrap="square" lIns="0" tIns="0" rIns="0" bIns="0" anchor="ctr">
            <a:noAutofit/>
          </a:bodyPr>
          <a:lstStyle/>
          <a:p>
            <a:pPr algn="r"/>
            <a:r>
              <a:rPr sz="1500" b="1" i="0">
                <a:solidFill>
                  <a:srgbClr val="FFFFFF"/>
                </a:solidFill>
                <a:latin typeface="Calibri"/>
                <a:ea typeface="Calibri"/>
                <a:cs typeface="Calibri"/>
              </a:rPr>
              <a:t>MASE h = 7</a:t>
            </a:r>
          </a:p>
        </p:txBody>
      </p:sp>
      <p:sp>
        <p:nvSpPr>
          <p:cNvPr id="8" name="TextBox 7"/>
          <p:cNvSpPr txBox="1"/>
          <p:nvPr/>
        </p:nvSpPr>
        <p:spPr>
          <a:xfrm>
            <a:off x="6040080" y="1508760"/>
            <a:ext cx="2217120" cy="420000"/>
          </a:xfrm>
          <a:prstGeom prst="rect">
            <a:avLst/>
          </a:prstGeom>
          <a:noFill/>
        </p:spPr>
        <p:txBody>
          <a:bodyPr wrap="square" lIns="0" tIns="0" rIns="0" bIns="0" anchor="ctr">
            <a:noAutofit/>
          </a:bodyPr>
          <a:lstStyle/>
          <a:p>
            <a:pPr algn="r"/>
            <a:r>
              <a:rPr sz="1500" b="1" i="0">
                <a:solidFill>
                  <a:srgbClr val="FFFFFF"/>
                </a:solidFill>
                <a:latin typeface="Calibri"/>
                <a:ea typeface="Calibri"/>
                <a:cs typeface="Calibri"/>
              </a:rPr>
              <a:t>MASE h = 14</a:t>
            </a:r>
          </a:p>
        </p:txBody>
      </p:sp>
      <p:sp>
        <p:nvSpPr>
          <p:cNvPr id="9" name="TextBox 8"/>
          <p:cNvSpPr txBox="1"/>
          <p:nvPr/>
        </p:nvSpPr>
        <p:spPr>
          <a:xfrm>
            <a:off x="8440080" y="1508760"/>
            <a:ext cx="2217120" cy="420000"/>
          </a:xfrm>
          <a:prstGeom prst="rect">
            <a:avLst/>
          </a:prstGeom>
          <a:noFill/>
        </p:spPr>
        <p:txBody>
          <a:bodyPr wrap="square" lIns="0" tIns="0" rIns="0" bIns="0" anchor="ctr">
            <a:noAutofit/>
          </a:bodyPr>
          <a:lstStyle/>
          <a:p>
            <a:pPr algn="r"/>
            <a:r>
              <a:rPr sz="1500" b="1" i="0">
                <a:solidFill>
                  <a:srgbClr val="FFFFFF"/>
                </a:solidFill>
                <a:latin typeface="Calibri"/>
                <a:ea typeface="Calibri"/>
                <a:cs typeface="Calibri"/>
              </a:rPr>
              <a:t>MASE h = 28</a:t>
            </a:r>
          </a:p>
        </p:txBody>
      </p:sp>
      <p:sp>
        <p:nvSpPr>
          <p:cNvPr id="10" name="TextBox 9"/>
          <p:cNvSpPr txBox="1"/>
          <p:nvPr/>
        </p:nvSpPr>
        <p:spPr>
          <a:xfrm>
            <a:off x="640080" y="192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ARIMA</a:t>
            </a:r>
          </a:p>
        </p:txBody>
      </p:sp>
      <p:sp>
        <p:nvSpPr>
          <p:cNvPr id="11" name="TextBox 10"/>
          <p:cNvSpPr txBox="1"/>
          <p:nvPr/>
        </p:nvSpPr>
        <p:spPr>
          <a:xfrm>
            <a:off x="3640080" y="1928760"/>
            <a:ext cx="2217120" cy="470000"/>
          </a:xfrm>
          <a:prstGeom prst="rect">
            <a:avLst/>
          </a:prstGeom>
          <a:noFill/>
        </p:spPr>
        <p:txBody>
          <a:bodyPr wrap="square" lIns="0" tIns="0" rIns="0" bIns="0" anchor="ctr">
            <a:noAutofit/>
          </a:bodyPr>
          <a:lstStyle/>
          <a:p>
            <a:pPr algn="r"/>
            <a:r>
              <a:rPr sz="1500" b="1" i="0">
                <a:solidFill>
                  <a:srgbClr val="E0662B"/>
                </a:solidFill>
                <a:latin typeface="Calibri"/>
                <a:ea typeface="Calibri"/>
                <a:cs typeface="Calibri"/>
              </a:rPr>
              <a:t>0.9697</a:t>
            </a:r>
          </a:p>
        </p:txBody>
      </p:sp>
      <p:sp>
        <p:nvSpPr>
          <p:cNvPr id="12" name="TextBox 11"/>
          <p:cNvSpPr txBox="1"/>
          <p:nvPr/>
        </p:nvSpPr>
        <p:spPr>
          <a:xfrm>
            <a:off x="6040080" y="1928760"/>
            <a:ext cx="2217120" cy="470000"/>
          </a:xfrm>
          <a:prstGeom prst="rect">
            <a:avLst/>
          </a:prstGeom>
          <a:noFill/>
        </p:spPr>
        <p:txBody>
          <a:bodyPr wrap="square" lIns="0" tIns="0" rIns="0" bIns="0" anchor="ctr">
            <a:noAutofit/>
          </a:bodyPr>
          <a:lstStyle/>
          <a:p>
            <a:pPr algn="r"/>
            <a:r>
              <a:rPr sz="1500" b="1" i="0">
                <a:solidFill>
                  <a:srgbClr val="E0662B"/>
                </a:solidFill>
                <a:latin typeface="Calibri"/>
                <a:ea typeface="Calibri"/>
                <a:cs typeface="Calibri"/>
              </a:rPr>
              <a:t>0.9655</a:t>
            </a:r>
          </a:p>
        </p:txBody>
      </p:sp>
      <p:sp>
        <p:nvSpPr>
          <p:cNvPr id="13" name="TextBox 12"/>
          <p:cNvSpPr txBox="1"/>
          <p:nvPr/>
        </p:nvSpPr>
        <p:spPr>
          <a:xfrm>
            <a:off x="8440080" y="1928760"/>
            <a:ext cx="2217120" cy="470000"/>
          </a:xfrm>
          <a:prstGeom prst="rect">
            <a:avLst/>
          </a:prstGeom>
          <a:noFill/>
        </p:spPr>
        <p:txBody>
          <a:bodyPr wrap="square" lIns="0" tIns="0" rIns="0" bIns="0" anchor="ctr">
            <a:noAutofit/>
          </a:bodyPr>
          <a:lstStyle/>
          <a:p>
            <a:pPr algn="r"/>
            <a:r>
              <a:rPr sz="1500" b="1" i="0">
                <a:solidFill>
                  <a:srgbClr val="E0662B"/>
                </a:solidFill>
                <a:latin typeface="Calibri"/>
                <a:ea typeface="Calibri"/>
                <a:cs typeface="Calibri"/>
              </a:rPr>
              <a:t>0.9827</a:t>
            </a:r>
          </a:p>
        </p:txBody>
      </p:sp>
      <p:sp>
        <p:nvSpPr>
          <p:cNvPr id="14" name="Rectangle 13"/>
          <p:cNvSpPr/>
          <p:nvPr/>
        </p:nvSpPr>
        <p:spPr>
          <a:xfrm>
            <a:off x="548640" y="2398760"/>
            <a:ext cx="10200000" cy="470000"/>
          </a:xfrm>
          <a:prstGeom prst="rect">
            <a:avLst/>
          </a:prstGeom>
          <a:solidFill>
            <a:srgbClr val="E3DED3"/>
          </a:solidFill>
          <a:ln>
            <a:noFill/>
          </a:ln>
          <a:effectLst/>
        </p:spPr>
        <p:txBody>
          <a:bodyPr rtlCol="0" anchor="ctr"/>
          <a:lstStyle/>
          <a:p>
            <a:pPr algn="ctr"/>
            <a:endParaRPr/>
          </a:p>
        </p:txBody>
      </p:sp>
      <p:sp>
        <p:nvSpPr>
          <p:cNvPr id="15" name="TextBox 14"/>
          <p:cNvSpPr txBox="1"/>
          <p:nvPr/>
        </p:nvSpPr>
        <p:spPr>
          <a:xfrm>
            <a:off x="640080" y="239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Ensemble</a:t>
            </a:r>
          </a:p>
        </p:txBody>
      </p:sp>
      <p:sp>
        <p:nvSpPr>
          <p:cNvPr id="16" name="TextBox 15"/>
          <p:cNvSpPr txBox="1"/>
          <p:nvPr/>
        </p:nvSpPr>
        <p:spPr>
          <a:xfrm>
            <a:off x="3640080" y="239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1.0069</a:t>
            </a:r>
          </a:p>
        </p:txBody>
      </p:sp>
      <p:sp>
        <p:nvSpPr>
          <p:cNvPr id="17" name="TextBox 16"/>
          <p:cNvSpPr txBox="1"/>
          <p:nvPr/>
        </p:nvSpPr>
        <p:spPr>
          <a:xfrm>
            <a:off x="6040080" y="239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0.9998</a:t>
            </a:r>
          </a:p>
        </p:txBody>
      </p:sp>
      <p:sp>
        <p:nvSpPr>
          <p:cNvPr id="18" name="TextBox 17"/>
          <p:cNvSpPr txBox="1"/>
          <p:nvPr/>
        </p:nvSpPr>
        <p:spPr>
          <a:xfrm>
            <a:off x="8440080" y="239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1.0119</a:t>
            </a:r>
          </a:p>
        </p:txBody>
      </p:sp>
      <p:sp>
        <p:nvSpPr>
          <p:cNvPr id="19" name="TextBox 18"/>
          <p:cNvSpPr txBox="1"/>
          <p:nvPr/>
        </p:nvSpPr>
        <p:spPr>
          <a:xfrm>
            <a:off x="640080" y="286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LightGBM</a:t>
            </a:r>
          </a:p>
        </p:txBody>
      </p:sp>
      <p:sp>
        <p:nvSpPr>
          <p:cNvPr id="20" name="TextBox 19"/>
          <p:cNvSpPr txBox="1"/>
          <p:nvPr/>
        </p:nvSpPr>
        <p:spPr>
          <a:xfrm>
            <a:off x="3640080" y="286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1.0035</a:t>
            </a:r>
          </a:p>
        </p:txBody>
      </p:sp>
      <p:sp>
        <p:nvSpPr>
          <p:cNvPr id="21" name="TextBox 20"/>
          <p:cNvSpPr txBox="1"/>
          <p:nvPr/>
        </p:nvSpPr>
        <p:spPr>
          <a:xfrm>
            <a:off x="6040080" y="286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0.9979</a:t>
            </a:r>
          </a:p>
        </p:txBody>
      </p:sp>
      <p:sp>
        <p:nvSpPr>
          <p:cNvPr id="22" name="TextBox 21"/>
          <p:cNvSpPr txBox="1"/>
          <p:nvPr/>
        </p:nvSpPr>
        <p:spPr>
          <a:xfrm>
            <a:off x="8440080" y="286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1.0106</a:t>
            </a:r>
          </a:p>
        </p:txBody>
      </p:sp>
      <p:sp>
        <p:nvSpPr>
          <p:cNvPr id="23" name="Rectangle 22"/>
          <p:cNvSpPr/>
          <p:nvPr/>
        </p:nvSpPr>
        <p:spPr>
          <a:xfrm>
            <a:off x="548640" y="3338760"/>
            <a:ext cx="10200000" cy="470000"/>
          </a:xfrm>
          <a:prstGeom prst="rect">
            <a:avLst/>
          </a:prstGeom>
          <a:solidFill>
            <a:srgbClr val="E3DED3"/>
          </a:solidFill>
          <a:ln>
            <a:noFill/>
          </a:ln>
          <a:effectLst/>
        </p:spPr>
        <p:txBody>
          <a:bodyPr rtlCol="0" anchor="ctr"/>
          <a:lstStyle/>
          <a:p>
            <a:pPr algn="ctr"/>
            <a:endParaRPr/>
          </a:p>
        </p:txBody>
      </p:sp>
      <p:sp>
        <p:nvSpPr>
          <p:cNvPr id="24" name="TextBox 23"/>
          <p:cNvSpPr txBox="1"/>
          <p:nvPr/>
        </p:nvSpPr>
        <p:spPr>
          <a:xfrm>
            <a:off x="640080" y="333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TFT</a:t>
            </a:r>
          </a:p>
        </p:txBody>
      </p:sp>
      <p:sp>
        <p:nvSpPr>
          <p:cNvPr id="25" name="TextBox 24"/>
          <p:cNvSpPr txBox="1"/>
          <p:nvPr/>
        </p:nvSpPr>
        <p:spPr>
          <a:xfrm>
            <a:off x="3640080" y="333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1.0112</a:t>
            </a:r>
          </a:p>
        </p:txBody>
      </p:sp>
      <p:sp>
        <p:nvSpPr>
          <p:cNvPr id="26" name="TextBox 25"/>
          <p:cNvSpPr txBox="1"/>
          <p:nvPr/>
        </p:nvSpPr>
        <p:spPr>
          <a:xfrm>
            <a:off x="6040080" y="333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1.0028</a:t>
            </a:r>
          </a:p>
        </p:txBody>
      </p:sp>
      <p:sp>
        <p:nvSpPr>
          <p:cNvPr id="27" name="TextBox 26"/>
          <p:cNvSpPr txBox="1"/>
          <p:nvPr/>
        </p:nvSpPr>
        <p:spPr>
          <a:xfrm>
            <a:off x="8440080" y="333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1.0142</a:t>
            </a:r>
          </a:p>
        </p:txBody>
      </p:sp>
      <p:sp>
        <p:nvSpPr>
          <p:cNvPr id="28" name="TextBox 27"/>
          <p:cNvSpPr txBox="1"/>
          <p:nvPr/>
        </p:nvSpPr>
        <p:spPr>
          <a:xfrm>
            <a:off x="640080" y="380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XGBoost</a:t>
            </a:r>
          </a:p>
        </p:txBody>
      </p:sp>
      <p:sp>
        <p:nvSpPr>
          <p:cNvPr id="29" name="TextBox 28"/>
          <p:cNvSpPr txBox="1"/>
          <p:nvPr/>
        </p:nvSpPr>
        <p:spPr>
          <a:xfrm>
            <a:off x="3640080" y="380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1.0098</a:t>
            </a:r>
          </a:p>
        </p:txBody>
      </p:sp>
      <p:sp>
        <p:nvSpPr>
          <p:cNvPr id="30" name="TextBox 29"/>
          <p:cNvSpPr txBox="1"/>
          <p:nvPr/>
        </p:nvSpPr>
        <p:spPr>
          <a:xfrm>
            <a:off x="6040080" y="380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1.0039</a:t>
            </a:r>
          </a:p>
        </p:txBody>
      </p:sp>
      <p:sp>
        <p:nvSpPr>
          <p:cNvPr id="31" name="TextBox 30"/>
          <p:cNvSpPr txBox="1"/>
          <p:nvPr/>
        </p:nvSpPr>
        <p:spPr>
          <a:xfrm>
            <a:off x="8440080" y="380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1.0171</a:t>
            </a:r>
          </a:p>
        </p:txBody>
      </p:sp>
      <p:sp>
        <p:nvSpPr>
          <p:cNvPr id="32" name="Rectangle 31"/>
          <p:cNvSpPr/>
          <p:nvPr/>
        </p:nvSpPr>
        <p:spPr>
          <a:xfrm>
            <a:off x="548640" y="4278760"/>
            <a:ext cx="10200000" cy="470000"/>
          </a:xfrm>
          <a:prstGeom prst="rect">
            <a:avLst/>
          </a:prstGeom>
          <a:solidFill>
            <a:srgbClr val="E3DED3"/>
          </a:solidFill>
          <a:ln>
            <a:noFill/>
          </a:ln>
          <a:effectLst/>
        </p:spPr>
        <p:txBody>
          <a:bodyPr rtlCol="0" anchor="ctr"/>
          <a:lstStyle/>
          <a:p>
            <a:pPr algn="ctr"/>
            <a:endParaRPr/>
          </a:p>
        </p:txBody>
      </p:sp>
      <p:sp>
        <p:nvSpPr>
          <p:cNvPr id="33" name="TextBox 32"/>
          <p:cNvSpPr txBox="1"/>
          <p:nvPr/>
        </p:nvSpPr>
        <p:spPr>
          <a:xfrm>
            <a:off x="640080" y="427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LSTM</a:t>
            </a:r>
          </a:p>
        </p:txBody>
      </p:sp>
      <p:sp>
        <p:nvSpPr>
          <p:cNvPr id="34" name="TextBox 33"/>
          <p:cNvSpPr txBox="1"/>
          <p:nvPr/>
        </p:nvSpPr>
        <p:spPr>
          <a:xfrm>
            <a:off x="3640080" y="427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1.0212</a:t>
            </a:r>
          </a:p>
        </p:txBody>
      </p:sp>
      <p:sp>
        <p:nvSpPr>
          <p:cNvPr id="35" name="TextBox 34"/>
          <p:cNvSpPr txBox="1"/>
          <p:nvPr/>
        </p:nvSpPr>
        <p:spPr>
          <a:xfrm>
            <a:off x="6040080" y="427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1.0081</a:t>
            </a:r>
          </a:p>
        </p:txBody>
      </p:sp>
      <p:sp>
        <p:nvSpPr>
          <p:cNvPr id="36" name="TextBox 35"/>
          <p:cNvSpPr txBox="1"/>
          <p:nvPr/>
        </p:nvSpPr>
        <p:spPr>
          <a:xfrm>
            <a:off x="8440080" y="427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1.0188</a:t>
            </a:r>
          </a:p>
        </p:txBody>
      </p:sp>
      <p:sp>
        <p:nvSpPr>
          <p:cNvPr id="37" name="TextBox 36"/>
          <p:cNvSpPr txBox="1"/>
          <p:nvPr/>
        </p:nvSpPr>
        <p:spPr>
          <a:xfrm>
            <a:off x="640080" y="4748760"/>
            <a:ext cx="2817120" cy="470000"/>
          </a:xfrm>
          <a:prstGeom prst="rect">
            <a:avLst/>
          </a:prstGeom>
          <a:noFill/>
        </p:spPr>
        <p:txBody>
          <a:bodyPr wrap="square" lIns="0" tIns="0" rIns="0" bIns="0" anchor="ctr">
            <a:noAutofit/>
          </a:bodyPr>
          <a:lstStyle/>
          <a:p>
            <a:pPr algn="l"/>
            <a:r>
              <a:rPr sz="1500" b="1" i="0">
                <a:solidFill>
                  <a:srgbClr val="1B2A4A"/>
                </a:solidFill>
                <a:latin typeface="Calibri"/>
                <a:ea typeface="Calibri"/>
                <a:cs typeface="Calibri"/>
              </a:rPr>
              <a:t>Seasonal Naive</a:t>
            </a:r>
          </a:p>
        </p:txBody>
      </p:sp>
      <p:sp>
        <p:nvSpPr>
          <p:cNvPr id="38" name="TextBox 37"/>
          <p:cNvSpPr txBox="1"/>
          <p:nvPr/>
        </p:nvSpPr>
        <p:spPr>
          <a:xfrm>
            <a:off x="3640080" y="474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1.0993</a:t>
            </a:r>
          </a:p>
        </p:txBody>
      </p:sp>
      <p:sp>
        <p:nvSpPr>
          <p:cNvPr id="39" name="TextBox 38"/>
          <p:cNvSpPr txBox="1"/>
          <p:nvPr/>
        </p:nvSpPr>
        <p:spPr>
          <a:xfrm>
            <a:off x="6040080" y="474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1.0960</a:t>
            </a:r>
          </a:p>
        </p:txBody>
      </p:sp>
      <p:sp>
        <p:nvSpPr>
          <p:cNvPr id="40" name="TextBox 39"/>
          <p:cNvSpPr txBox="1"/>
          <p:nvPr/>
        </p:nvSpPr>
        <p:spPr>
          <a:xfrm>
            <a:off x="8440080" y="4748760"/>
            <a:ext cx="2217120" cy="470000"/>
          </a:xfrm>
          <a:prstGeom prst="rect">
            <a:avLst/>
          </a:prstGeom>
          <a:noFill/>
        </p:spPr>
        <p:txBody>
          <a:bodyPr wrap="square" lIns="0" tIns="0" rIns="0" bIns="0" anchor="ctr">
            <a:noAutofit/>
          </a:bodyPr>
          <a:lstStyle/>
          <a:p>
            <a:pPr algn="r"/>
            <a:r>
              <a:rPr sz="1500" b="0" i="0">
                <a:solidFill>
                  <a:srgbClr val="1B2A4A"/>
                </a:solidFill>
                <a:latin typeface="Calibri"/>
                <a:ea typeface="Calibri"/>
                <a:cs typeface="Calibri"/>
              </a:rPr>
              <a:t>1.1185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EXTRA CHECK</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Team’s own run: calibration of the retrained Ensemble</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pic>
        <p:nvPicPr>
          <p:cNvPr id="5" name="Picture 4" descr="own_cov_en.png"/>
          <p:cNvPicPr>
            <a:picLocks noChangeAspect="1"/>
          </p:cNvPicPr>
          <p:nvPr/>
        </p:nvPicPr>
        <p:blipFill>
          <a:blip r:embed="rId3"/>
          <a:stretch>
            <a:fillRect/>
          </a:stretch>
        </p:blipFill>
        <p:spPr>
          <a:xfrm>
            <a:off x="548640" y="1508760"/>
            <a:ext cx="5500000" cy="3814516"/>
          </a:xfrm>
          <a:prstGeom prst="rect">
            <a:avLst/>
          </a:prstGeom>
        </p:spPr>
      </p:pic>
      <p:sp>
        <p:nvSpPr>
          <p:cNvPr id="6" name="TextBox 5"/>
          <p:cNvSpPr txBox="1"/>
          <p:nvPr/>
        </p:nvSpPr>
        <p:spPr>
          <a:xfrm>
            <a:off x="6298640" y="1508760"/>
            <a:ext cx="5344720" cy="4300000"/>
          </a:xfrm>
          <a:prstGeom prst="rect">
            <a:avLst/>
          </a:prstGeom>
          <a:noFill/>
        </p:spPr>
        <p:txBody>
          <a:bodyPr wrap="square" lIns="0" tIns="0" rIns="0" bIns="0" anchor="t">
            <a:noAutofit/>
          </a:bodyPr>
          <a:lstStyle/>
          <a:p>
            <a:pPr marL="228600" indent="-228600" algn="l">
              <a:buClr>
                <a:srgbClr val="E0662B"/>
              </a:buClr>
              <a:buFont typeface="Arial"/>
              <a:buChar char="•"/>
            </a:pPr>
            <a:r>
              <a:rPr sz="1500" b="0" i="0">
                <a:solidFill>
                  <a:srgbClr val="1B2A4A"/>
                </a:solidFill>
                <a:latin typeface="Calibri"/>
                <a:ea typeface="Calibri"/>
                <a:cs typeface="Calibri"/>
              </a:rPr>
              <a:t>Coverage on test: Q0.95 = 0.831; Q0.975 = 0.857; Q0.99 = 0.879; Q0.995 = 0.891.</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10-day bias: −2.6% (validation), −4.4% (test).</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The retrained Ensemble has WRMSSE 0.593 / 0.636 / 0.786 (h = 7 / 14 / 28), worse than the Result OK run (0.494 / 0.548 / 0.709).</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The baseline here is the DFIOS formula (Ensemble + zσ√LT), different from the PDF’s tuned B2.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APPENDIX · M5 DATA</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Weekly rhythm, event calendar and SNAP</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pic>
        <p:nvPicPr>
          <p:cNvPr id="5" name="Picture 4" descr="eda_weekday_en.png"/>
          <p:cNvPicPr>
            <a:picLocks noChangeAspect="1"/>
          </p:cNvPicPr>
          <p:nvPr/>
        </p:nvPicPr>
        <p:blipFill>
          <a:blip r:embed="rId3"/>
          <a:stretch>
            <a:fillRect/>
          </a:stretch>
        </p:blipFill>
        <p:spPr>
          <a:xfrm>
            <a:off x="548640" y="1508760"/>
            <a:ext cx="4900000" cy="4154347"/>
          </a:xfrm>
          <a:prstGeom prst="rect">
            <a:avLst/>
          </a:prstGeom>
        </p:spPr>
      </p:pic>
      <p:sp>
        <p:nvSpPr>
          <p:cNvPr id="6" name="TextBox 5"/>
          <p:cNvSpPr txBox="1"/>
          <p:nvPr/>
        </p:nvSpPr>
        <p:spPr>
          <a:xfrm>
            <a:off x="5748640" y="1508760"/>
            <a:ext cx="5894720" cy="4300000"/>
          </a:xfrm>
          <a:prstGeom prst="rect">
            <a:avLst/>
          </a:prstGeom>
          <a:noFill/>
        </p:spPr>
        <p:txBody>
          <a:bodyPr wrap="square" lIns="0" tIns="0" rIns="0" bIns="0" anchor="t">
            <a:noAutofit/>
          </a:bodyPr>
          <a:lstStyle/>
          <a:p>
            <a:pPr marL="228600" indent="-228600" algn="l">
              <a:buClr>
                <a:srgbClr val="E0662B"/>
              </a:buClr>
              <a:buFont typeface="Arial"/>
              <a:buChar char="•"/>
            </a:pPr>
            <a:r>
              <a:rPr sz="1500" b="0" i="0">
                <a:solidFill>
                  <a:srgbClr val="1B2A4A"/>
                </a:solidFill>
                <a:latin typeface="Calibri"/>
                <a:ea typeface="Calibri"/>
                <a:cs typeface="Calibri"/>
              </a:rPr>
              <a:t>Mean total per day: Mon 33.0k; Tue 30.5k; Wed 30.1k; Thu 30.3k; Fri 34.4k; Sat 41.7k; Sun 41.3k.</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162 event days, 30 type-1 event names, four types: Cultural, National, Religious, Sporting.</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SNAP: 650 days for each of CA, TX, WI.</a:t>
            </a:r>
          </a:p>
          <a:p>
            <a:pPr marL="228600" indent="-228600" algn="l">
              <a:spcBef>
                <a:spcPts val="600"/>
              </a:spcBef>
              <a:buClr>
                <a:srgbClr val="E0662B"/>
              </a:buClr>
              <a:buFont typeface="Arial"/>
              <a:buChar char="•"/>
            </a:pPr>
            <a:r>
              <a:rPr sz="1500" b="0" i="0">
                <a:solidFill>
                  <a:srgbClr val="1B2A4A"/>
                </a:solidFill>
                <a:latin typeface="Calibri"/>
                <a:ea typeface="Calibri"/>
                <a:cs typeface="Calibri"/>
              </a:rPr>
              <a:t>Calendar encoding: “none” must be code 0 so event features stay clean.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REVIEW 1 · RESPONSES TO COMMENTS</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Review 1: four comments, our position, and what we changed</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2</a:t>
            </a:r>
          </a:p>
        </p:txBody>
      </p:sp>
      <p:sp>
        <p:nvSpPr>
          <p:cNvPr id="6" name="Rectangle 5"/>
          <p:cNvSpPr/>
          <p:nvPr/>
        </p:nvSpPr>
        <p:spPr>
          <a:xfrm>
            <a:off x="548640" y="1500000"/>
            <a:ext cx="11094720" cy="420000"/>
          </a:xfrm>
          <a:prstGeom prst="rect">
            <a:avLst/>
          </a:prstGeom>
          <a:solidFill>
            <a:srgbClr val="1B2A4A"/>
          </a:solidFill>
          <a:ln>
            <a:noFill/>
          </a:ln>
          <a:effectLst/>
        </p:spPr>
        <p:txBody>
          <a:bodyPr rtlCol="0" anchor="ctr"/>
          <a:lstStyle/>
          <a:p>
            <a:pPr algn="ctr"/>
          </a:p>
        </p:txBody>
      </p:sp>
      <p:sp>
        <p:nvSpPr>
          <p:cNvPr id="7" name="TextBox 6"/>
          <p:cNvSpPr txBox="1"/>
          <p:nvPr/>
        </p:nvSpPr>
        <p:spPr>
          <a:xfrm>
            <a:off x="640080" y="1500000"/>
            <a:ext cx="256712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Comment (LongNQ9)</a:t>
            </a:r>
          </a:p>
        </p:txBody>
      </p:sp>
      <p:sp>
        <p:nvSpPr>
          <p:cNvPr id="8" name="TextBox 7"/>
          <p:cNvSpPr txBox="1"/>
          <p:nvPr/>
        </p:nvSpPr>
        <p:spPr>
          <a:xfrm>
            <a:off x="3390080" y="1500000"/>
            <a:ext cx="106712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Position</a:t>
            </a:r>
          </a:p>
        </p:txBody>
      </p:sp>
      <p:sp>
        <p:nvSpPr>
          <p:cNvPr id="9" name="TextBox 8"/>
          <p:cNvSpPr txBox="1"/>
          <p:nvPr/>
        </p:nvSpPr>
        <p:spPr>
          <a:xfrm>
            <a:off x="4640080" y="1500000"/>
            <a:ext cx="566712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Response and fix</a:t>
            </a:r>
          </a:p>
        </p:txBody>
      </p:sp>
      <p:sp>
        <p:nvSpPr>
          <p:cNvPr id="10" name="TextBox 9"/>
          <p:cNvSpPr txBox="1"/>
          <p:nvPr/>
        </p:nvSpPr>
        <p:spPr>
          <a:xfrm>
            <a:off x="10490080" y="1500000"/>
            <a:ext cx="1061840" cy="420000"/>
          </a:xfrm>
          <a:prstGeom prst="rect">
            <a:avLst/>
          </a:prstGeom>
          <a:noFill/>
        </p:spPr>
        <p:txBody>
          <a:bodyPr wrap="square" lIns="0" tIns="0" rIns="0" bIns="0" anchor="ctr">
            <a:noAutofit/>
          </a:bodyPr>
          <a:lstStyle/>
          <a:p>
            <a:pPr algn="l"/>
            <a:r>
              <a:rPr sz="1400" b="1" i="0">
                <a:solidFill>
                  <a:srgbClr val="FFFFFF"/>
                </a:solidFill>
                <a:latin typeface="Calibri"/>
                <a:ea typeface="Calibri"/>
                <a:cs typeface="Calibri"/>
              </a:rPr>
              <a:t>See</a:t>
            </a:r>
          </a:p>
        </p:txBody>
      </p:sp>
      <p:sp>
        <p:nvSpPr>
          <p:cNvPr id="11" name="TextBox 10"/>
          <p:cNvSpPr txBox="1"/>
          <p:nvPr/>
        </p:nvSpPr>
        <p:spPr>
          <a:xfrm>
            <a:off x="640080" y="1920000"/>
            <a:ext cx="2567120" cy="105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Data: which source? Any new data built or integrated?</a:t>
            </a:r>
          </a:p>
        </p:txBody>
      </p:sp>
      <p:sp>
        <p:nvSpPr>
          <p:cNvPr id="12" name="TextBox 11"/>
          <p:cNvSpPr txBox="1"/>
          <p:nvPr/>
        </p:nvSpPr>
        <p:spPr>
          <a:xfrm>
            <a:off x="3390080" y="1920000"/>
            <a:ext cx="1067120" cy="1050000"/>
          </a:xfrm>
          <a:prstGeom prst="rect">
            <a:avLst/>
          </a:prstGeom>
          <a:noFill/>
        </p:spPr>
        <p:txBody>
          <a:bodyPr wrap="square" lIns="0" tIns="0" rIns="0" bIns="0" anchor="ctr">
            <a:noAutofit/>
          </a:bodyPr>
          <a:lstStyle/>
          <a:p>
            <a:pPr algn="l"/>
            <a:r>
              <a:rPr sz="1400" b="1" i="0">
                <a:solidFill>
                  <a:srgbClr val="E0662B"/>
                </a:solidFill>
                <a:latin typeface="Calibri"/>
                <a:ea typeface="Calibri"/>
                <a:cs typeface="Calibri"/>
              </a:rPr>
              <a:t>Partly agree</a:t>
            </a:r>
          </a:p>
        </p:txBody>
      </p:sp>
      <p:sp>
        <p:nvSpPr>
          <p:cNvPr id="13" name="TextBox 12"/>
          <p:cNvSpPr txBox="1"/>
          <p:nvPr/>
        </p:nvSpPr>
        <p:spPr>
          <a:xfrm>
            <a:off x="4640080" y="1920000"/>
            <a:ext cx="5667120" cy="105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Source: public M5 dataset (Walmart, via Kaggle): 30,490 item × store series, 1,941 days, 3 tables. No new raw data was collected; we built derived data on it: 53 features, ABC×XYZ groups, rolling forecasts, and a synthetic test set with known forecast defects.</a:t>
            </a:r>
          </a:p>
        </p:txBody>
      </p:sp>
      <p:sp>
        <p:nvSpPr>
          <p:cNvPr id="14" name="TextBox 13"/>
          <p:cNvSpPr txBox="1"/>
          <p:nvPr/>
        </p:nvSpPr>
        <p:spPr>
          <a:xfrm>
            <a:off x="10490080" y="1920000"/>
            <a:ext cx="1061840" cy="105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Slides 9–17</a:t>
            </a:r>
          </a:p>
        </p:txBody>
      </p:sp>
      <p:sp>
        <p:nvSpPr>
          <p:cNvPr id="15" name="Rectangle 14"/>
          <p:cNvSpPr/>
          <p:nvPr/>
        </p:nvSpPr>
        <p:spPr>
          <a:xfrm>
            <a:off x="548640" y="2970000"/>
            <a:ext cx="11094720" cy="1050000"/>
          </a:xfrm>
          <a:prstGeom prst="rect">
            <a:avLst/>
          </a:prstGeom>
          <a:solidFill>
            <a:srgbClr val="E3DED3"/>
          </a:solidFill>
          <a:ln>
            <a:noFill/>
          </a:ln>
          <a:effectLst/>
        </p:spPr>
        <p:txBody>
          <a:bodyPr rtlCol="0" anchor="ctr"/>
          <a:lstStyle/>
          <a:p>
            <a:pPr algn="ctr"/>
          </a:p>
        </p:txBody>
      </p:sp>
      <p:sp>
        <p:nvSpPr>
          <p:cNvPr id="16" name="TextBox 15"/>
          <p:cNvSpPr txBox="1"/>
          <p:nvPr/>
        </p:nvSpPr>
        <p:spPr>
          <a:xfrm>
            <a:off x="640080" y="2970000"/>
            <a:ext cx="2567120" cy="105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Novelty: a real contribution, or only existing ML algorithms?</a:t>
            </a:r>
          </a:p>
        </p:txBody>
      </p:sp>
      <p:sp>
        <p:nvSpPr>
          <p:cNvPr id="17" name="TextBox 16"/>
          <p:cNvSpPr txBox="1"/>
          <p:nvPr/>
        </p:nvSpPr>
        <p:spPr>
          <a:xfrm>
            <a:off x="3390080" y="2970000"/>
            <a:ext cx="1067120" cy="1050000"/>
          </a:xfrm>
          <a:prstGeom prst="rect">
            <a:avLst/>
          </a:prstGeom>
          <a:noFill/>
        </p:spPr>
        <p:txBody>
          <a:bodyPr wrap="square" lIns="0" tIns="0" rIns="0" bIns="0" anchor="ctr">
            <a:noAutofit/>
          </a:bodyPr>
          <a:lstStyle/>
          <a:p>
            <a:pPr algn="l"/>
            <a:r>
              <a:rPr sz="1400" b="1" i="0">
                <a:solidFill>
                  <a:srgbClr val="E0662B"/>
                </a:solidFill>
                <a:latin typeface="Calibri"/>
                <a:ea typeface="Calibri"/>
                <a:cs typeface="Calibri"/>
              </a:rPr>
              <a:t>Partly agree</a:t>
            </a:r>
          </a:p>
        </p:txBody>
      </p:sp>
      <p:sp>
        <p:nvSpPr>
          <p:cNvPr id="18" name="TextBox 17"/>
          <p:cNvSpPr txBox="1"/>
          <p:nvPr/>
        </p:nvSpPr>
        <p:spPr>
          <a:xfrm>
            <a:off x="4640080" y="2970000"/>
            <a:ext cx="5667120" cy="105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The forecasting models (LightGBM, XGBoost, TFT) are existing algorithms, compared under one protocol. Our own design is C³-OUT, a calibration layer for any model, with a long-run service guarantee (Theorem 1). Group service gap ≤ 0.0027 vs 0.006–0.069 for a fixed quantile.</a:t>
            </a:r>
          </a:p>
        </p:txBody>
      </p:sp>
      <p:sp>
        <p:nvSpPr>
          <p:cNvPr id="19" name="TextBox 18"/>
          <p:cNvSpPr txBox="1"/>
          <p:nvPr/>
        </p:nvSpPr>
        <p:spPr>
          <a:xfrm>
            <a:off x="10490080" y="2970000"/>
            <a:ext cx="1061840" cy="105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Slides 20–24, 28</a:t>
            </a:r>
          </a:p>
        </p:txBody>
      </p:sp>
      <p:sp>
        <p:nvSpPr>
          <p:cNvPr id="20" name="TextBox 19"/>
          <p:cNvSpPr txBox="1"/>
          <p:nvPr/>
        </p:nvSpPr>
        <p:spPr>
          <a:xfrm>
            <a:off x="640080" y="4020000"/>
            <a:ext cx="2567120" cy="96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Users and scope: who uses the system, in which business?</a:t>
            </a:r>
          </a:p>
        </p:txBody>
      </p:sp>
      <p:sp>
        <p:nvSpPr>
          <p:cNvPr id="21" name="TextBox 20"/>
          <p:cNvSpPr txBox="1"/>
          <p:nvPr/>
        </p:nvSpPr>
        <p:spPr>
          <a:xfrm>
            <a:off x="3390080" y="4020000"/>
            <a:ext cx="1067120" cy="960000"/>
          </a:xfrm>
          <a:prstGeom prst="rect">
            <a:avLst/>
          </a:prstGeom>
          <a:noFill/>
        </p:spPr>
        <p:txBody>
          <a:bodyPr wrap="square" lIns="0" tIns="0" rIns="0" bIns="0" anchor="ctr">
            <a:noAutofit/>
          </a:bodyPr>
          <a:lstStyle/>
          <a:p>
            <a:pPr algn="l"/>
            <a:r>
              <a:rPr sz="1400" b="1" i="0">
                <a:solidFill>
                  <a:srgbClr val="E0662B"/>
                </a:solidFill>
                <a:latin typeface="Calibri"/>
                <a:ea typeface="Calibri"/>
                <a:cs typeface="Calibri"/>
              </a:rPr>
              <a:t>Agree</a:t>
            </a:r>
          </a:p>
        </p:txBody>
      </p:sp>
      <p:sp>
        <p:nvSpPr>
          <p:cNvPr id="22" name="TextBox 21"/>
          <p:cNvSpPr txBox="1"/>
          <p:nvPr/>
        </p:nvSpPr>
        <p:spPr>
          <a:xfrm>
            <a:off x="4640080" y="4020000"/>
            <a:ext cx="5667120" cy="9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Users: inventory and replenishment managers of SME retailers (mini-marts, grocery chains) that have POS sales data but still reorder by spreadsheet. Scope: daily item × store demand, weekly orders, several stores.</a:t>
            </a:r>
          </a:p>
        </p:txBody>
      </p:sp>
      <p:sp>
        <p:nvSpPr>
          <p:cNvPr id="23" name="TextBox 22"/>
          <p:cNvSpPr txBox="1"/>
          <p:nvPr/>
        </p:nvSpPr>
        <p:spPr>
          <a:xfrm>
            <a:off x="10490080" y="4020000"/>
            <a:ext cx="1061840" cy="96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Slide 3</a:t>
            </a:r>
          </a:p>
        </p:txBody>
      </p:sp>
      <p:sp>
        <p:nvSpPr>
          <p:cNvPr id="24" name="Rectangle 23"/>
          <p:cNvSpPr/>
          <p:nvPr/>
        </p:nvSpPr>
        <p:spPr>
          <a:xfrm>
            <a:off x="548640" y="4980000"/>
            <a:ext cx="11094720" cy="1050000"/>
          </a:xfrm>
          <a:prstGeom prst="rect">
            <a:avLst/>
          </a:prstGeom>
          <a:solidFill>
            <a:srgbClr val="E3DED3"/>
          </a:solidFill>
          <a:ln>
            <a:noFill/>
          </a:ln>
          <a:effectLst/>
        </p:spPr>
        <p:txBody>
          <a:bodyPr rtlCol="0" anchor="ctr"/>
          <a:lstStyle/>
          <a:p>
            <a:pPr algn="ctr"/>
          </a:p>
        </p:txBody>
      </p:sp>
      <p:sp>
        <p:nvSpPr>
          <p:cNvPr id="25" name="TextBox 24"/>
          <p:cNvSpPr txBox="1"/>
          <p:nvPr/>
        </p:nvSpPr>
        <p:spPr>
          <a:xfrm>
            <a:off x="640080" y="4980000"/>
            <a:ext cx="2567120" cy="1050000"/>
          </a:xfrm>
          <a:prstGeom prst="rect">
            <a:avLst/>
          </a:prstGeom>
          <a:noFill/>
        </p:spPr>
        <p:txBody>
          <a:bodyPr wrap="square" lIns="0" tIns="0" rIns="0" bIns="0" anchor="ctr">
            <a:noAutofit/>
          </a:bodyPr>
          <a:lstStyle/>
          <a:p>
            <a:pPr algn="l"/>
            <a:r>
              <a:rPr sz="1400" b="1" i="0">
                <a:solidFill>
                  <a:srgbClr val="1B2A4A"/>
                </a:solidFill>
                <a:latin typeface="Calibri"/>
                <a:ea typeface="Calibri"/>
                <a:cs typeface="Calibri"/>
              </a:rPr>
              <a:t>No business case study; build the software processing flow.</a:t>
            </a:r>
          </a:p>
        </p:txBody>
      </p:sp>
      <p:sp>
        <p:nvSpPr>
          <p:cNvPr id="26" name="TextBox 25"/>
          <p:cNvSpPr txBox="1"/>
          <p:nvPr/>
        </p:nvSpPr>
        <p:spPr>
          <a:xfrm>
            <a:off x="3390080" y="4980000"/>
            <a:ext cx="1067120" cy="1050000"/>
          </a:xfrm>
          <a:prstGeom prst="rect">
            <a:avLst/>
          </a:prstGeom>
          <a:noFill/>
        </p:spPr>
        <p:txBody>
          <a:bodyPr wrap="square" lIns="0" tIns="0" rIns="0" bIns="0" anchor="ctr">
            <a:noAutofit/>
          </a:bodyPr>
          <a:lstStyle/>
          <a:p>
            <a:pPr algn="l"/>
            <a:r>
              <a:rPr sz="1400" b="1" i="0">
                <a:solidFill>
                  <a:srgbClr val="E0662B"/>
                </a:solidFill>
                <a:latin typeface="Calibri"/>
                <a:ea typeface="Calibri"/>
                <a:cs typeface="Calibri"/>
              </a:rPr>
              <a:t>Agree</a:t>
            </a:r>
          </a:p>
        </p:txBody>
      </p:sp>
      <p:sp>
        <p:nvSpPr>
          <p:cNvPr id="27" name="TextBox 26"/>
          <p:cNvSpPr txBox="1"/>
          <p:nvPr/>
        </p:nvSpPr>
        <p:spPr>
          <a:xfrm>
            <a:off x="4640080" y="4980000"/>
            <a:ext cx="5667120" cy="105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Case study on a real store, Walmart CA_1 (2,942 items, May 2013 – May 2016): only C³-OUT delivers the A/B/C targets 0.97 / 0.95 / 0.90 (achieved about 0.97 / 0.95 / 0.89). Processing flow: next slide.</a:t>
            </a:r>
          </a:p>
        </p:txBody>
      </p:sp>
      <p:sp>
        <p:nvSpPr>
          <p:cNvPr id="28" name="TextBox 27"/>
          <p:cNvSpPr txBox="1"/>
          <p:nvPr/>
        </p:nvSpPr>
        <p:spPr>
          <a:xfrm>
            <a:off x="10490080" y="4980000"/>
            <a:ext cx="1061840" cy="1050000"/>
          </a:xfrm>
          <a:prstGeom prst="rect">
            <a:avLst/>
          </a:prstGeom>
          <a:noFill/>
        </p:spPr>
        <p:txBody>
          <a:bodyPr wrap="square" lIns="0" tIns="0" rIns="0" bIns="0" anchor="ctr">
            <a:noAutofit/>
          </a:bodyPr>
          <a:lstStyle/>
          <a:p>
            <a:pPr algn="l"/>
            <a:r>
              <a:rPr sz="1400" b="0" i="0">
                <a:solidFill>
                  <a:srgbClr val="1B2A4A"/>
                </a:solidFill>
                <a:latin typeface="Calibri"/>
                <a:ea typeface="Calibri"/>
                <a:cs typeface="Calibri"/>
              </a:rPr>
              <a:t>Slides 3, 32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TextBox 1"/>
          <p:cNvSpPr txBox="1"/>
          <p:nvPr/>
        </p:nvSpPr>
        <p:spPr>
          <a:xfrm>
            <a:off x="548640" y="292608"/>
            <a:ext cx="10972800" cy="292608"/>
          </a:xfrm>
          <a:prstGeom prst="rect">
            <a:avLst/>
          </a:prstGeom>
          <a:noFill/>
        </p:spPr>
        <p:txBody>
          <a:bodyPr wrap="square" lIns="0" tIns="0" rIns="0" bIns="0" anchor="t">
            <a:noAutofit/>
          </a:bodyPr>
          <a:lstStyle/>
          <a:p>
            <a:pPr algn="l"/>
            <a:r>
              <a:rPr sz="1300" b="1" i="0">
                <a:solidFill>
                  <a:srgbClr val="E0662B"/>
                </a:solidFill>
                <a:latin typeface="Calibri"/>
                <a:ea typeface="Calibri"/>
                <a:cs typeface="Calibri"/>
              </a:rPr>
              <a:t>REVIEW 1 · SOFTWARE PROCESSING FLOW</a:t>
            </a:r>
          </a:p>
        </p:txBody>
      </p:sp>
      <p:sp>
        <p:nvSpPr>
          <p:cNvPr id="3" name="TextBox 2"/>
          <p:cNvSpPr txBox="1"/>
          <p:nvPr/>
        </p:nvSpPr>
        <p:spPr>
          <a:xfrm>
            <a:off x="548640" y="540000"/>
            <a:ext cx="11109960" cy="860000"/>
          </a:xfrm>
          <a:prstGeom prst="rect">
            <a:avLst/>
          </a:prstGeom>
          <a:noFill/>
        </p:spPr>
        <p:txBody>
          <a:bodyPr wrap="square" lIns="0" tIns="0" rIns="0" bIns="0" anchor="ctr">
            <a:noAutofit/>
          </a:bodyPr>
          <a:lstStyle/>
          <a:p>
            <a:pPr algn="l"/>
            <a:r>
              <a:rPr sz="2500" b="1" i="0">
                <a:solidFill>
                  <a:srgbClr val="1B2A4A"/>
                </a:solidFill>
                <a:latin typeface="Cambria"/>
                <a:ea typeface="Cambria"/>
                <a:cs typeface="Cambria"/>
              </a:rPr>
              <a:t>Processing flow: from store data to an approved order, with a feedback loop</a:t>
            </a:r>
          </a:p>
        </p:txBody>
      </p:sp>
      <p:sp>
        <p:nvSpPr>
          <p:cNvPr id="4" name="TextBox 3"/>
          <p:cNvSpPr txBox="1"/>
          <p:nvPr/>
        </p:nvSpPr>
        <p:spPr>
          <a:xfrm>
            <a:off x="457200" y="6492240"/>
            <a:ext cx="8229600" cy="292608"/>
          </a:xfrm>
          <a:prstGeom prst="rect">
            <a:avLst/>
          </a:prstGeom>
          <a:noFill/>
        </p:spPr>
        <p:txBody>
          <a:bodyPr wrap="square" lIns="0" tIns="0" rIns="0" bIns="0" anchor="t">
            <a:noAutofit/>
          </a:bodyPr>
          <a:lstStyle/>
          <a:p>
            <a:pPr algn="l"/>
            <a:r>
              <a:rPr sz="1100" b="0" i="0">
                <a:solidFill>
                  <a:srgbClr val="50596C"/>
                </a:solidFill>
                <a:latin typeface="Calibri"/>
                <a:ea typeface="Calibri"/>
                <a:cs typeface="Calibri"/>
              </a:rPr>
              <a:t>DFIOS · SE_18 · FPT University Da Nang · SET490</a:t>
            </a:r>
          </a:p>
        </p:txBody>
      </p:sp>
      <p:sp>
        <p:nvSpPr>
          <p:cNvPr id="5" name="TextBox 4"/>
          <p:cNvSpPr txBox="1"/>
          <p:nvPr/>
        </p:nvSpPr>
        <p:spPr>
          <a:xfrm>
            <a:off x="10728655" y="6492240"/>
            <a:ext cx="1005840" cy="292608"/>
          </a:xfrm>
          <a:prstGeom prst="rect">
            <a:avLst/>
          </a:prstGeom>
          <a:noFill/>
        </p:spPr>
        <p:txBody>
          <a:bodyPr wrap="square" lIns="0" tIns="0" rIns="0" bIns="0" anchor="t">
            <a:noAutofit/>
          </a:bodyPr>
          <a:lstStyle/>
          <a:p>
            <a:pPr algn="r"/>
            <a:r>
              <a:rPr sz="1100" b="0" i="0">
                <a:solidFill>
                  <a:srgbClr val="50596C"/>
                </a:solidFill>
                <a:latin typeface="Calibri"/>
                <a:ea typeface="Calibri"/>
                <a:cs typeface="Calibri"/>
              </a:rPr>
              <a:t>3</a:t>
            </a:r>
          </a:p>
        </p:txBody>
      </p:sp>
      <p:sp>
        <p:nvSpPr>
          <p:cNvPr id="6" name="Rectangle 5"/>
          <p:cNvSpPr/>
          <p:nvPr/>
        </p:nvSpPr>
        <p:spPr>
          <a:xfrm>
            <a:off x="548640" y="1560000"/>
            <a:ext cx="1700000" cy="2250000"/>
          </a:xfrm>
          <a:prstGeom prst="rect">
            <a:avLst/>
          </a:prstGeom>
          <a:solidFill>
            <a:srgbClr val="F1EDE4"/>
          </a:solidFill>
          <a:ln>
            <a:noFill/>
          </a:ln>
          <a:effectLst/>
        </p:spPr>
        <p:txBody>
          <a:bodyPr rtlCol="0" anchor="ctr"/>
          <a:lstStyle/>
          <a:p>
            <a:pPr algn="ctr"/>
          </a:p>
        </p:txBody>
      </p:sp>
      <p:sp>
        <p:nvSpPr>
          <p:cNvPr id="7" name="Rectangle 6"/>
          <p:cNvSpPr/>
          <p:nvPr/>
        </p:nvSpPr>
        <p:spPr>
          <a:xfrm>
            <a:off x="548640" y="1560000"/>
            <a:ext cx="1700000" cy="54864"/>
          </a:xfrm>
          <a:prstGeom prst="rect">
            <a:avLst/>
          </a:prstGeom>
          <a:solidFill>
            <a:srgbClr val="E0662B"/>
          </a:solidFill>
          <a:ln>
            <a:noFill/>
          </a:ln>
          <a:effectLst/>
        </p:spPr>
        <p:txBody>
          <a:bodyPr rtlCol="0" anchor="ctr"/>
          <a:lstStyle/>
          <a:p>
            <a:pPr algn="ctr"/>
          </a:p>
        </p:txBody>
      </p:sp>
      <p:sp>
        <p:nvSpPr>
          <p:cNvPr id="8" name="TextBox 7"/>
          <p:cNvSpPr txBox="1"/>
          <p:nvPr/>
        </p:nvSpPr>
        <p:spPr>
          <a:xfrm>
            <a:off x="658640" y="1670000"/>
            <a:ext cx="600000" cy="420000"/>
          </a:xfrm>
          <a:prstGeom prst="rect">
            <a:avLst/>
          </a:prstGeom>
          <a:noFill/>
        </p:spPr>
        <p:txBody>
          <a:bodyPr wrap="square" lIns="0" tIns="0" rIns="0" bIns="0" anchor="t">
            <a:noAutofit/>
          </a:bodyPr>
          <a:lstStyle/>
          <a:p>
            <a:pPr algn="l"/>
            <a:r>
              <a:rPr sz="2400" b="1" i="0">
                <a:solidFill>
                  <a:srgbClr val="E0662B"/>
                </a:solidFill>
                <a:latin typeface="Cambria"/>
                <a:ea typeface="Cambria"/>
                <a:cs typeface="Cambria"/>
              </a:rPr>
              <a:t>1</a:t>
            </a:r>
          </a:p>
        </p:txBody>
      </p:sp>
      <p:sp>
        <p:nvSpPr>
          <p:cNvPr id="9" name="TextBox 8"/>
          <p:cNvSpPr txBox="1"/>
          <p:nvPr/>
        </p:nvSpPr>
        <p:spPr>
          <a:xfrm>
            <a:off x="658640" y="2120000"/>
            <a:ext cx="1480000" cy="33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Import data</a:t>
            </a:r>
          </a:p>
        </p:txBody>
      </p:sp>
      <p:sp>
        <p:nvSpPr>
          <p:cNvPr id="10" name="TextBox 9"/>
          <p:cNvSpPr txBox="1"/>
          <p:nvPr/>
        </p:nvSpPr>
        <p:spPr>
          <a:xfrm>
            <a:off x="658640" y="2460000"/>
            <a:ext cx="1480000" cy="260000"/>
          </a:xfrm>
          <a:prstGeom prst="rect">
            <a:avLst/>
          </a:prstGeom>
          <a:noFill/>
        </p:spPr>
        <p:txBody>
          <a:bodyPr wrap="square" lIns="0" tIns="0" rIns="0" bIns="0" anchor="t">
            <a:noAutofit/>
          </a:bodyPr>
          <a:lstStyle/>
          <a:p>
            <a:pPr algn="l"/>
            <a:r>
              <a:rPr sz="1050" b="1" i="0">
                <a:solidFill>
                  <a:srgbClr val="E0662B"/>
                </a:solidFill>
                <a:latin typeface="Calibri"/>
                <a:ea typeface="Calibri"/>
                <a:cs typeface="Calibri"/>
              </a:rPr>
              <a:t>MANAGER</a:t>
            </a:r>
          </a:p>
        </p:txBody>
      </p:sp>
      <p:sp>
        <p:nvSpPr>
          <p:cNvPr id="11" name="TextBox 10"/>
          <p:cNvSpPr txBox="1"/>
          <p:nvPr/>
        </p:nvSpPr>
        <p:spPr>
          <a:xfrm>
            <a:off x="658640" y="2760000"/>
            <a:ext cx="1480000" cy="1080000"/>
          </a:xfrm>
          <a:prstGeom prst="rect">
            <a:avLst/>
          </a:prstGeom>
          <a:noFill/>
        </p:spPr>
        <p:txBody>
          <a:bodyPr wrap="square" lIns="0" tIns="0" rIns="0" bIns="0" anchor="t">
            <a:noAutofit/>
          </a:bodyPr>
          <a:lstStyle/>
          <a:p>
            <a:pPr algn="l"/>
            <a:r>
              <a:rPr sz="1200" b="0" i="0">
                <a:solidFill>
                  <a:srgbClr val="1B2A4A"/>
                </a:solidFill>
                <a:latin typeface="Calibri"/>
                <a:ea typeface="Calibri"/>
                <a:cs typeface="Calibri"/>
              </a:rPr>
              <a:t>Sales, prices and calendar from POS or CSV, in one 3-table schema</a:t>
            </a:r>
          </a:p>
        </p:txBody>
      </p:sp>
      <p:cxnSp>
        <p:nvCxnSpPr>
          <p:cNvPr id="12" name="Connector 11"/>
          <p:cNvCxnSpPr/>
          <p:nvPr/>
        </p:nvCxnSpPr>
        <p:spPr>
          <a:xfrm>
            <a:off x="2263640" y="2260000"/>
            <a:ext cx="148944" cy="0"/>
          </a:xfrm>
          <a:prstGeom prst="line">
            <a:avLst/>
          </a:prstGeom>
          <a:ln w="19050">
            <a:solidFill>
              <a:srgbClr val="50596C"/>
            </a:solidFill>
            <a:tailEnd type="triangle" w="med" len="med"/>
          </a:ln>
        </p:spPr>
      </p:cxnSp>
      <p:sp>
        <p:nvSpPr>
          <p:cNvPr id="13" name="Rectangle 12"/>
          <p:cNvSpPr/>
          <p:nvPr/>
        </p:nvSpPr>
        <p:spPr>
          <a:xfrm>
            <a:off x="2427584" y="1560000"/>
            <a:ext cx="1700000" cy="2250000"/>
          </a:xfrm>
          <a:prstGeom prst="rect">
            <a:avLst/>
          </a:prstGeom>
          <a:solidFill>
            <a:srgbClr val="F1EDE4"/>
          </a:solidFill>
          <a:ln>
            <a:noFill/>
          </a:ln>
          <a:effectLst/>
        </p:spPr>
        <p:txBody>
          <a:bodyPr rtlCol="0" anchor="ctr"/>
          <a:lstStyle/>
          <a:p>
            <a:pPr algn="ctr"/>
          </a:p>
        </p:txBody>
      </p:sp>
      <p:sp>
        <p:nvSpPr>
          <p:cNvPr id="14" name="Rectangle 13"/>
          <p:cNvSpPr/>
          <p:nvPr/>
        </p:nvSpPr>
        <p:spPr>
          <a:xfrm>
            <a:off x="2427584" y="1560000"/>
            <a:ext cx="1700000" cy="54864"/>
          </a:xfrm>
          <a:prstGeom prst="rect">
            <a:avLst/>
          </a:prstGeom>
          <a:solidFill>
            <a:srgbClr val="1B2A4A"/>
          </a:solidFill>
          <a:ln>
            <a:noFill/>
          </a:ln>
          <a:effectLst/>
        </p:spPr>
        <p:txBody>
          <a:bodyPr rtlCol="0" anchor="ctr"/>
          <a:lstStyle/>
          <a:p>
            <a:pPr algn="ctr"/>
          </a:p>
        </p:txBody>
      </p:sp>
      <p:sp>
        <p:nvSpPr>
          <p:cNvPr id="15" name="TextBox 14"/>
          <p:cNvSpPr txBox="1"/>
          <p:nvPr/>
        </p:nvSpPr>
        <p:spPr>
          <a:xfrm>
            <a:off x="2537584" y="1670000"/>
            <a:ext cx="600000" cy="420000"/>
          </a:xfrm>
          <a:prstGeom prst="rect">
            <a:avLst/>
          </a:prstGeom>
          <a:noFill/>
        </p:spPr>
        <p:txBody>
          <a:bodyPr wrap="square" lIns="0" tIns="0" rIns="0" bIns="0" anchor="t">
            <a:noAutofit/>
          </a:bodyPr>
          <a:lstStyle/>
          <a:p>
            <a:pPr algn="l"/>
            <a:r>
              <a:rPr sz="2400" b="1" i="0">
                <a:solidFill>
                  <a:srgbClr val="E0662B"/>
                </a:solidFill>
                <a:latin typeface="Cambria"/>
                <a:ea typeface="Cambria"/>
                <a:cs typeface="Cambria"/>
              </a:rPr>
              <a:t>2</a:t>
            </a:r>
          </a:p>
        </p:txBody>
      </p:sp>
      <p:sp>
        <p:nvSpPr>
          <p:cNvPr id="16" name="TextBox 15"/>
          <p:cNvSpPr txBox="1"/>
          <p:nvPr/>
        </p:nvSpPr>
        <p:spPr>
          <a:xfrm>
            <a:off x="2537584" y="2120000"/>
            <a:ext cx="1480000" cy="33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Check data</a:t>
            </a:r>
          </a:p>
        </p:txBody>
      </p:sp>
      <p:sp>
        <p:nvSpPr>
          <p:cNvPr id="17" name="TextBox 16"/>
          <p:cNvSpPr txBox="1"/>
          <p:nvPr/>
        </p:nvSpPr>
        <p:spPr>
          <a:xfrm>
            <a:off x="2537584" y="2460000"/>
            <a:ext cx="1480000" cy="260000"/>
          </a:xfrm>
          <a:prstGeom prst="rect">
            <a:avLst/>
          </a:prstGeom>
          <a:noFill/>
        </p:spPr>
        <p:txBody>
          <a:bodyPr wrap="square" lIns="0" tIns="0" rIns="0" bIns="0" anchor="t">
            <a:noAutofit/>
          </a:bodyPr>
          <a:lstStyle/>
          <a:p>
            <a:pPr algn="l"/>
            <a:r>
              <a:rPr sz="1050" b="1" i="0">
                <a:solidFill>
                  <a:srgbClr val="50596C"/>
                </a:solidFill>
                <a:latin typeface="Calibri"/>
                <a:ea typeface="Calibri"/>
                <a:cs typeface="Calibri"/>
              </a:rPr>
              <a:t>SYSTEM</a:t>
            </a:r>
          </a:p>
        </p:txBody>
      </p:sp>
      <p:sp>
        <p:nvSpPr>
          <p:cNvPr id="18" name="TextBox 17"/>
          <p:cNvSpPr txBox="1"/>
          <p:nvPr/>
        </p:nvSpPr>
        <p:spPr>
          <a:xfrm>
            <a:off x="2537584" y="2760000"/>
            <a:ext cx="1480000" cy="1080000"/>
          </a:xfrm>
          <a:prstGeom prst="rect">
            <a:avLst/>
          </a:prstGeom>
          <a:noFill/>
        </p:spPr>
        <p:txBody>
          <a:bodyPr wrap="square" lIns="0" tIns="0" rIns="0" bIns="0" anchor="t">
            <a:noAutofit/>
          </a:bodyPr>
          <a:lstStyle/>
          <a:p>
            <a:pPr algn="l"/>
            <a:r>
              <a:rPr sz="1200" b="0" i="0">
                <a:solidFill>
                  <a:srgbClr val="1B2A4A"/>
                </a:solidFill>
                <a:latin typeface="Calibri"/>
                <a:ea typeface="Calibri"/>
                <a:cs typeface="Calibri"/>
              </a:rPr>
              <a:t>Missing days and prices, leakage check, quality report</a:t>
            </a:r>
          </a:p>
        </p:txBody>
      </p:sp>
      <p:cxnSp>
        <p:nvCxnSpPr>
          <p:cNvPr id="19" name="Connector 18"/>
          <p:cNvCxnSpPr/>
          <p:nvPr/>
        </p:nvCxnSpPr>
        <p:spPr>
          <a:xfrm>
            <a:off x="4142584" y="2260000"/>
            <a:ext cx="148944" cy="0"/>
          </a:xfrm>
          <a:prstGeom prst="line">
            <a:avLst/>
          </a:prstGeom>
          <a:ln w="19050">
            <a:solidFill>
              <a:srgbClr val="50596C"/>
            </a:solidFill>
            <a:tailEnd type="triangle" w="med" len="med"/>
          </a:ln>
        </p:spPr>
      </p:cxnSp>
      <p:sp>
        <p:nvSpPr>
          <p:cNvPr id="20" name="Rectangle 19"/>
          <p:cNvSpPr/>
          <p:nvPr/>
        </p:nvSpPr>
        <p:spPr>
          <a:xfrm>
            <a:off x="4306528" y="1560000"/>
            <a:ext cx="1700000" cy="2250000"/>
          </a:xfrm>
          <a:prstGeom prst="rect">
            <a:avLst/>
          </a:prstGeom>
          <a:solidFill>
            <a:srgbClr val="F1EDE4"/>
          </a:solidFill>
          <a:ln>
            <a:noFill/>
          </a:ln>
          <a:effectLst/>
        </p:spPr>
        <p:txBody>
          <a:bodyPr rtlCol="0" anchor="ctr"/>
          <a:lstStyle/>
          <a:p>
            <a:pPr algn="ctr"/>
          </a:p>
        </p:txBody>
      </p:sp>
      <p:sp>
        <p:nvSpPr>
          <p:cNvPr id="21" name="Rectangle 20"/>
          <p:cNvSpPr/>
          <p:nvPr/>
        </p:nvSpPr>
        <p:spPr>
          <a:xfrm>
            <a:off x="4306528" y="1560000"/>
            <a:ext cx="1700000" cy="54864"/>
          </a:xfrm>
          <a:prstGeom prst="rect">
            <a:avLst/>
          </a:prstGeom>
          <a:solidFill>
            <a:srgbClr val="1B2A4A"/>
          </a:solidFill>
          <a:ln>
            <a:noFill/>
          </a:ln>
          <a:effectLst/>
        </p:spPr>
        <p:txBody>
          <a:bodyPr rtlCol="0" anchor="ctr"/>
          <a:lstStyle/>
          <a:p>
            <a:pPr algn="ctr"/>
          </a:p>
        </p:txBody>
      </p:sp>
      <p:sp>
        <p:nvSpPr>
          <p:cNvPr id="22" name="TextBox 21"/>
          <p:cNvSpPr txBox="1"/>
          <p:nvPr/>
        </p:nvSpPr>
        <p:spPr>
          <a:xfrm>
            <a:off x="4416528" y="1670000"/>
            <a:ext cx="600000" cy="420000"/>
          </a:xfrm>
          <a:prstGeom prst="rect">
            <a:avLst/>
          </a:prstGeom>
          <a:noFill/>
        </p:spPr>
        <p:txBody>
          <a:bodyPr wrap="square" lIns="0" tIns="0" rIns="0" bIns="0" anchor="t">
            <a:noAutofit/>
          </a:bodyPr>
          <a:lstStyle/>
          <a:p>
            <a:pPr algn="l"/>
            <a:r>
              <a:rPr sz="2400" b="1" i="0">
                <a:solidFill>
                  <a:srgbClr val="E0662B"/>
                </a:solidFill>
                <a:latin typeface="Cambria"/>
                <a:ea typeface="Cambria"/>
                <a:cs typeface="Cambria"/>
              </a:rPr>
              <a:t>3</a:t>
            </a:r>
          </a:p>
        </p:txBody>
      </p:sp>
      <p:sp>
        <p:nvSpPr>
          <p:cNvPr id="23" name="TextBox 22"/>
          <p:cNvSpPr txBox="1"/>
          <p:nvPr/>
        </p:nvSpPr>
        <p:spPr>
          <a:xfrm>
            <a:off x="4416528" y="2120000"/>
            <a:ext cx="1480000" cy="33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Forecast nightly</a:t>
            </a:r>
          </a:p>
        </p:txBody>
      </p:sp>
      <p:sp>
        <p:nvSpPr>
          <p:cNvPr id="24" name="TextBox 23"/>
          <p:cNvSpPr txBox="1"/>
          <p:nvPr/>
        </p:nvSpPr>
        <p:spPr>
          <a:xfrm>
            <a:off x="4416528" y="2460000"/>
            <a:ext cx="1480000" cy="260000"/>
          </a:xfrm>
          <a:prstGeom prst="rect">
            <a:avLst/>
          </a:prstGeom>
          <a:noFill/>
        </p:spPr>
        <p:txBody>
          <a:bodyPr wrap="square" lIns="0" tIns="0" rIns="0" bIns="0" anchor="t">
            <a:noAutofit/>
          </a:bodyPr>
          <a:lstStyle/>
          <a:p>
            <a:pPr algn="l"/>
            <a:r>
              <a:rPr sz="1050" b="1" i="0">
                <a:solidFill>
                  <a:srgbClr val="50596C"/>
                </a:solidFill>
                <a:latin typeface="Calibri"/>
                <a:ea typeface="Calibri"/>
                <a:cs typeface="Calibri"/>
              </a:rPr>
              <a:t>SYSTEM</a:t>
            </a:r>
          </a:p>
        </p:txBody>
      </p:sp>
      <p:sp>
        <p:nvSpPr>
          <p:cNvPr id="25" name="TextBox 24"/>
          <p:cNvSpPr txBox="1"/>
          <p:nvPr/>
        </p:nvSpPr>
        <p:spPr>
          <a:xfrm>
            <a:off x="4416528" y="2760000"/>
            <a:ext cx="1480000" cy="1080000"/>
          </a:xfrm>
          <a:prstGeom prst="rect">
            <a:avLst/>
          </a:prstGeom>
          <a:noFill/>
        </p:spPr>
        <p:txBody>
          <a:bodyPr wrap="square" lIns="0" tIns="0" rIns="0" bIns="0" anchor="t">
            <a:noAutofit/>
          </a:bodyPr>
          <a:lstStyle/>
          <a:p>
            <a:pPr algn="l"/>
            <a:r>
              <a:rPr sz="1200" b="0" i="0">
                <a:solidFill>
                  <a:srgbClr val="1B2A4A"/>
                </a:solidFill>
                <a:latin typeface="Calibri"/>
                <a:ea typeface="Calibri"/>
                <a:cs typeface="Calibri"/>
              </a:rPr>
              <a:t>Ensemble forecasts the next 28 days for every item × store</a:t>
            </a:r>
          </a:p>
        </p:txBody>
      </p:sp>
      <p:cxnSp>
        <p:nvCxnSpPr>
          <p:cNvPr id="26" name="Connector 25"/>
          <p:cNvCxnSpPr/>
          <p:nvPr/>
        </p:nvCxnSpPr>
        <p:spPr>
          <a:xfrm>
            <a:off x="6021528" y="2260000"/>
            <a:ext cx="148944" cy="0"/>
          </a:xfrm>
          <a:prstGeom prst="line">
            <a:avLst/>
          </a:prstGeom>
          <a:ln w="19050">
            <a:solidFill>
              <a:srgbClr val="50596C"/>
            </a:solidFill>
            <a:tailEnd type="triangle" w="med" len="med"/>
          </a:ln>
        </p:spPr>
      </p:cxnSp>
      <p:sp>
        <p:nvSpPr>
          <p:cNvPr id="27" name="Rectangle 26"/>
          <p:cNvSpPr/>
          <p:nvPr/>
        </p:nvSpPr>
        <p:spPr>
          <a:xfrm>
            <a:off x="6185472" y="1560000"/>
            <a:ext cx="1700000" cy="2250000"/>
          </a:xfrm>
          <a:prstGeom prst="rect">
            <a:avLst/>
          </a:prstGeom>
          <a:solidFill>
            <a:srgbClr val="F1EDE4"/>
          </a:solidFill>
          <a:ln>
            <a:noFill/>
          </a:ln>
          <a:effectLst/>
        </p:spPr>
        <p:txBody>
          <a:bodyPr rtlCol="0" anchor="ctr"/>
          <a:lstStyle/>
          <a:p>
            <a:pPr algn="ctr"/>
          </a:p>
        </p:txBody>
      </p:sp>
      <p:sp>
        <p:nvSpPr>
          <p:cNvPr id="28" name="Rectangle 27"/>
          <p:cNvSpPr/>
          <p:nvPr/>
        </p:nvSpPr>
        <p:spPr>
          <a:xfrm>
            <a:off x="6185472" y="1560000"/>
            <a:ext cx="1700000" cy="54864"/>
          </a:xfrm>
          <a:prstGeom prst="rect">
            <a:avLst/>
          </a:prstGeom>
          <a:solidFill>
            <a:srgbClr val="1B2A4A"/>
          </a:solidFill>
          <a:ln>
            <a:noFill/>
          </a:ln>
          <a:effectLst/>
        </p:spPr>
        <p:txBody>
          <a:bodyPr rtlCol="0" anchor="ctr"/>
          <a:lstStyle/>
          <a:p>
            <a:pPr algn="ctr"/>
          </a:p>
        </p:txBody>
      </p:sp>
      <p:sp>
        <p:nvSpPr>
          <p:cNvPr id="29" name="TextBox 28"/>
          <p:cNvSpPr txBox="1"/>
          <p:nvPr/>
        </p:nvSpPr>
        <p:spPr>
          <a:xfrm>
            <a:off x="6295472" y="1670000"/>
            <a:ext cx="600000" cy="420000"/>
          </a:xfrm>
          <a:prstGeom prst="rect">
            <a:avLst/>
          </a:prstGeom>
          <a:noFill/>
        </p:spPr>
        <p:txBody>
          <a:bodyPr wrap="square" lIns="0" tIns="0" rIns="0" bIns="0" anchor="t">
            <a:noAutofit/>
          </a:bodyPr>
          <a:lstStyle/>
          <a:p>
            <a:pPr algn="l"/>
            <a:r>
              <a:rPr sz="2400" b="1" i="0">
                <a:solidFill>
                  <a:srgbClr val="E0662B"/>
                </a:solidFill>
                <a:latin typeface="Cambria"/>
                <a:ea typeface="Cambria"/>
                <a:cs typeface="Cambria"/>
              </a:rPr>
              <a:t>4</a:t>
            </a:r>
          </a:p>
        </p:txBody>
      </p:sp>
      <p:sp>
        <p:nvSpPr>
          <p:cNvPr id="30" name="TextBox 29"/>
          <p:cNvSpPr txBox="1"/>
          <p:nvPr/>
        </p:nvSpPr>
        <p:spPr>
          <a:xfrm>
            <a:off x="6295472" y="2120000"/>
            <a:ext cx="1480000" cy="33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Group items</a:t>
            </a:r>
          </a:p>
        </p:txBody>
      </p:sp>
      <p:sp>
        <p:nvSpPr>
          <p:cNvPr id="31" name="TextBox 30"/>
          <p:cNvSpPr txBox="1"/>
          <p:nvPr/>
        </p:nvSpPr>
        <p:spPr>
          <a:xfrm>
            <a:off x="6295472" y="2460000"/>
            <a:ext cx="1480000" cy="260000"/>
          </a:xfrm>
          <a:prstGeom prst="rect">
            <a:avLst/>
          </a:prstGeom>
          <a:noFill/>
        </p:spPr>
        <p:txBody>
          <a:bodyPr wrap="square" lIns="0" tIns="0" rIns="0" bIns="0" anchor="t">
            <a:noAutofit/>
          </a:bodyPr>
          <a:lstStyle/>
          <a:p>
            <a:pPr algn="l"/>
            <a:r>
              <a:rPr sz="1050" b="1" i="0">
                <a:solidFill>
                  <a:srgbClr val="50596C"/>
                </a:solidFill>
                <a:latin typeface="Calibri"/>
                <a:ea typeface="Calibri"/>
                <a:cs typeface="Calibri"/>
              </a:rPr>
              <a:t>SYSTEM</a:t>
            </a:r>
          </a:p>
        </p:txBody>
      </p:sp>
      <p:sp>
        <p:nvSpPr>
          <p:cNvPr id="32" name="TextBox 31"/>
          <p:cNvSpPr txBox="1"/>
          <p:nvPr/>
        </p:nvSpPr>
        <p:spPr>
          <a:xfrm>
            <a:off x="6295472" y="2760000"/>
            <a:ext cx="1480000" cy="1080000"/>
          </a:xfrm>
          <a:prstGeom prst="rect">
            <a:avLst/>
          </a:prstGeom>
          <a:noFill/>
        </p:spPr>
        <p:txBody>
          <a:bodyPr wrap="square" lIns="0" tIns="0" rIns="0" bIns="0" anchor="t">
            <a:noAutofit/>
          </a:bodyPr>
          <a:lstStyle/>
          <a:p>
            <a:pPr algn="l"/>
            <a:r>
              <a:rPr sz="1200" b="0" i="0">
                <a:solidFill>
                  <a:srgbClr val="1B2A4A"/>
                </a:solidFill>
                <a:latin typeface="Calibri"/>
                <a:ea typeface="Calibri"/>
                <a:cs typeface="Calibri"/>
              </a:rPr>
              <a:t>ABC by revenue × XYZ by weekly CV: 9 groups, each with a service target</a:t>
            </a:r>
          </a:p>
        </p:txBody>
      </p:sp>
      <p:cxnSp>
        <p:nvCxnSpPr>
          <p:cNvPr id="33" name="Connector 32"/>
          <p:cNvCxnSpPr/>
          <p:nvPr/>
        </p:nvCxnSpPr>
        <p:spPr>
          <a:xfrm>
            <a:off x="7900472" y="2260000"/>
            <a:ext cx="148944" cy="0"/>
          </a:xfrm>
          <a:prstGeom prst="line">
            <a:avLst/>
          </a:prstGeom>
          <a:ln w="19050">
            <a:solidFill>
              <a:srgbClr val="50596C"/>
            </a:solidFill>
            <a:tailEnd type="triangle" w="med" len="med"/>
          </a:ln>
        </p:spPr>
      </p:cxnSp>
      <p:sp>
        <p:nvSpPr>
          <p:cNvPr id="34" name="Rectangle 33"/>
          <p:cNvSpPr/>
          <p:nvPr/>
        </p:nvSpPr>
        <p:spPr>
          <a:xfrm>
            <a:off x="8064416" y="1560000"/>
            <a:ext cx="1700000" cy="2250000"/>
          </a:xfrm>
          <a:prstGeom prst="rect">
            <a:avLst/>
          </a:prstGeom>
          <a:solidFill>
            <a:srgbClr val="F1EDE4"/>
          </a:solidFill>
          <a:ln w="19050">
            <a:solidFill>
              <a:srgbClr val="1B2A4A"/>
            </a:solidFill>
          </a:ln>
          <a:effectLst/>
        </p:spPr>
        <p:txBody>
          <a:bodyPr rtlCol="0" anchor="ctr"/>
          <a:lstStyle/>
          <a:p>
            <a:pPr algn="ctr"/>
          </a:p>
        </p:txBody>
      </p:sp>
      <p:sp>
        <p:nvSpPr>
          <p:cNvPr id="35" name="Rectangle 34"/>
          <p:cNvSpPr/>
          <p:nvPr/>
        </p:nvSpPr>
        <p:spPr>
          <a:xfrm>
            <a:off x="8064416" y="1560000"/>
            <a:ext cx="1700000" cy="54864"/>
          </a:xfrm>
          <a:prstGeom prst="rect">
            <a:avLst/>
          </a:prstGeom>
          <a:solidFill>
            <a:srgbClr val="E0662B"/>
          </a:solidFill>
          <a:ln>
            <a:noFill/>
          </a:ln>
          <a:effectLst/>
        </p:spPr>
        <p:txBody>
          <a:bodyPr rtlCol="0" anchor="ctr"/>
          <a:lstStyle/>
          <a:p>
            <a:pPr algn="ctr"/>
          </a:p>
        </p:txBody>
      </p:sp>
      <p:sp>
        <p:nvSpPr>
          <p:cNvPr id="36" name="TextBox 35"/>
          <p:cNvSpPr txBox="1"/>
          <p:nvPr/>
        </p:nvSpPr>
        <p:spPr>
          <a:xfrm>
            <a:off x="8174416" y="1670000"/>
            <a:ext cx="600000" cy="420000"/>
          </a:xfrm>
          <a:prstGeom prst="rect">
            <a:avLst/>
          </a:prstGeom>
          <a:noFill/>
        </p:spPr>
        <p:txBody>
          <a:bodyPr wrap="square" lIns="0" tIns="0" rIns="0" bIns="0" anchor="t">
            <a:noAutofit/>
          </a:bodyPr>
          <a:lstStyle/>
          <a:p>
            <a:pPr algn="l"/>
            <a:r>
              <a:rPr sz="2400" b="1" i="0">
                <a:solidFill>
                  <a:srgbClr val="E0662B"/>
                </a:solidFill>
                <a:latin typeface="Cambria"/>
                <a:ea typeface="Cambria"/>
                <a:cs typeface="Cambria"/>
              </a:rPr>
              <a:t>5</a:t>
            </a:r>
          </a:p>
        </p:txBody>
      </p:sp>
      <p:sp>
        <p:nvSpPr>
          <p:cNvPr id="37" name="TextBox 36"/>
          <p:cNvSpPr txBox="1"/>
          <p:nvPr/>
        </p:nvSpPr>
        <p:spPr>
          <a:xfrm>
            <a:off x="8174416" y="2120000"/>
            <a:ext cx="1480000" cy="33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Compute orders</a:t>
            </a:r>
          </a:p>
        </p:txBody>
      </p:sp>
      <p:sp>
        <p:nvSpPr>
          <p:cNvPr id="38" name="TextBox 37"/>
          <p:cNvSpPr txBox="1"/>
          <p:nvPr/>
        </p:nvSpPr>
        <p:spPr>
          <a:xfrm>
            <a:off x="8174416" y="2460000"/>
            <a:ext cx="1480000" cy="260000"/>
          </a:xfrm>
          <a:prstGeom prst="rect">
            <a:avLst/>
          </a:prstGeom>
          <a:noFill/>
        </p:spPr>
        <p:txBody>
          <a:bodyPr wrap="square" lIns="0" tIns="0" rIns="0" bIns="0" anchor="t">
            <a:noAutofit/>
          </a:bodyPr>
          <a:lstStyle/>
          <a:p>
            <a:pPr algn="l"/>
            <a:r>
              <a:rPr sz="1050" b="1" i="0">
                <a:solidFill>
                  <a:srgbClr val="50596C"/>
                </a:solidFill>
                <a:latin typeface="Calibri"/>
                <a:ea typeface="Calibri"/>
                <a:cs typeface="Calibri"/>
              </a:rPr>
              <a:t>SYSTEM · C³-OUT</a:t>
            </a:r>
          </a:p>
        </p:txBody>
      </p:sp>
      <p:sp>
        <p:nvSpPr>
          <p:cNvPr id="39" name="TextBox 38"/>
          <p:cNvSpPr txBox="1"/>
          <p:nvPr/>
        </p:nvSpPr>
        <p:spPr>
          <a:xfrm>
            <a:off x="8174416" y="2760000"/>
            <a:ext cx="1480000" cy="1080000"/>
          </a:xfrm>
          <a:prstGeom prst="rect">
            <a:avLst/>
          </a:prstGeom>
          <a:noFill/>
        </p:spPr>
        <p:txBody>
          <a:bodyPr wrap="square" lIns="0" tIns="0" rIns="0" bIns="0" anchor="t">
            <a:noAutofit/>
          </a:bodyPr>
          <a:lstStyle/>
          <a:p>
            <a:pPr algn="l"/>
            <a:r>
              <a:rPr sz="1200" b="0" i="0">
                <a:solidFill>
                  <a:srgbClr val="1B2A4A"/>
                </a:solidFill>
                <a:latin typeface="Calibri"/>
                <a:ea typeface="Calibri"/>
                <a:cs typeface="Calibri"/>
              </a:rPr>
              <a:t>Every R = 7 days: S = ⌈Q̂(τ</a:t>
            </a:r>
            <a:r>
              <a:rPr sz="1200" b="0" i="0" baseline="-25000">
                <a:solidFill>
                  <a:srgbClr val="1B2A4A"/>
                </a:solidFill>
                <a:latin typeface="Calibri"/>
                <a:ea typeface="Calibri"/>
                <a:cs typeface="Calibri"/>
              </a:rPr>
              <a:t>g</a:t>
            </a:r>
            <a:r>
              <a:rPr sz="1200" b="0" i="0">
                <a:solidFill>
                  <a:srgbClr val="1B2A4A"/>
                </a:solidFill>
                <a:latin typeface="Calibri"/>
                <a:ea typeface="Calibri"/>
                <a:cs typeface="Calibri"/>
              </a:rPr>
              <a:t>) · e</a:t>
            </a:r>
            <a:r>
              <a:rPr sz="1200" b="0" i="0" baseline="30000">
                <a:solidFill>
                  <a:srgbClr val="1B2A4A"/>
                </a:solidFill>
                <a:latin typeface="Calibri"/>
                <a:ea typeface="Calibri"/>
                <a:cs typeface="Calibri"/>
              </a:rPr>
              <a:t>θ</a:t>
            </a:r>
            <a:r>
              <a:rPr sz="1200" b="0" i="0">
                <a:solidFill>
                  <a:srgbClr val="1B2A4A"/>
                </a:solidFill>
                <a:latin typeface="Calibri"/>
                <a:ea typeface="Calibri"/>
                <a:cs typeface="Calibri"/>
              </a:rPr>
              <a:t>⌉, one θ per group; order = S − inventory position</a:t>
            </a:r>
          </a:p>
        </p:txBody>
      </p:sp>
      <p:cxnSp>
        <p:nvCxnSpPr>
          <p:cNvPr id="40" name="Connector 39"/>
          <p:cNvCxnSpPr/>
          <p:nvPr/>
        </p:nvCxnSpPr>
        <p:spPr>
          <a:xfrm>
            <a:off x="9779416" y="2260000"/>
            <a:ext cx="148944" cy="0"/>
          </a:xfrm>
          <a:prstGeom prst="line">
            <a:avLst/>
          </a:prstGeom>
          <a:ln w="19050">
            <a:solidFill>
              <a:srgbClr val="50596C"/>
            </a:solidFill>
            <a:tailEnd type="triangle" w="med" len="med"/>
          </a:ln>
        </p:spPr>
      </p:cxnSp>
      <p:sp>
        <p:nvSpPr>
          <p:cNvPr id="41" name="Rectangle 40"/>
          <p:cNvSpPr/>
          <p:nvPr/>
        </p:nvSpPr>
        <p:spPr>
          <a:xfrm>
            <a:off x="9943360" y="1560000"/>
            <a:ext cx="1700000" cy="2250000"/>
          </a:xfrm>
          <a:prstGeom prst="rect">
            <a:avLst/>
          </a:prstGeom>
          <a:solidFill>
            <a:srgbClr val="F1EDE4"/>
          </a:solidFill>
          <a:ln>
            <a:noFill/>
          </a:ln>
          <a:effectLst/>
        </p:spPr>
        <p:txBody>
          <a:bodyPr rtlCol="0" anchor="ctr"/>
          <a:lstStyle/>
          <a:p>
            <a:pPr algn="ctr"/>
          </a:p>
        </p:txBody>
      </p:sp>
      <p:sp>
        <p:nvSpPr>
          <p:cNvPr id="42" name="Rectangle 41"/>
          <p:cNvSpPr/>
          <p:nvPr/>
        </p:nvSpPr>
        <p:spPr>
          <a:xfrm>
            <a:off x="9943360" y="1560000"/>
            <a:ext cx="1700000" cy="54864"/>
          </a:xfrm>
          <a:prstGeom prst="rect">
            <a:avLst/>
          </a:prstGeom>
          <a:solidFill>
            <a:srgbClr val="E0662B"/>
          </a:solidFill>
          <a:ln>
            <a:noFill/>
          </a:ln>
          <a:effectLst/>
        </p:spPr>
        <p:txBody>
          <a:bodyPr rtlCol="0" anchor="ctr"/>
          <a:lstStyle/>
          <a:p>
            <a:pPr algn="ctr"/>
          </a:p>
        </p:txBody>
      </p:sp>
      <p:sp>
        <p:nvSpPr>
          <p:cNvPr id="43" name="TextBox 42"/>
          <p:cNvSpPr txBox="1"/>
          <p:nvPr/>
        </p:nvSpPr>
        <p:spPr>
          <a:xfrm>
            <a:off x="10053360" y="1670000"/>
            <a:ext cx="600000" cy="420000"/>
          </a:xfrm>
          <a:prstGeom prst="rect">
            <a:avLst/>
          </a:prstGeom>
          <a:noFill/>
        </p:spPr>
        <p:txBody>
          <a:bodyPr wrap="square" lIns="0" tIns="0" rIns="0" bIns="0" anchor="t">
            <a:noAutofit/>
          </a:bodyPr>
          <a:lstStyle/>
          <a:p>
            <a:pPr algn="l"/>
            <a:r>
              <a:rPr sz="2400" b="1" i="0">
                <a:solidFill>
                  <a:srgbClr val="E0662B"/>
                </a:solidFill>
                <a:latin typeface="Cambria"/>
                <a:ea typeface="Cambria"/>
                <a:cs typeface="Cambria"/>
              </a:rPr>
              <a:t>6</a:t>
            </a:r>
          </a:p>
        </p:txBody>
      </p:sp>
      <p:sp>
        <p:nvSpPr>
          <p:cNvPr id="44" name="TextBox 43"/>
          <p:cNvSpPr txBox="1"/>
          <p:nvPr/>
        </p:nvSpPr>
        <p:spPr>
          <a:xfrm>
            <a:off x="10053360" y="2120000"/>
            <a:ext cx="1480000" cy="330000"/>
          </a:xfrm>
          <a:prstGeom prst="rect">
            <a:avLst/>
          </a:prstGeom>
          <a:noFill/>
        </p:spPr>
        <p:txBody>
          <a:bodyPr wrap="square" lIns="0" tIns="0" rIns="0" bIns="0" anchor="t">
            <a:noAutofit/>
          </a:bodyPr>
          <a:lstStyle/>
          <a:p>
            <a:pPr algn="l"/>
            <a:r>
              <a:rPr sz="1500" b="1" i="0">
                <a:solidFill>
                  <a:srgbClr val="1B2A4A"/>
                </a:solidFill>
                <a:latin typeface="Cambria"/>
                <a:ea typeface="Cambria"/>
                <a:cs typeface="Cambria"/>
              </a:rPr>
              <a:t>Approve orders</a:t>
            </a:r>
          </a:p>
        </p:txBody>
      </p:sp>
      <p:sp>
        <p:nvSpPr>
          <p:cNvPr id="45" name="TextBox 44"/>
          <p:cNvSpPr txBox="1"/>
          <p:nvPr/>
        </p:nvSpPr>
        <p:spPr>
          <a:xfrm>
            <a:off x="10053360" y="2460000"/>
            <a:ext cx="1480000" cy="260000"/>
          </a:xfrm>
          <a:prstGeom prst="rect">
            <a:avLst/>
          </a:prstGeom>
          <a:noFill/>
        </p:spPr>
        <p:txBody>
          <a:bodyPr wrap="square" lIns="0" tIns="0" rIns="0" bIns="0" anchor="t">
            <a:noAutofit/>
          </a:bodyPr>
          <a:lstStyle/>
          <a:p>
            <a:pPr algn="l"/>
            <a:r>
              <a:rPr sz="1050" b="1" i="0">
                <a:solidFill>
                  <a:srgbClr val="E0662B"/>
                </a:solidFill>
                <a:latin typeface="Calibri"/>
                <a:ea typeface="Calibri"/>
                <a:cs typeface="Calibri"/>
              </a:rPr>
              <a:t>MANAGER</a:t>
            </a:r>
          </a:p>
        </p:txBody>
      </p:sp>
      <p:sp>
        <p:nvSpPr>
          <p:cNvPr id="46" name="TextBox 45"/>
          <p:cNvSpPr txBox="1"/>
          <p:nvPr/>
        </p:nvSpPr>
        <p:spPr>
          <a:xfrm>
            <a:off x="10053360" y="2760000"/>
            <a:ext cx="1480000" cy="1080000"/>
          </a:xfrm>
          <a:prstGeom prst="rect">
            <a:avLst/>
          </a:prstGeom>
          <a:noFill/>
        </p:spPr>
        <p:txBody>
          <a:bodyPr wrap="square" lIns="0" tIns="0" rIns="0" bIns="0" anchor="t">
            <a:noAutofit/>
          </a:bodyPr>
          <a:lstStyle/>
          <a:p>
            <a:pPr algn="l"/>
            <a:r>
              <a:rPr sz="1200" b="0" i="0">
                <a:solidFill>
                  <a:srgbClr val="1B2A4A"/>
                </a:solidFill>
                <a:latin typeface="Calibri"/>
                <a:ea typeface="Calibri"/>
                <a:cs typeface="Calibri"/>
              </a:rPr>
              <a:t>Review the recommended quantities, adjust if needed, confirm</a:t>
            </a:r>
          </a:p>
        </p:txBody>
      </p:sp>
      <p:cxnSp>
        <p:nvCxnSpPr>
          <p:cNvPr id="47" name="Connector 46"/>
          <p:cNvCxnSpPr/>
          <p:nvPr/>
        </p:nvCxnSpPr>
        <p:spPr>
          <a:xfrm>
            <a:off x="10793360" y="3810000"/>
            <a:ext cx="0" cy="330000"/>
          </a:xfrm>
          <a:prstGeom prst="line">
            <a:avLst/>
          </a:prstGeom>
          <a:ln w="22225">
            <a:solidFill>
              <a:srgbClr val="E0662B"/>
            </a:solidFill>
          </a:ln>
        </p:spPr>
      </p:cxnSp>
      <p:cxnSp>
        <p:nvCxnSpPr>
          <p:cNvPr id="48" name="Connector 47"/>
          <p:cNvCxnSpPr/>
          <p:nvPr/>
        </p:nvCxnSpPr>
        <p:spPr>
          <a:xfrm flipH="1">
            <a:off x="8914416" y="4140000"/>
            <a:ext cx="1878944" cy="0"/>
          </a:xfrm>
          <a:prstGeom prst="line">
            <a:avLst/>
          </a:prstGeom>
          <a:ln w="22225">
            <a:solidFill>
              <a:srgbClr val="E0662B"/>
            </a:solidFill>
          </a:ln>
        </p:spPr>
      </p:cxnSp>
      <p:cxnSp>
        <p:nvCxnSpPr>
          <p:cNvPr id="49" name="Connector 48"/>
          <p:cNvCxnSpPr/>
          <p:nvPr/>
        </p:nvCxnSpPr>
        <p:spPr>
          <a:xfrm flipV="1">
            <a:off x="8914416" y="3830000"/>
            <a:ext cx="0" cy="310000"/>
          </a:xfrm>
          <a:prstGeom prst="line">
            <a:avLst/>
          </a:prstGeom>
          <a:ln w="22225">
            <a:solidFill>
              <a:srgbClr val="E0662B"/>
            </a:solidFill>
            <a:tailEnd type="triangle" w="med" len="med"/>
          </a:ln>
        </p:spPr>
      </p:cxnSp>
      <p:sp>
        <p:nvSpPr>
          <p:cNvPr id="50" name="TextBox 49"/>
          <p:cNvSpPr txBox="1"/>
          <p:nvPr/>
        </p:nvSpPr>
        <p:spPr>
          <a:xfrm>
            <a:off x="548640" y="3930000"/>
            <a:ext cx="8245776" cy="420000"/>
          </a:xfrm>
          <a:prstGeom prst="rect">
            <a:avLst/>
          </a:prstGeom>
          <a:noFill/>
        </p:spPr>
        <p:txBody>
          <a:bodyPr wrap="square" lIns="0" tIns="0" rIns="0" bIns="0" anchor="ctr">
            <a:noAutofit/>
          </a:bodyPr>
          <a:lstStyle/>
          <a:p>
            <a:pPr algn="r"/>
            <a:r>
              <a:rPr sz="1200" b="1" i="0">
                <a:solidFill>
                  <a:srgbClr val="E0662B"/>
                </a:solidFill>
                <a:latin typeface="Calibri"/>
                <a:ea typeface="Calibri"/>
                <a:cs typeface="Calibri"/>
              </a:rPr>
              <a:t>After d reviews: observed stockouts per group update θ</a:t>
            </a:r>
            <a:r>
              <a:rPr sz="1200" b="1" i="0" baseline="-25000">
                <a:solidFill>
                  <a:srgbClr val="E0662B"/>
                </a:solidFill>
                <a:latin typeface="Calibri"/>
                <a:ea typeface="Calibri"/>
                <a:cs typeface="Calibri"/>
              </a:rPr>
              <a:t>g</a:t>
            </a:r>
            <a:r>
              <a:rPr sz="1200" b="1" i="0">
                <a:solidFill>
                  <a:srgbClr val="E0662B"/>
                </a:solidFill>
                <a:latin typeface="Calibri"/>
                <a:ea typeface="Calibri"/>
                <a:cs typeface="Calibri"/>
              </a:rPr>
              <a:t>; the forecast model is not retrained</a:t>
            </a:r>
          </a:p>
        </p:txBody>
      </p:sp>
      <p:sp>
        <p:nvSpPr>
          <p:cNvPr id="51" name="Rectangle 50"/>
          <p:cNvSpPr/>
          <p:nvPr/>
        </p:nvSpPr>
        <p:spPr>
          <a:xfrm>
            <a:off x="548640" y="4470000"/>
            <a:ext cx="11094720" cy="1150000"/>
          </a:xfrm>
          <a:prstGeom prst="rect">
            <a:avLst/>
          </a:prstGeom>
          <a:solidFill>
            <a:srgbClr val="F1EDE4"/>
          </a:solidFill>
          <a:ln>
            <a:noFill/>
          </a:ln>
          <a:effectLst/>
        </p:spPr>
        <p:txBody>
          <a:bodyPr rtlCol="0" anchor="ctr"/>
          <a:lstStyle/>
          <a:p>
            <a:pPr algn="ctr"/>
          </a:p>
        </p:txBody>
      </p:sp>
      <p:sp>
        <p:nvSpPr>
          <p:cNvPr id="52" name="Rectangle 51"/>
          <p:cNvSpPr/>
          <p:nvPr/>
        </p:nvSpPr>
        <p:spPr>
          <a:xfrm>
            <a:off x="548640" y="4470000"/>
            <a:ext cx="54864" cy="1150000"/>
          </a:xfrm>
          <a:prstGeom prst="rect">
            <a:avLst/>
          </a:prstGeom>
          <a:solidFill>
            <a:srgbClr val="E0662B"/>
          </a:solidFill>
          <a:ln>
            <a:noFill/>
          </a:ln>
          <a:effectLst/>
        </p:spPr>
        <p:txBody>
          <a:bodyPr rtlCol="0" anchor="ctr"/>
          <a:lstStyle/>
          <a:p>
            <a:pPr algn="ctr"/>
          </a:p>
        </p:txBody>
      </p:sp>
      <p:sp>
        <p:nvSpPr>
          <p:cNvPr id="53" name="TextBox 52"/>
          <p:cNvSpPr txBox="1"/>
          <p:nvPr/>
        </p:nvSpPr>
        <p:spPr>
          <a:xfrm>
            <a:off x="698640" y="4570000"/>
            <a:ext cx="10794720" cy="266700"/>
          </a:xfrm>
          <a:prstGeom prst="rect">
            <a:avLst/>
          </a:prstGeom>
          <a:noFill/>
        </p:spPr>
        <p:txBody>
          <a:bodyPr wrap="square" lIns="0" tIns="0" rIns="0" bIns="0" anchor="t">
            <a:noAutofit/>
          </a:bodyPr>
          <a:lstStyle/>
          <a:p>
            <a:pPr algn="l"/>
            <a:r>
              <a:rPr sz="1650" b="1" i="0">
                <a:solidFill>
                  <a:srgbClr val="1B2A4A"/>
                </a:solidFill>
                <a:latin typeface="Cambria"/>
                <a:ea typeface="Cambria"/>
                <a:cs typeface="Cambria"/>
              </a:rPr>
              <a:t>Case study run on a real store (Walmart CA_1, 2,942 items)</a:t>
            </a:r>
          </a:p>
        </p:txBody>
      </p:sp>
      <p:sp>
        <p:nvSpPr>
          <p:cNvPr id="54" name="TextBox 53"/>
          <p:cNvSpPr txBox="1"/>
          <p:nvPr/>
        </p:nvSpPr>
        <p:spPr>
          <a:xfrm>
            <a:off x="698640" y="4863370"/>
            <a:ext cx="10794720" cy="696630"/>
          </a:xfrm>
          <a:prstGeom prst="rect">
            <a:avLst/>
          </a:prstGeom>
          <a:noFill/>
        </p:spPr>
        <p:txBody>
          <a:bodyPr wrap="square" lIns="0" tIns="0" rIns="0" bIns="0" anchor="t">
            <a:noAutofit/>
          </a:bodyPr>
          <a:lstStyle/>
          <a:p>
            <a:pPr algn="l">
              <a:spcBef>
                <a:spcPts val="300"/>
              </a:spcBef>
            </a:pPr>
            <a:r>
              <a:rPr sz="1400" b="0" i="0">
                <a:solidFill>
                  <a:srgbClr val="1B2A4A"/>
                </a:solidFill>
                <a:latin typeface="Calibri"/>
                <a:ea typeface="Calibri"/>
                <a:cs typeface="Calibri"/>
              </a:rPr>
              <a:t>Same flow in the single-store prototype: ABC×XYZ classes → forecasts from 4 statistical models, best chosen on validation → 26-week backtest of 6 ordering options → recommendation by the manager’s A/B/C targets → order plan for the next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9298</Words>
  <Application>Microsoft Office PowerPoint</Application>
  <PresentationFormat>Widescreen</PresentationFormat>
  <Paragraphs>970</Paragraphs>
  <Slides>44</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Phong Nguyễn Xuân Khánh</cp:lastModifiedBy>
  <cp:revision>2</cp:revision>
  <dcterms:created xsi:type="dcterms:W3CDTF">2013-01-27T09:14:16Z</dcterms:created>
  <dcterms:modified xsi:type="dcterms:W3CDTF">2026-10-15T10:22:06Z</dcterms:modified>
  <cp:category/>
</cp:coreProperties>
</file>